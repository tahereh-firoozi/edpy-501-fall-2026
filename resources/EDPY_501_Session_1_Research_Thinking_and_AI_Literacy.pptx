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9ffe46ae194e19" /><Relationship Type="http://schemas.openxmlformats.org/officeDocument/2006/relationships/extended-properties" Target="/docProps/app.xml" Id="R68650b95a3324bbd" /><Relationship Type="http://schemas.openxmlformats.org/officeDocument/2006/relationships/officeDocument" Target="/ppt/presentation.xml" Id="R2d730354166d4972" /></Relationships>
</file>

<file path=ppt/presentation.xml><?xml version="1.0" encoding="utf-8"?>
<p:presentation xmlns:p="http://schemas.openxmlformats.org/presentationml/2006/main">
  <p:sldMasterIdLst>
    <p:sldMasterId xmlns:r="http://schemas.openxmlformats.org/officeDocument/2006/relationships" id="2147483648" r:id="R4a563b9531634728"/>
  </p:sldMasterIdLst>
  <p:notesMasterIdLst>
    <p:notesMasterId xmlns:r="http://schemas.openxmlformats.org/officeDocument/2006/relationships" r:id="Ra6dae478cc8e4149"/>
  </p:notesMasterIdLst>
  <p:sldIdLst>
    <p:sldId xmlns:r="http://schemas.openxmlformats.org/officeDocument/2006/relationships" id="256" r:id="R83e3dd3c14114fb3"/>
    <p:sldId xmlns:r="http://schemas.openxmlformats.org/officeDocument/2006/relationships" id="257" r:id="R84cf1b55fcb149f1"/>
    <p:sldId xmlns:r="http://schemas.openxmlformats.org/officeDocument/2006/relationships" id="258" r:id="R5b28e1c06b5f4e9e"/>
    <p:sldId xmlns:r="http://schemas.openxmlformats.org/officeDocument/2006/relationships" id="259" r:id="Rf3b04da88e554317"/>
    <p:sldId xmlns:r="http://schemas.openxmlformats.org/officeDocument/2006/relationships" id="260" r:id="R0835e4e6731649a6"/>
    <p:sldId xmlns:r="http://schemas.openxmlformats.org/officeDocument/2006/relationships" id="261" r:id="R5ec096bb535d4128"/>
    <p:sldId xmlns:r="http://schemas.openxmlformats.org/officeDocument/2006/relationships" id="262" r:id="R6aa883c546624e9e"/>
    <p:sldId xmlns:r="http://schemas.openxmlformats.org/officeDocument/2006/relationships" id="263" r:id="R81b957c5bccd4886"/>
    <p:sldId xmlns:r="http://schemas.openxmlformats.org/officeDocument/2006/relationships" id="264" r:id="R131822156fc2476e"/>
    <p:sldId xmlns:r="http://schemas.openxmlformats.org/officeDocument/2006/relationships" id="265" r:id="R297e7197086d459f"/>
    <p:sldId xmlns:r="http://schemas.openxmlformats.org/officeDocument/2006/relationships" id="266" r:id="Rdd8486055a8142cc"/>
    <p:sldId xmlns:r="http://schemas.openxmlformats.org/officeDocument/2006/relationships" id="267" r:id="R21d830d246ef4138"/>
    <p:sldId xmlns:r="http://schemas.openxmlformats.org/officeDocument/2006/relationships" id="268" r:id="Rc14361b0ff9641a3"/>
    <p:sldId xmlns:r="http://schemas.openxmlformats.org/officeDocument/2006/relationships" id="269" r:id="R9a639ca4e1c04f85"/>
    <p:sldId xmlns:r="http://schemas.openxmlformats.org/officeDocument/2006/relationships" id="270" r:id="R32d53b6a3c5b4fdd"/>
    <p:sldId xmlns:r="http://schemas.openxmlformats.org/officeDocument/2006/relationships" id="271" r:id="Rdfedae93e9d54850"/>
    <p:sldId xmlns:r="http://schemas.openxmlformats.org/officeDocument/2006/relationships" id="272" r:id="Raf464ab1a8fb4712"/>
    <p:sldId xmlns:r="http://schemas.openxmlformats.org/officeDocument/2006/relationships" id="273" r:id="R191d86bf61cf4cc0"/>
    <p:sldId xmlns:r="http://schemas.openxmlformats.org/officeDocument/2006/relationships" id="274" r:id="Rd2eb3f44db364324"/>
    <p:sldId xmlns:r="http://schemas.openxmlformats.org/officeDocument/2006/relationships" id="275" r:id="Ra19610ad5b154b41"/>
    <p:sldId xmlns:r="http://schemas.openxmlformats.org/officeDocument/2006/relationships" id="276" r:id="Refae9b64134d44ef"/>
    <p:sldId xmlns:r="http://schemas.openxmlformats.org/officeDocument/2006/relationships" id="277" r:id="Rb8c2aec3e0a9417f"/>
    <p:sldId xmlns:r="http://schemas.openxmlformats.org/officeDocument/2006/relationships" id="278" r:id="R0e350a0d898d4c7f"/>
    <p:sldId xmlns:r="http://schemas.openxmlformats.org/officeDocument/2006/relationships" id="279" r:id="R7538692e9bbb4d63"/>
    <p:sldId xmlns:r="http://schemas.openxmlformats.org/officeDocument/2006/relationships" id="280" r:id="R20b6414c92f54f9d"/>
    <p:sldId xmlns:r="http://schemas.openxmlformats.org/officeDocument/2006/relationships" id="281" r:id="Ra084ce9bf6ab4281"/>
    <p:sldId xmlns:r="http://schemas.openxmlformats.org/officeDocument/2006/relationships" id="282" r:id="R925aae6a359942c0"/>
    <p:sldId xmlns:r="http://schemas.openxmlformats.org/officeDocument/2006/relationships" id="283" r:id="Ref11d611cd5b4206"/>
    <p:sldId xmlns:r="http://schemas.openxmlformats.org/officeDocument/2006/relationships" id="284" r:id="R2b37bf9b21f04e6d"/>
    <p:sldId xmlns:r="http://schemas.openxmlformats.org/officeDocument/2006/relationships" id="285" r:id="Rf9a3d9483a354a89"/>
    <p:sldId xmlns:r="http://schemas.openxmlformats.org/officeDocument/2006/relationships" id="286" r:id="R6c649b9349a74d54"/>
    <p:sldId xmlns:r="http://schemas.openxmlformats.org/officeDocument/2006/relationships" id="287" r:id="R3d1eb36c0eb24f3b"/>
    <p:sldId xmlns:r="http://schemas.openxmlformats.org/officeDocument/2006/relationships" id="288" r:id="R2fe4e7698f78434d"/>
    <p:sldId xmlns:r="http://schemas.openxmlformats.org/officeDocument/2006/relationships" id="289" r:id="Rb6a421bca10542dd"/>
    <p:sldId xmlns:r="http://schemas.openxmlformats.org/officeDocument/2006/relationships" id="290" r:id="R77a12faadf3a49df"/>
    <p:sldId xmlns:r="http://schemas.openxmlformats.org/officeDocument/2006/relationships" id="291" r:id="R960cc6c57f2142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70bedf9f8b4476" /><Relationship Type="http://schemas.openxmlformats.org/officeDocument/2006/relationships/slideMaster" Target="/ppt/slideMasters/slideMaster1.xml" Id="R4a563b9531634728" /><Relationship Type="http://schemas.openxmlformats.org/officeDocument/2006/relationships/notesMaster" Target="/ppt/notesMasters/notesMaster1.xml" Id="Ra6dae478cc8e4149" /><Relationship Type="http://schemas.openxmlformats.org/officeDocument/2006/relationships/presProps" Target="/ppt/presProps.xml" Id="R43002c1ee3134818" /><Relationship Type="http://schemas.openxmlformats.org/officeDocument/2006/relationships/tableStyles" Target="/ppt/tableStyles.xml" Id="Reeba838afc7c4a40" /><Relationship Type="http://schemas.openxmlformats.org/officeDocument/2006/relationships/slide" Target="/ppt/slides/slide1.xml" Id="R83e3dd3c14114fb3" /><Relationship Type="http://schemas.openxmlformats.org/officeDocument/2006/relationships/slide" Target="/ppt/slides/slide2.xml" Id="R84cf1b55fcb149f1" /><Relationship Type="http://schemas.openxmlformats.org/officeDocument/2006/relationships/slide" Target="/ppt/slides/slide3.xml" Id="R5b28e1c06b5f4e9e" /><Relationship Type="http://schemas.openxmlformats.org/officeDocument/2006/relationships/slide" Target="/ppt/slides/slide4.xml" Id="Rf3b04da88e554317" /><Relationship Type="http://schemas.openxmlformats.org/officeDocument/2006/relationships/slide" Target="/ppt/slides/slide5.xml" Id="R0835e4e6731649a6" /><Relationship Type="http://schemas.openxmlformats.org/officeDocument/2006/relationships/slide" Target="/ppt/slides/slide6.xml" Id="R5ec096bb535d4128" /><Relationship Type="http://schemas.openxmlformats.org/officeDocument/2006/relationships/slide" Target="/ppt/slides/slide7.xml" Id="R6aa883c546624e9e" /><Relationship Type="http://schemas.openxmlformats.org/officeDocument/2006/relationships/slide" Target="/ppt/slides/slide8.xml" Id="R81b957c5bccd4886" /><Relationship Type="http://schemas.openxmlformats.org/officeDocument/2006/relationships/slide" Target="/ppt/slides/slide9.xml" Id="R131822156fc2476e" /><Relationship Type="http://schemas.openxmlformats.org/officeDocument/2006/relationships/slide" Target="/ppt/slides/slide10.xml" Id="R297e7197086d459f" /><Relationship Type="http://schemas.openxmlformats.org/officeDocument/2006/relationships/slide" Target="/ppt/slides/slide11.xml" Id="Rdd8486055a8142cc" /><Relationship Type="http://schemas.openxmlformats.org/officeDocument/2006/relationships/slide" Target="/ppt/slides/slide12.xml" Id="R21d830d246ef4138" /><Relationship Type="http://schemas.openxmlformats.org/officeDocument/2006/relationships/slide" Target="/ppt/slides/slide13.xml" Id="Rc14361b0ff9641a3" /><Relationship Type="http://schemas.openxmlformats.org/officeDocument/2006/relationships/slide" Target="/ppt/slides/slide14.xml" Id="R9a639ca4e1c04f85" /><Relationship Type="http://schemas.openxmlformats.org/officeDocument/2006/relationships/slide" Target="/ppt/slides/slide15.xml" Id="R32d53b6a3c5b4fdd" /><Relationship Type="http://schemas.openxmlformats.org/officeDocument/2006/relationships/slide" Target="/ppt/slides/slide16.xml" Id="Rdfedae93e9d54850" /><Relationship Type="http://schemas.openxmlformats.org/officeDocument/2006/relationships/slide" Target="/ppt/slides/slide17.xml" Id="Raf464ab1a8fb4712" /><Relationship Type="http://schemas.openxmlformats.org/officeDocument/2006/relationships/slide" Target="/ppt/slides/slide18.xml" Id="R191d86bf61cf4cc0" /><Relationship Type="http://schemas.openxmlformats.org/officeDocument/2006/relationships/slide" Target="/ppt/slides/slide19.xml" Id="Rd2eb3f44db364324" /><Relationship Type="http://schemas.openxmlformats.org/officeDocument/2006/relationships/slide" Target="/ppt/slides/slide20.xml" Id="Ra19610ad5b154b41" /><Relationship Type="http://schemas.openxmlformats.org/officeDocument/2006/relationships/slide" Target="/ppt/slides/slide21.xml" Id="Refae9b64134d44ef" /><Relationship Type="http://schemas.openxmlformats.org/officeDocument/2006/relationships/slide" Target="/ppt/slides/slide22.xml" Id="Rb8c2aec3e0a9417f" /><Relationship Type="http://schemas.openxmlformats.org/officeDocument/2006/relationships/slide" Target="/ppt/slides/slide23.xml" Id="R0e350a0d898d4c7f" /><Relationship Type="http://schemas.openxmlformats.org/officeDocument/2006/relationships/slide" Target="/ppt/slides/slide24.xml" Id="R7538692e9bbb4d63" /><Relationship Type="http://schemas.openxmlformats.org/officeDocument/2006/relationships/slide" Target="/ppt/slides/slide25.xml" Id="R20b6414c92f54f9d" /><Relationship Type="http://schemas.openxmlformats.org/officeDocument/2006/relationships/slide" Target="/ppt/slides/slide26.xml" Id="Ra084ce9bf6ab4281" /><Relationship Type="http://schemas.openxmlformats.org/officeDocument/2006/relationships/slide" Target="/ppt/slides/slide27.xml" Id="R925aae6a359942c0" /><Relationship Type="http://schemas.openxmlformats.org/officeDocument/2006/relationships/slide" Target="/ppt/slides/slide28.xml" Id="Ref11d611cd5b4206" /><Relationship Type="http://schemas.openxmlformats.org/officeDocument/2006/relationships/slide" Target="/ppt/slides/slide29.xml" Id="R2b37bf9b21f04e6d" /><Relationship Type="http://schemas.openxmlformats.org/officeDocument/2006/relationships/slide" Target="/ppt/slides/slide30.xml" Id="Rf9a3d9483a354a89" /><Relationship Type="http://schemas.openxmlformats.org/officeDocument/2006/relationships/slide" Target="/ppt/slides/slide31.xml" Id="R6c649b9349a74d54" /><Relationship Type="http://schemas.openxmlformats.org/officeDocument/2006/relationships/slide" Target="/ppt/slides/slide32.xml" Id="R3d1eb36c0eb24f3b" /><Relationship Type="http://schemas.openxmlformats.org/officeDocument/2006/relationships/slide" Target="/ppt/slides/slide33.xml" Id="R2fe4e7698f78434d" /><Relationship Type="http://schemas.openxmlformats.org/officeDocument/2006/relationships/slide" Target="/ppt/slides/slide34.xml" Id="Rb6a421bca10542dd" /><Relationship Type="http://schemas.openxmlformats.org/officeDocument/2006/relationships/slide" Target="/ppt/slides/slide35.xml" Id="R77a12faadf3a49df" /><Relationship Type="http://schemas.openxmlformats.org/officeDocument/2006/relationships/slide" Target="/ppt/slides/slide36.xml" Id="R960cc6c57f2142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a298f417e842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9944d0788b41a4" /><Relationship Type="http://schemas.openxmlformats.org/officeDocument/2006/relationships/notesMaster" Target="/ppt/notesMasters/notesMaster1.xml" Id="R50485d37a98745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726d937e164ba5" /><Relationship Type="http://schemas.openxmlformats.org/officeDocument/2006/relationships/notesMaster" Target="/ppt/notesMasters/notesMaster1.xml" Id="R8413d8e769984f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ef3a8dd0884f94" /><Relationship Type="http://schemas.openxmlformats.org/officeDocument/2006/relationships/notesMaster" Target="/ppt/notesMasters/notesMaster1.xml" Id="R508e086165464f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b9f02f2e38463e" /><Relationship Type="http://schemas.openxmlformats.org/officeDocument/2006/relationships/notesMaster" Target="/ppt/notesMasters/notesMaster1.xml" Id="Ra947d26b7db449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cb2194035e48a7" /><Relationship Type="http://schemas.openxmlformats.org/officeDocument/2006/relationships/notesMaster" Target="/ppt/notesMasters/notesMaster1.xml" Id="R2d98a349dc1d49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7ef910469b4bd4" /><Relationship Type="http://schemas.openxmlformats.org/officeDocument/2006/relationships/notesMaster" Target="/ppt/notesMasters/notesMaster1.xml" Id="Rc32324ec102442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f8ea57aa324d7f" /><Relationship Type="http://schemas.openxmlformats.org/officeDocument/2006/relationships/notesMaster" Target="/ppt/notesMasters/notesMaster1.xml" Id="Re8e05fd803df46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6c6069a6d24357" /><Relationship Type="http://schemas.openxmlformats.org/officeDocument/2006/relationships/notesMaster" Target="/ppt/notesMasters/notesMaster1.xml" Id="Ra3ee35f1a2bc4b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69078537af4902" /><Relationship Type="http://schemas.openxmlformats.org/officeDocument/2006/relationships/notesMaster" Target="/ppt/notesMasters/notesMaster1.xml" Id="Rf51825578c6b47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a22b6f11a244b8" /><Relationship Type="http://schemas.openxmlformats.org/officeDocument/2006/relationships/notesMaster" Target="/ppt/notesMasters/notesMaster1.xml" Id="Rfbc4f502aec04f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589c5138c143cf" /><Relationship Type="http://schemas.openxmlformats.org/officeDocument/2006/relationships/notesMaster" Target="/ppt/notesMasters/notesMaster1.xml" Id="R4f79a0dc1c8549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39f54cdf8d4756" /><Relationship Type="http://schemas.openxmlformats.org/officeDocument/2006/relationships/notesMaster" Target="/ppt/notesMasters/notesMaster1.xml" Id="R2b1e484a97a64e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3d841ae08844ac" /><Relationship Type="http://schemas.openxmlformats.org/officeDocument/2006/relationships/notesMaster" Target="/ppt/notesMasters/notesMaster1.xml" Id="R067e3de78ea04d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1b26786ecd4d5f" /><Relationship Type="http://schemas.openxmlformats.org/officeDocument/2006/relationships/notesMaster" Target="/ppt/notesMasters/notesMaster1.xml" Id="Rc3a09c3428a84e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8ef0540ba842c7" /><Relationship Type="http://schemas.openxmlformats.org/officeDocument/2006/relationships/notesMaster" Target="/ppt/notesMasters/notesMaster1.xml" Id="R1d64f045aba240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60e075b8a7482a" /><Relationship Type="http://schemas.openxmlformats.org/officeDocument/2006/relationships/notesMaster" Target="/ppt/notesMasters/notesMaster1.xml" Id="R86974a71382546a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204c9f61f94446" /><Relationship Type="http://schemas.openxmlformats.org/officeDocument/2006/relationships/notesMaster" Target="/ppt/notesMasters/notesMaster1.xml" Id="Ra7eef45ad16147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77529c356c4bd7" /><Relationship Type="http://schemas.openxmlformats.org/officeDocument/2006/relationships/notesMaster" Target="/ppt/notesMasters/notesMaster1.xml" Id="Ree432d174aa043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15495d05284726" /><Relationship Type="http://schemas.openxmlformats.org/officeDocument/2006/relationships/notesMaster" Target="/ppt/notesMasters/notesMaster1.xml" Id="R84f066fb9d0b40a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a3424e81964b18" /><Relationship Type="http://schemas.openxmlformats.org/officeDocument/2006/relationships/notesMaster" Target="/ppt/notesMasters/notesMaster1.xml" Id="R230615961dff4b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c6f1ef62a34fd2" /><Relationship Type="http://schemas.openxmlformats.org/officeDocument/2006/relationships/notesMaster" Target="/ppt/notesMasters/notesMaster1.xml" Id="R053315a7342a43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8da9653d8b4bb4" /><Relationship Type="http://schemas.openxmlformats.org/officeDocument/2006/relationships/notesMaster" Target="/ppt/notesMasters/notesMaster1.xml" Id="R7885c2c5977345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c7902bf5fde43c3" /><Relationship Type="http://schemas.openxmlformats.org/officeDocument/2006/relationships/notesMaster" Target="/ppt/notesMasters/notesMaster1.xml" Id="R0004b4d190084f1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f0aeed9d3649f5" /><Relationship Type="http://schemas.openxmlformats.org/officeDocument/2006/relationships/notesMaster" Target="/ppt/notesMasters/notesMaster1.xml" Id="R848029af04bf46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f89fe1ee81460c" /><Relationship Type="http://schemas.openxmlformats.org/officeDocument/2006/relationships/notesMaster" Target="/ppt/notesMasters/notesMaster1.xml" Id="R935bf0bf7d4e4d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3df0705f5ef4b3b" /><Relationship Type="http://schemas.openxmlformats.org/officeDocument/2006/relationships/notesMaster" Target="/ppt/notesMasters/notesMaster1.xml" Id="Rcd253d0607d24a5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066af04c2e84a1f" /><Relationship Type="http://schemas.openxmlformats.org/officeDocument/2006/relationships/notesMaster" Target="/ppt/notesMasters/notesMaster1.xml" Id="R1c550d366c684bd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c7c8f2e3f364e1d" /><Relationship Type="http://schemas.openxmlformats.org/officeDocument/2006/relationships/notesMaster" Target="/ppt/notesMasters/notesMaster1.xml" Id="R042453c3c64744f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432bfb2e9634382" /><Relationship Type="http://schemas.openxmlformats.org/officeDocument/2006/relationships/notesMaster" Target="/ppt/notesMasters/notesMaster1.xml" Id="Rde414410a7ae45a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aedee1c88b44e7" /><Relationship Type="http://schemas.openxmlformats.org/officeDocument/2006/relationships/notesMaster" Target="/ppt/notesMasters/notesMaster1.xml" Id="Rc3009652d7a34bf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80acb934d72474d" /><Relationship Type="http://schemas.openxmlformats.org/officeDocument/2006/relationships/notesMaster" Target="/ppt/notesMasters/notesMaster1.xml" Id="Rd25f0170a68a4be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e22472c41ab45bf" /><Relationship Type="http://schemas.openxmlformats.org/officeDocument/2006/relationships/notesMaster" Target="/ppt/notesMasters/notesMaster1.xml" Id="Re259923b10004b5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d1eed1278fa4752" /><Relationship Type="http://schemas.openxmlformats.org/officeDocument/2006/relationships/notesMaster" Target="/ppt/notesMasters/notesMaster1.xml" Id="Ra452d64433834c4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3d2b7dfbabb483c" /><Relationship Type="http://schemas.openxmlformats.org/officeDocument/2006/relationships/notesMaster" Target="/ppt/notesMasters/notesMaster1.xml" Id="Rb05ea2a602bc498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282088111744932" /><Relationship Type="http://schemas.openxmlformats.org/officeDocument/2006/relationships/notesMaster" Target="/ppt/notesMasters/notesMaster1.xml" Id="R919274ddcff5402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3f7525596d74b5a" /><Relationship Type="http://schemas.openxmlformats.org/officeDocument/2006/relationships/notesMaster" Target="/ppt/notesMasters/notesMaster1.xml" Id="R94146657339745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students and let the opening question sit for a moment. Ask for two or three quick examples of how people claim to know that an educational practice works. Explain that the course is not simply a catalogue of methods: it is about the logic connecting questions, evidence, interpretation, and claims. Briefly introduce yourself and the course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as practical outcomes. Students do not need to master every paradigm today. The goal is to notice that research decisions are connected and that choosing a method is never the first intellectual decision. Tell students that they will use the same alignment logic in the article critique and final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slowly across the chain. Give one sentence for each link. Emphasize that alignment does not mean every study has the same structure; it means that each decision logically supports the next. Ask students where they think weak alignment most often appears. Tell them that this chain is the organizing framework for the semester.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students to the Session 1 activity site and the approved baseline form. Do not introduce terms such as postpositivism, constructivism, pragmatism, transformative worldview, or positionality yet. Tell students that honest responses will help you calibrate examples and support. If completion is recorded, remind them that the activity is not scored for correctness. Allow quiet individual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Reconnect to the baseline without interpreting individual responses. Point out that students were already making decisions about evidence, context, values, and researcher influence. Explain that these decisions precede the choice of a survey, interview, experiment, or mixed-methods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examples to clarify that personal and professional experience are valuable sources of research problems. The distinction is not experience versus research. The distinction is whether the observation has been turned into a systematic, transparent, critical, and ethical inquiry. Ask students which everyday claim would be easiest to investigate and why.</a:t>
            </a:r>
          </a:p>
          <a:p xmlns:a="http://schemas.openxmlformats.org/drawingml/2006/main">
            <a:r>
              <a:t/>
            </a:r>
          </a:p>
          <a:p xmlns:a="http://schemas.openxmlformats.org/drawingml/2006/main">
            <a:r>
              <a:t>[Sources]</a:t>
            </a:r>
          </a:p>
          <a:p xmlns:a="http://schemas.openxmlformats.org/drawingml/2006/main">
            <a:r>
              <a:t>- Creswell, J. W. (2014).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connected features, not a checklist that automatically guarantees quality. A study can be systematic but still use weak measurement; transparent but ethically problematic; empirical but make a claim that exceeds the evidence. Ask students which characteristic is easiest to see in a published article and which is hardest.</a:t>
            </a:r>
          </a:p>
          <a:p xmlns:a="http://schemas.openxmlformats.org/drawingml/2006/main">
            <a:r>
              <a:t/>
            </a:r>
          </a:p>
          <a:p xmlns:a="http://schemas.openxmlformats.org/drawingml/2006/main">
            <a:r>
              <a:t>[Sources]</a:t>
            </a:r>
          </a:p>
          <a:p xmlns:a="http://schemas.openxmlformats.org/drawingml/2006/main">
            <a:r>
              <a:t>- Poth, C. N. (2021). Research ethics. Sage.</a:t>
            </a:r>
          </a:p>
          <a:p xmlns:a="http://schemas.openxmlformats.org/drawingml/2006/main">
            <a:r>
              <a:t>- Creswell, J. W. (2014).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topic, problem, and question. A problem is not merely something negative; it is a gap, tension, uncertainty, inconsistency, or practical need that warrants systematic inquiry. Show how narrowing the problem changes the evidence needed. Ask students to suggest another possible research question arising from the same broad topic.</a:t>
            </a:r>
          </a:p>
          <a:p xmlns:a="http://schemas.openxmlformats.org/drawingml/2006/main">
            <a:r>
              <a:t/>
            </a:r>
          </a:p>
          <a:p xmlns:a="http://schemas.openxmlformats.org/drawingml/2006/main">
            <a:r>
              <a:t>[Sources]</a:t>
            </a:r>
          </a:p>
          <a:p xmlns:a="http://schemas.openxmlformats.org/drawingml/2006/main">
            <a:r>
              <a:t>- Creswell, J. W., &amp; Poth, C. N. (2017). Qualitative inquiry and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groups of three or four. Direct students to Activity 1 on the site. Encourage them to use “it depends” only when they can name exactly what it depends on. Circulate and listen for reasoning about systematic procedures, evidence, transparency, ethics, and the scope of claims. After groups decide, reveal the debrief prompts on the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slide available for groups that are not using devices. Do not provide the answers. If a group says Case 2 is automatically rigorous because interviews were used, ask what they would need to know about sampling, questioning, analysis, reflexivity, and ethics. If they call the AI response evidence, ask: evidence about what, and produced from whom?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groups to distinguish research activity from the strength of a particular conclusion. Case 5 may constitute systematic inquiry but cannot automatically establish that the assessment change caused the grade difference. Case 6 opens the question of what makes a review systematic and critical rather than a convenient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one group to discuss a case where they disagreed. Use the disagreement to show that research quality cannot be determined from a single visible method. Bring the discussion back to alignment and claim boundaries. Emphasize that “it depends” is intellectually useful only when the dependency is clearly named.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scheduled break. Write the return time on the board or announce it verbally.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three approaches as broad traditions rather than rigid boxes. Tell students that designs within each approach vary considerably. The focus today is the relationship between the question asked and the evidence needed, not memorizing every design name.</a:t>
            </a:r>
          </a:p>
          <a:p xmlns:a="http://schemas.openxmlformats.org/drawingml/2006/main">
            <a:r>
              <a:t/>
            </a:r>
          </a:p>
          <a:p xmlns:a="http://schemas.openxmlformats.org/drawingml/2006/main">
            <a:r>
              <a:t>[Sources]</a:t>
            </a:r>
          </a:p>
          <a:p xmlns:a="http://schemas.openxmlformats.org/drawingml/2006/main">
            <a:r>
              <a:t>- Creswell, J. W. (2014).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quantitative research represents concepts as variables and uses numerical evidence to describe, compare, model, or test. The example is associational; it does not automatically support a causal claim. Ask students what would need to be measured and what alternative explanations might remain.</a:t>
            </a:r>
          </a:p>
          <a:p xmlns:a="http://schemas.openxmlformats.org/drawingml/2006/main">
            <a:r>
              <a:t/>
            </a:r>
          </a:p>
          <a:p xmlns:a="http://schemas.openxmlformats.org/drawingml/2006/main">
            <a:r>
              <a:t>[Sources]</a:t>
            </a:r>
          </a:p>
          <a:p xmlns:a="http://schemas.openxmlformats.org/drawingml/2006/main">
            <a:r>
              <a:t>- Creswell, J. W. (2014).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qualitative research is not simply any use of words. It involves purposeful inquiry into meaning, experience, process, culture, or context, with systematic interpretation and attention to researcher positioning. Ask how the example differs from asking students to rate their satisfaction on a five-point scale.</a:t>
            </a:r>
          </a:p>
          <a:p xmlns:a="http://schemas.openxmlformats.org/drawingml/2006/main">
            <a:r>
              <a:t/>
            </a:r>
          </a:p>
          <a:p xmlns:a="http://schemas.openxmlformats.org/drawingml/2006/main">
            <a:r>
              <a:t>[Sources]</a:t>
            </a:r>
          </a:p>
          <a:p xmlns:a="http://schemas.openxmlformats.org/drawingml/2006/main">
            <a:r>
              <a:t>- Creswell, J. W., &amp; Poth, C. N. (2017). Qualitative inquiry and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example to explain an explanatory sequence: a quantitative pattern can guide purposeful qualitative follow-up, and the two strands are interpreted together. Stress that mixed methods must have a reason for mixing. Ask students what the interviews could clarify that frequencies alone could not.</a:t>
            </a:r>
          </a:p>
          <a:p xmlns:a="http://schemas.openxmlformats.org/drawingml/2006/main">
            <a:r>
              <a:t/>
            </a:r>
          </a:p>
          <a:p xmlns:a="http://schemas.openxmlformats.org/drawingml/2006/main">
            <a:r>
              <a:t>[Sources]</a:t>
            </a:r>
          </a:p>
          <a:p xmlns:a="http://schemas.openxmlformats.org/drawingml/2006/main">
            <a:r>
              <a:t>- Poth, C. N. (2018). Innovations in mixed methods research.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simply adding an interview question to a survey does not by itself establish a mixed-methods design. Students should be able to point to where integration occurs and what purpose it serves. Integration may happen in design, sampling, data collection, analysis, interpretation, or several stages.</a:t>
            </a:r>
          </a:p>
          <a:p xmlns:a="http://schemas.openxmlformats.org/drawingml/2006/main">
            <a:r>
              <a:t/>
            </a:r>
          </a:p>
          <a:p xmlns:a="http://schemas.openxmlformats.org/drawingml/2006/main">
            <a:r>
              <a:t>[Sources]</a:t>
            </a:r>
          </a:p>
          <a:p xmlns:a="http://schemas.openxmlformats.org/drawingml/2006/main">
            <a:r>
              <a:t>- Poth, C. N. (2018). Innovations in mixed methods research.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 approaches so the room includes all three. Direct groups to Activity 2 on the site. They should complete purpose, research question, participants or data source, data needed, analysis, and one important limit. Tell them that a polished answer is not required; alignment is the goal. Give a time warning at 12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groups work, look for research questions that do not fit the assigned approach, data sources that cannot answer the question, and analysis plans stated only as software. Ask: What would the analysis produce, and how would that result answer the question? For mixed methods, ask where integration occurs.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one group from each approach to present. After each report, ask another group to identify one alignment strength and one claim boundary. Avoid framing the approaches as a hierarchy. The useful comparison is what each study is designed to know, not which method is universally strongest.</a:t>
            </a:r>
          </a:p>
          <a:p xmlns:a="http://schemas.openxmlformats.org/drawingml/2006/main">
            <a:r>
              <a:t/>
            </a:r>
          </a:p>
          <a:p xmlns:a="http://schemas.openxmlformats.org/drawingml/2006/main">
            <a:r>
              <a:t>[Sources]</a:t>
            </a:r>
          </a:p>
          <a:p xmlns:a="http://schemas.openxmlformats.org/drawingml/2006/main">
            <a:r>
              <a:t>- Creswell, J. W. (2014). Research design (4th ed.). Sage.</a:t>
            </a:r>
          </a:p>
          <a:p xmlns:a="http://schemas.openxmlformats.org/drawingml/2006/main">
            <a:r>
              <a:t>- Poth, C. N. (2018). Innovations in mixed methods research.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students that the baseline presented simplified versions of these questions without naming them. Introduce the idea that philosophical assumptions are not decorative background; they shape what researchers notice, ask, accept as evidence, and consider a defensible explanation.</a:t>
            </a:r>
          </a:p>
          <a:p xmlns:a="http://schemas.openxmlformats.org/drawingml/2006/main">
            <a:r>
              <a:t/>
            </a:r>
          </a:p>
          <a:p xmlns:a="http://schemas.openxmlformats.org/drawingml/2006/main">
            <a:r>
              <a:t>[Sources]</a:t>
            </a:r>
          </a:p>
          <a:p xmlns:a="http://schemas.openxmlformats.org/drawingml/2006/main">
            <a:r>
              <a:t>- Creswell, J. W. (2014).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definitions introductory. Ontology concerns assumptions about reality; epistemology concerns knowledge and knowing; axiology concerns values; methodology concerns the logic of inquiry. Distinguish methodology from a specific method such as an interview or regression. Invite students to connect one baseline statement to one of the four questions.</a:t>
            </a:r>
          </a:p>
          <a:p xmlns:a="http://schemas.openxmlformats.org/drawingml/2006/main">
            <a:r>
              <a:t/>
            </a:r>
          </a:p>
          <a:p xmlns:a="http://schemas.openxmlformats.org/drawingml/2006/main">
            <a:r>
              <a:t>[Sources]</a:t>
            </a:r>
          </a:p>
          <a:p xmlns:a="http://schemas.openxmlformats.org/drawingml/2006/main">
            <a:r>
              <a:t>- Creswell, J. W., &amp; Poth, C. N. (2017). Qualitative inquiry and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broad, simplified orientations. Avoid asking students to select a permanent type. A researcher can work within different traditions across projects, but each study should be philosophically and methodologically coherent. Ask students which orientation is most visible in each version of the anxiety study from Activity 2.</a:t>
            </a:r>
          </a:p>
          <a:p xmlns:a="http://schemas.openxmlformats.org/drawingml/2006/main">
            <a:r>
              <a:t/>
            </a:r>
          </a:p>
          <a:p xmlns:a="http://schemas.openxmlformats.org/drawingml/2006/main">
            <a:r>
              <a:t>[Sources]</a:t>
            </a:r>
          </a:p>
          <a:p xmlns:a="http://schemas.openxmlformats.org/drawingml/2006/main">
            <a:r>
              <a:t>- Creswell, J. W. (2014). Research design (4th ed.).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researchers do not enter studies as blank slates. Positionality concerns the researcher's relationship to the topic, setting, participants, and knowledge-making process. Give a neutral example: an instructor studying their own class brings access and contextual understanding, but also role power and interpretive commitments that require attention.</a:t>
            </a:r>
          </a:p>
          <a:p xmlns:a="http://schemas.openxmlformats.org/drawingml/2006/main">
            <a:r>
              <a:t/>
            </a:r>
          </a:p>
          <a:p xmlns:a="http://schemas.openxmlformats.org/drawingml/2006/main">
            <a:r>
              <a:t>[Sources]</a:t>
            </a:r>
          </a:p>
          <a:p xmlns:a="http://schemas.openxmlformats.org/drawingml/2006/main">
            <a:r>
              <a:t>- Creswell, J. W., &amp; Poth, C. N. (2017). Qualitative inquiry and research design (4th ed.). Sage.</a:t>
            </a:r>
          </a:p>
          <a:p xmlns:a="http://schemas.openxmlformats.org/drawingml/2006/main">
            <a:r>
              <a:t>- Poth, C. N. (2021). Research ethics.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reflexivity from a generic autobiographical statement. Relevant positionality is connected to concrete research decisions, relationships, power, and interpretation. In some designs, researchers try to reduce particular forms of influence; in others, they make the relationship visible and analytically productive. Both require rigor rather than denial.</a:t>
            </a:r>
          </a:p>
          <a:p xmlns:a="http://schemas.openxmlformats.org/drawingml/2006/main">
            <a:r>
              <a:t/>
            </a:r>
          </a:p>
          <a:p xmlns:a="http://schemas.openxmlformats.org/drawingml/2006/main">
            <a:r>
              <a:t>[Sources]</a:t>
            </a:r>
          </a:p>
          <a:p xmlns:a="http://schemas.openxmlformats.org/drawingml/2006/main">
            <a:r>
              <a:t>- Poth, C. N. (2021). Research ethics. 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explicitly to the chain from Slide 3. Ask students to use the anxiety study to test each arrow. Does the question follow from the problem? Does the data answer the question? Does the analysis create the kind of result needed? Do the conclusions stay within the evidence? Explain that this alignment map will become a recurring class tool and the backbone of the final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diagnose the mismatch before revealing the explanation. The word “experience” signals a richer interpretive question, while one rating provides a narrow numerical indicator. There are at least two coherent repairs: collect evidence suited to experience, or revise the question to ask about perceived usefulness. The solution is alignment, not automatic preference for one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by noting that generative AI makes research outputs easy to produce but does not remove the need for evidence, source appraisal, methodological judgement, or accountability. Connect this section to the AI baseline rather than treating it as a separate technology lesson.</a:t>
            </a:r>
          </a:p>
          <a:p xmlns:a="http://schemas.openxmlformats.org/drawingml/2006/main">
            <a:r>
              <a:t/>
            </a:r>
          </a:p>
          <a:p xmlns:a="http://schemas.openxmlformats.org/drawingml/2006/main">
            <a:r>
              <a:t>[Sources]</a:t>
            </a:r>
          </a:p>
          <a:p xmlns:a="http://schemas.openxmlformats.org/drawingml/2006/main">
            <a:r>
              <a:t>- UNESCO. (2023). Guidance for generative AI in education and research.</a:t>
            </a:r>
          </a:p>
          <a:p xmlns:a="http://schemas.openxmlformats.org/drawingml/2006/main">
            <a:r>
              <a:t>- University of Alberta. Academic integrity and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students to add one appropriate and one inappropriate use based on their own practice. Emphasize that usefulness depends on the task, course guidance, data sensitivity, verification, and the student's own contribution. AI-generated prose or citations can appear authoritative even when the underlying information is wrong or unsupported.</a:t>
            </a:r>
          </a:p>
          <a:p xmlns:a="http://schemas.openxmlformats.org/drawingml/2006/main">
            <a:r>
              <a:t/>
            </a:r>
          </a:p>
          <a:p xmlns:a="http://schemas.openxmlformats.org/drawingml/2006/main">
            <a:r>
              <a:t>[Sources]</a:t>
            </a:r>
          </a:p>
          <a:p xmlns:a="http://schemas.openxmlformats.org/drawingml/2006/main">
            <a:r>
              <a:t>- UNESCO. (2023). Guidance for generative AI in education and research.</a:t>
            </a:r>
          </a:p>
          <a:p xmlns:a="http://schemas.openxmlformats.org/drawingml/2006/main">
            <a:r>
              <a:t>- University of Alberta. Academic integrity and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risk with a research example. Epistemic risk: incorrect advice about design. Source risk: a plausible but nonexistent DOI or a real article cited for a claim it does not make. Privacy risk: uploading interview transcripts, student work, unpublished data, or identifiable information without authorization. Refer students to course and University guidance for permitted use and disclosure.</a:t>
            </a:r>
          </a:p>
          <a:p xmlns:a="http://schemas.openxmlformats.org/drawingml/2006/main">
            <a:r>
              <a:t/>
            </a:r>
          </a:p>
          <a:p xmlns:a="http://schemas.openxmlformats.org/drawingml/2006/main">
            <a:r>
              <a:t>[Sources]</a:t>
            </a:r>
          </a:p>
          <a:p xmlns:a="http://schemas.openxmlformats.org/drawingml/2006/main">
            <a:r>
              <a:t>- UNESCO. (2023). Guidance for generative AI in education and research.</a:t>
            </a:r>
          </a:p>
          <a:p xmlns:a="http://schemas.openxmlformats.org/drawingml/2006/main">
            <a:r>
              <a:t>- University of Alberta. Academic integrity and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pairs three to four minutes to draft a workflow on the Session 1 site before they reveal the suggested sequence. Ask them to be concrete: “check it” is not enough. Where will they look? What bibliographic details will they verify? What will they read? How will they determine whether the study supports the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the workflow from student responses first, then reveal each step. Distinguish source existence from source relevance: a real DOI does not prove the article supports the AI-generated claim. Distinguish verification from appraisal: after locating and reading the study, students must still assess its design, context, limitations, and applicability. The student remains responsible for the final scholarly decision.</a:t>
            </a:r>
          </a:p>
          <a:p xmlns:a="http://schemas.openxmlformats.org/drawingml/2006/main">
            <a:r>
              <a:t/>
            </a:r>
          </a:p>
          <a:p xmlns:a="http://schemas.openxmlformats.org/drawingml/2006/main">
            <a:r>
              <a:t>[Sources]</a:t>
            </a:r>
          </a:p>
          <a:p xmlns:a="http://schemas.openxmlformats.org/drawingml/2006/main">
            <a:r>
              <a:t>- UNESCO. (2023). Guidance for generative AI in education and research.</a:t>
            </a:r>
          </a:p>
          <a:p xmlns:a="http://schemas.openxmlformats.org/drawingml/2006/main">
            <a:r>
              <a:t>- University of Alberta. Academic integrity and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individual time. Remind them that the final question begins—not completes—their proposal development. Explain that you will use themes from the responses to shape Session 2 examples. If you plan an end-of-term comparison, retain the approved baseline and exit responses according to course 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by repeating the central question. Invite students to notice one educational problem during the coming week. They do not need a final topic yet. Close by explaining that Session 2 will move from interests to researchable problems and begin the literature-search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recommended foundations rather than required Session 1 readings. Additional course readings can be added through the learning platform as the semester progresses.</a:t>
            </a:r>
          </a:p>
          <a:p xmlns:a="http://schemas.openxmlformats.org/drawingml/2006/main">
            <a:r>
              <a:t/>
            </a:r>
          </a:p>
          <a:p xmlns:a="http://schemas.openxmlformats.org/drawingml/2006/main">
            <a:r>
              <a:t>[Sources]</a:t>
            </a:r>
          </a:p>
          <a:p xmlns:a="http://schemas.openxmlformats.org/drawingml/2006/main">
            <a:r>
              <a:t>- https://www.sagepub.com/shop/buy-a-book/qualitative-inquiry-and-research-design-4-246896</a:t>
            </a:r>
          </a:p>
          <a:p xmlns:a="http://schemas.openxmlformats.org/drawingml/2006/main">
            <a:r>
              <a:t>- https://unesdoc.unesco.org/ark:/48223/pf0000386693</a:t>
            </a:r>
          </a:p>
          <a:p xmlns:a="http://schemas.openxmlformats.org/drawingml/2006/main">
            <a:r>
              <a:t>- https://www.ualberta.ca/en/student-success-experience/services/student-conduct-accountability/academic-integrity-training-resources/academic-integrity-students/academic-integrity-ai.html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02f168921c40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a588baf28c4623" /><Relationship Type="http://schemas.openxmlformats.org/officeDocument/2006/relationships/slideLayout" Target="/ppt/slideLayouts/slideLayout1.xml" Id="R76ca84c543f74c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ca84c543f74c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64d75e48ed4e45" /><Relationship Type="http://schemas.openxmlformats.org/officeDocument/2006/relationships/notesSlide" Target="/ppt/notesSlides/notesSlide1.xml" Id="R4da6227365c648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d8699b2dc843fe" /><Relationship Type="http://schemas.openxmlformats.org/officeDocument/2006/relationships/notesSlide" Target="/ppt/notesSlides/notesSlide2.xml" Id="Rf0e34f81fb504b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bdc62daf214468" /><Relationship Type="http://schemas.openxmlformats.org/officeDocument/2006/relationships/notesSlide" Target="/ppt/notesSlides/notesSlide3.xml" Id="R6d8d385d15854a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6f9f0dc9804ef6" /><Relationship Type="http://schemas.openxmlformats.org/officeDocument/2006/relationships/notesSlide" Target="/ppt/notesSlides/notesSlide4.xml" Id="R930d529991db4c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b9df7399dc403f" /><Relationship Type="http://schemas.openxmlformats.org/officeDocument/2006/relationships/notesSlide" Target="/ppt/notesSlides/notesSlide5.xml" Id="Rc41ecd67893c4f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c43e9ee7a5467a" /><Relationship Type="http://schemas.openxmlformats.org/officeDocument/2006/relationships/notesSlide" Target="/ppt/notesSlides/notesSlide6.xml" Id="R59aab076ae4148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8ea146734b42ad" /><Relationship Type="http://schemas.openxmlformats.org/officeDocument/2006/relationships/notesSlide" Target="/ppt/notesSlides/notesSlide7.xml" Id="R271cccd274ae49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9f9443a31c4bde" /><Relationship Type="http://schemas.openxmlformats.org/officeDocument/2006/relationships/notesSlide" Target="/ppt/notesSlides/notesSlide8.xml" Id="Rf9b9ea6fbaa94d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2e25fb981e46a1" /><Relationship Type="http://schemas.openxmlformats.org/officeDocument/2006/relationships/notesSlide" Target="/ppt/notesSlides/notesSlide9.xml" Id="R8d90ee94e4ff40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df546a3a114fac" /><Relationship Type="http://schemas.openxmlformats.org/officeDocument/2006/relationships/notesSlide" Target="/ppt/notesSlides/notesSlide10.xml" Id="R355be640cd864e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c41a8f509c449f" /><Relationship Type="http://schemas.openxmlformats.org/officeDocument/2006/relationships/notesSlide" Target="/ppt/notesSlides/notesSlide11.xml" Id="R8b07806cba5c42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69ba93810f4514" /><Relationship Type="http://schemas.openxmlformats.org/officeDocument/2006/relationships/notesSlide" Target="/ppt/notesSlides/notesSlide12.xml" Id="R0b2479c685e443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9d04fd4f564caa" /><Relationship Type="http://schemas.openxmlformats.org/officeDocument/2006/relationships/notesSlide" Target="/ppt/notesSlides/notesSlide13.xml" Id="Rd77fc1b122af4f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c15d4758e344596" /><Relationship Type="http://schemas.openxmlformats.org/officeDocument/2006/relationships/notesSlide" Target="/ppt/notesSlides/notesSlide14.xml" Id="R583b5981778b4c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1552757a514ae1" /><Relationship Type="http://schemas.openxmlformats.org/officeDocument/2006/relationships/notesSlide" Target="/ppt/notesSlides/notesSlide15.xml" Id="Rcaf1a18130d24e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842d26cd7674b95" /><Relationship Type="http://schemas.openxmlformats.org/officeDocument/2006/relationships/notesSlide" Target="/ppt/notesSlides/notesSlide16.xml" Id="R7fea45b06bbc49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e0f1cefde63401b" /><Relationship Type="http://schemas.openxmlformats.org/officeDocument/2006/relationships/notesSlide" Target="/ppt/notesSlides/notesSlide17.xml" Id="Re3040b82da2944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4fbb7f138da46b3" /><Relationship Type="http://schemas.openxmlformats.org/officeDocument/2006/relationships/notesSlide" Target="/ppt/notesSlides/notesSlide18.xml" Id="R3c606665acf247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21780432b3b4cae" /><Relationship Type="http://schemas.openxmlformats.org/officeDocument/2006/relationships/notesSlide" Target="/ppt/notesSlides/notesSlide19.xml" Id="Rd19f8f1455b144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74c05601f114234" /><Relationship Type="http://schemas.openxmlformats.org/officeDocument/2006/relationships/notesSlide" Target="/ppt/notesSlides/notesSlide20.xml" Id="R654de6e45d9944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dbb530ae4ec43e0" /><Relationship Type="http://schemas.openxmlformats.org/officeDocument/2006/relationships/notesSlide" Target="/ppt/notesSlides/notesSlide21.xml" Id="R015896ff28d948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d518b2aa4744368" /><Relationship Type="http://schemas.openxmlformats.org/officeDocument/2006/relationships/notesSlide" Target="/ppt/notesSlides/notesSlide22.xml" Id="R4d784aed21674cf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8a60341295a4984" /><Relationship Type="http://schemas.openxmlformats.org/officeDocument/2006/relationships/notesSlide" Target="/ppt/notesSlides/notesSlide23.xml" Id="R65cf6584e5b04e5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6b9a08cdc1143bc" /><Relationship Type="http://schemas.openxmlformats.org/officeDocument/2006/relationships/notesSlide" Target="/ppt/notesSlides/notesSlide24.xml" Id="Rb61781e0312b446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9eebc55965f4730" /><Relationship Type="http://schemas.openxmlformats.org/officeDocument/2006/relationships/notesSlide" Target="/ppt/notesSlides/notesSlide25.xml" Id="R84f114a869364b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2a793918a5047ef" /><Relationship Type="http://schemas.openxmlformats.org/officeDocument/2006/relationships/notesSlide" Target="/ppt/notesSlides/notesSlide26.xml" Id="Rd8153ae17b1a4fa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6564fe49eb148eb" /><Relationship Type="http://schemas.openxmlformats.org/officeDocument/2006/relationships/notesSlide" Target="/ppt/notesSlides/notesSlide27.xml" Id="Rc32f5e46e2c741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94da9daa0e44bc1" /><Relationship Type="http://schemas.openxmlformats.org/officeDocument/2006/relationships/notesSlide" Target="/ppt/notesSlides/notesSlide28.xml" Id="Rbc5a8e8738674d2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199ab9d12a142c8" /><Relationship Type="http://schemas.openxmlformats.org/officeDocument/2006/relationships/notesSlide" Target="/ppt/notesSlides/notesSlide29.xml" Id="R5da0e5a7f56e49d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f0312a62e954a98" /><Relationship Type="http://schemas.openxmlformats.org/officeDocument/2006/relationships/notesSlide" Target="/ppt/notesSlides/notesSlide30.xml" Id="R0c55ef36cf2844c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cabf6917355449e" /><Relationship Type="http://schemas.openxmlformats.org/officeDocument/2006/relationships/notesSlide" Target="/ppt/notesSlides/notesSlide31.xml" Id="R5929c081007243b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9dd3b91192e4ea4" /><Relationship Type="http://schemas.openxmlformats.org/officeDocument/2006/relationships/notesSlide" Target="/ppt/notesSlides/notesSlide32.xml" Id="R007f259ff8d142b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989e94278d941ef" /><Relationship Type="http://schemas.openxmlformats.org/officeDocument/2006/relationships/notesSlide" Target="/ppt/notesSlides/notesSlide33.xml" Id="R4a44cb4a45dd4c5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ca0c9b4678c4481" /><Relationship Type="http://schemas.openxmlformats.org/officeDocument/2006/relationships/notesSlide" Target="/ppt/notesSlides/notesSlide34.xml" Id="R9ab171bf46854ce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b34ea299cff45bb" /><Relationship Type="http://schemas.openxmlformats.org/officeDocument/2006/relationships/notesSlide" Target="/ppt/notesSlides/notesSlide35.xml" Id="R6e8b944e28114e7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48d682afe4a47c9" /><Relationship Type="http://schemas.openxmlformats.org/officeDocument/2006/relationships/notesSlide" Target="/ppt/notesSlides/notesSlide36.xml" Id="R848852754d454f9e" /></Relationships>
</file>

<file path=ppt/slides/slide1.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E79C66-1CED-499C-8998-8E694ED1597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9065BD-10FE-49A8-9315-9B8E6465D736}"/>
              </a:ext>
            </a:extLst>
          </p:cNvPr>
          <p:cNvSpPr>
            <a:spLocks xmlns:a="http://schemas.openxmlformats.org/drawingml/2006/main" noGrp="1"/>
          </p:cNvSpPr>
          <p:nvPr/>
        </p:nvSpPr>
        <p:spPr>
          <a:xfrm xmlns:a="http://schemas.openxmlformats.org/drawingml/2006/main">
            <a:off x="685800" y="885825"/>
            <a:ext cx="876300" cy="7620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690FCF9-3FDA-461B-BE21-12281F358CE0}"/>
              </a:ext>
            </a:extLst>
          </p:cNvPr>
          <p:cNvSpPr>
            <a:spLocks xmlns:a="http://schemas.openxmlformats.org/drawingml/2006/main" noGrp="1"/>
          </p:cNvSpPr>
          <p:nvPr/>
        </p:nvSpPr>
        <p:spPr>
          <a:xfrm xmlns:a="http://schemas.openxmlformats.org/drawingml/2006/main">
            <a:off x="685800" y="11049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EDPY 501 · FALL 2026</a:t>
            </a:r>
          </a:p>
        </p:txBody>
      </p:sp>
      <p:sp>
        <p:nvSpPr>
          <p:cNvPr id="4" name="">
            <a:extLst xmlns:a="http://schemas.openxmlformats.org/drawingml/2006/main">
              <a:ext uri="{FF2B5EF4-FFF2-40B4-BE49-F238E27FC236}">
                <a16:creationId xmlns:a16="http://schemas.microsoft.com/office/drawing/2014/main" id="{3F59B47B-640B-49AD-A74C-E4D184BBA46D}"/>
              </a:ext>
            </a:extLst>
          </p:cNvPr>
          <p:cNvSpPr>
            <a:spLocks xmlns:a="http://schemas.openxmlformats.org/drawingml/2006/main" noGrp="1"/>
          </p:cNvSpPr>
          <p:nvPr/>
        </p:nvSpPr>
        <p:spPr>
          <a:xfrm xmlns:a="http://schemas.openxmlformats.org/drawingml/2006/main">
            <a:off x="685800" y="1809750"/>
            <a:ext cx="9715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500" b="1" i="0">
                <a:solidFill>
                  <a:srgbClr val="FFFFFF"/>
                </a:solidFill>
              </a:defRPr>
            </a:pPr>
            <a:r>
              <a:rPr sz="4500" b="1" i="0">
                <a:solidFill>
                  <a:srgbClr val="FFFFFF"/>
                </a:solidFill>
              </a:rPr>
              <a:t>How do we know what we think we know about education?</a:t>
            </a:r>
          </a:p>
        </p:txBody>
      </p:sp>
      <p:sp>
        <p:nvSpPr>
          <p:cNvPr id="5" name="">
            <a:extLst xmlns:a="http://schemas.openxmlformats.org/drawingml/2006/main">
              <a:ext uri="{FF2B5EF4-FFF2-40B4-BE49-F238E27FC236}">
                <a16:creationId xmlns:a16="http://schemas.microsoft.com/office/drawing/2014/main" id="{20DFEBBE-070E-4443-8EA8-4BD5DA79A0A4}"/>
              </a:ext>
            </a:extLst>
          </p:cNvPr>
          <p:cNvSpPr>
            <a:spLocks xmlns:a="http://schemas.openxmlformats.org/drawingml/2006/main" noGrp="1"/>
          </p:cNvSpPr>
          <p:nvPr/>
        </p:nvSpPr>
        <p:spPr>
          <a:xfrm xmlns:a="http://schemas.openxmlformats.org/drawingml/2006/main">
            <a:off x="704850" y="4695825"/>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DCE8DF"/>
                </a:solidFill>
              </a:defRPr>
            </a:pPr>
            <a:r>
              <a:rPr sz="1875" b="0" i="0">
                <a:solidFill>
                  <a:srgbClr val="DCE8DF"/>
                </a:solidFill>
              </a:rPr>
              <a:t>Session 1 · Introduction to Educational Research</a:t>
            </a:r>
          </a:p>
        </p:txBody>
      </p:sp>
      <p:sp>
        <p:nvSpPr>
          <p:cNvPr id="6" name="">
            <a:extLst xmlns:a="http://schemas.openxmlformats.org/drawingml/2006/main">
              <a:ext uri="{FF2B5EF4-FFF2-40B4-BE49-F238E27FC236}">
                <a16:creationId xmlns:a16="http://schemas.microsoft.com/office/drawing/2014/main" id="{17D43B68-8740-4CD6-A821-E0283FD651F5}"/>
              </a:ext>
            </a:extLst>
          </p:cNvPr>
          <p:cNvSpPr>
            <a:spLocks xmlns:a="http://schemas.openxmlformats.org/drawingml/2006/main" noGrp="1"/>
          </p:cNvSpPr>
          <p:nvPr/>
        </p:nvSpPr>
        <p:spPr>
          <a:xfrm xmlns:a="http://schemas.openxmlformats.org/drawingml/2006/main">
            <a:off x="704850" y="54292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FFFFFF"/>
                </a:solidFill>
              </a:defRPr>
            </a:pPr>
            <a:r>
              <a:rPr sz="1500" b="1" i="0">
                <a:solidFill>
                  <a:srgbClr val="FFFFFF"/>
                </a:solidFill>
              </a:rPr>
              <a:t>Dr. Tahereh Firoozi</a:t>
            </a:r>
          </a:p>
        </p:txBody>
      </p:sp>
      <p:sp>
        <p:nvSpPr>
          <p:cNvPr id="7" name="">
            <a:extLst xmlns:a="http://schemas.openxmlformats.org/drawingml/2006/main">
              <a:ext uri="{FF2B5EF4-FFF2-40B4-BE49-F238E27FC236}">
                <a16:creationId xmlns:a16="http://schemas.microsoft.com/office/drawing/2014/main" id="{5A48B474-42E0-4EDE-82BB-50A50C17AE13}"/>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8" name="">
            <a:extLst xmlns:a="http://schemas.openxmlformats.org/drawingml/2006/main">
              <a:ext uri="{FF2B5EF4-FFF2-40B4-BE49-F238E27FC236}">
                <a16:creationId xmlns:a16="http://schemas.microsoft.com/office/drawing/2014/main" id="{79EEAB60-9AE5-4F5B-B386-1B64E01734F2}"/>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01</a:t>
            </a:r>
          </a:p>
        </p:txBody>
      </p:sp>
    </p:spTree>
    <p:extLst>
      <p:ext uri="{BB962C8B-B14F-4D97-AF65-F5344CB8AC3E}">
        <p14:creationId xmlns:p14="http://schemas.microsoft.com/office/powerpoint/2010/main" val="842839430"/>
      </p:ext>
    </p:extLst>
  </p:cSld>
</p:sld>
</file>

<file path=ppt/slides/slide2.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574996-2C4F-4242-9296-BF44C9DA73B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1A6A33-0D8C-41D4-BE3D-CBB5E7687C85}"/>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2EE446C-C12E-4AB6-B112-ADE1C877A26A}"/>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SESSION 1</a:t>
            </a:r>
          </a:p>
        </p:txBody>
      </p:sp>
      <p:sp>
        <p:nvSpPr>
          <p:cNvPr id="4" name="">
            <a:extLst xmlns:a="http://schemas.openxmlformats.org/drawingml/2006/main">
              <a:ext uri="{FF2B5EF4-FFF2-40B4-BE49-F238E27FC236}">
                <a16:creationId xmlns:a16="http://schemas.microsoft.com/office/drawing/2014/main" id="{477D0E9B-C865-4851-8102-848E0960A1BA}"/>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Today is about the logic beneath the methods</a:t>
            </a:r>
          </a:p>
        </p:txBody>
      </p:sp>
      <p:sp>
        <p:nvSpPr>
          <p:cNvPr id="5" name="">
            <a:extLst xmlns:a="http://schemas.openxmlformats.org/drawingml/2006/main">
              <a:ext uri="{FF2B5EF4-FFF2-40B4-BE49-F238E27FC236}">
                <a16:creationId xmlns:a16="http://schemas.microsoft.com/office/drawing/2014/main" id="{23F385DB-94D5-48DA-B2EF-17413674D8D8}"/>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6073CB52-80A3-46CD-BC52-115BE98023F3}"/>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02</a:t>
            </a:r>
          </a:p>
        </p:txBody>
      </p:sp>
      <p:sp>
        <p:nvSpPr>
          <p:cNvPr id="7" name="">
            <a:extLst xmlns:a="http://schemas.openxmlformats.org/drawingml/2006/main">
              <a:ext uri="{FF2B5EF4-FFF2-40B4-BE49-F238E27FC236}">
                <a16:creationId xmlns:a16="http://schemas.microsoft.com/office/drawing/2014/main" id="{030FACD8-6775-4E95-B2F0-6392A7BC902A}"/>
              </a:ext>
            </a:extLst>
          </p:cNvPr>
          <p:cNvSpPr>
            <a:spLocks xmlns:a="http://schemas.openxmlformats.org/drawingml/2006/main" noGrp="1"/>
          </p:cNvSpPr>
          <p:nvPr/>
        </p:nvSpPr>
        <p:spPr>
          <a:xfrm xmlns:a="http://schemas.openxmlformats.org/drawingml/2006/main">
            <a:off x="1000125" y="2333625"/>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335F86-683B-40A8-AEBB-8580B6A3E5B4}"/>
              </a:ext>
            </a:extLst>
          </p:cNvPr>
          <p:cNvSpPr>
            <a:spLocks xmlns:a="http://schemas.openxmlformats.org/drawingml/2006/main" noGrp="1"/>
          </p:cNvSpPr>
          <p:nvPr/>
        </p:nvSpPr>
        <p:spPr>
          <a:xfrm xmlns:a="http://schemas.openxmlformats.org/drawingml/2006/main">
            <a:off x="1266825" y="2238375"/>
            <a:ext cx="9353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Distinguish systematic research from everyday inquiry or opinion.</a:t>
            </a:r>
          </a:p>
        </p:txBody>
      </p:sp>
      <p:sp>
        <p:nvSpPr>
          <p:cNvPr id="9" name="">
            <a:extLst xmlns:a="http://schemas.openxmlformats.org/drawingml/2006/main">
              <a:ext uri="{FF2B5EF4-FFF2-40B4-BE49-F238E27FC236}">
                <a16:creationId xmlns:a16="http://schemas.microsoft.com/office/drawing/2014/main" id="{2C7E6AD0-A05B-4F87-A414-61DEB626E025}"/>
              </a:ext>
            </a:extLst>
          </p:cNvPr>
          <p:cNvSpPr>
            <a:spLocks xmlns:a="http://schemas.openxmlformats.org/drawingml/2006/main" noGrp="1"/>
          </p:cNvSpPr>
          <p:nvPr/>
        </p:nvSpPr>
        <p:spPr>
          <a:xfrm xmlns:a="http://schemas.openxmlformats.org/drawingml/2006/main">
            <a:off x="1000125" y="3028950"/>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63E2CFD-4B1F-474E-90C1-EE4DB0FBDD83}"/>
              </a:ext>
            </a:extLst>
          </p:cNvPr>
          <p:cNvSpPr>
            <a:spLocks xmlns:a="http://schemas.openxmlformats.org/drawingml/2006/main" noGrp="1"/>
          </p:cNvSpPr>
          <p:nvPr/>
        </p:nvSpPr>
        <p:spPr>
          <a:xfrm xmlns:a="http://schemas.openxmlformats.org/drawingml/2006/main">
            <a:off x="1266825" y="2933700"/>
            <a:ext cx="9353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Compare quantitative, qualitative, and mixed-methods approaches.</a:t>
            </a:r>
          </a:p>
        </p:txBody>
      </p:sp>
      <p:sp>
        <p:nvSpPr>
          <p:cNvPr id="11" name="">
            <a:extLst xmlns:a="http://schemas.openxmlformats.org/drawingml/2006/main">
              <a:ext uri="{FF2B5EF4-FFF2-40B4-BE49-F238E27FC236}">
                <a16:creationId xmlns:a16="http://schemas.microsoft.com/office/drawing/2014/main" id="{50C9F572-C661-443A-959D-3459F90B5191}"/>
              </a:ext>
            </a:extLst>
          </p:cNvPr>
          <p:cNvSpPr>
            <a:spLocks xmlns:a="http://schemas.openxmlformats.org/drawingml/2006/main" noGrp="1"/>
          </p:cNvSpPr>
          <p:nvPr/>
        </p:nvSpPr>
        <p:spPr>
          <a:xfrm xmlns:a="http://schemas.openxmlformats.org/drawingml/2006/main">
            <a:off x="1000125" y="3724275"/>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9E5807F-F66F-4A0F-9359-726327ED5396}"/>
              </a:ext>
            </a:extLst>
          </p:cNvPr>
          <p:cNvSpPr>
            <a:spLocks xmlns:a="http://schemas.openxmlformats.org/drawingml/2006/main" noGrp="1"/>
          </p:cNvSpPr>
          <p:nvPr/>
        </p:nvSpPr>
        <p:spPr>
          <a:xfrm xmlns:a="http://schemas.openxmlformats.org/drawingml/2006/main">
            <a:off x="1266825" y="3629025"/>
            <a:ext cx="9353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Recognize how assumptions and positionality shape research decisions.</a:t>
            </a:r>
          </a:p>
        </p:txBody>
      </p:sp>
      <p:sp>
        <p:nvSpPr>
          <p:cNvPr id="13" name="">
            <a:extLst xmlns:a="http://schemas.openxmlformats.org/drawingml/2006/main">
              <a:ext uri="{FF2B5EF4-FFF2-40B4-BE49-F238E27FC236}">
                <a16:creationId xmlns:a16="http://schemas.microsoft.com/office/drawing/2014/main" id="{E3545F89-1A0E-4D61-89CA-7940DEBF7D1D}"/>
              </a:ext>
            </a:extLst>
          </p:cNvPr>
          <p:cNvSpPr>
            <a:spLocks xmlns:a="http://schemas.openxmlformats.org/drawingml/2006/main" noGrp="1"/>
          </p:cNvSpPr>
          <p:nvPr/>
        </p:nvSpPr>
        <p:spPr>
          <a:xfrm xmlns:a="http://schemas.openxmlformats.org/drawingml/2006/main">
            <a:off x="1000125" y="4419600"/>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9D080B-666E-48C5-B2BE-CEFBCBBEA209}"/>
              </a:ext>
            </a:extLst>
          </p:cNvPr>
          <p:cNvSpPr>
            <a:spLocks xmlns:a="http://schemas.openxmlformats.org/drawingml/2006/main" noGrp="1"/>
          </p:cNvSpPr>
          <p:nvPr/>
        </p:nvSpPr>
        <p:spPr>
          <a:xfrm xmlns:a="http://schemas.openxmlformats.org/drawingml/2006/main">
            <a:off x="1266825" y="4324350"/>
            <a:ext cx="9353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Connect AI literacy with source verification and scholarly responsibility.</a:t>
            </a:r>
          </a:p>
        </p:txBody>
      </p:sp>
    </p:spTree>
    <p:extLst>
      <p:ext uri="{BB962C8B-B14F-4D97-AF65-F5344CB8AC3E}">
        <p14:creationId xmlns:p14="http://schemas.microsoft.com/office/powerpoint/2010/main" val="2083135691"/>
      </p:ext>
    </p:extLst>
  </p:cSld>
</p:sld>
</file>

<file path=ppt/slides/slide3.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C03DC5C-9019-4414-828E-E05BA4E64EA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BAE112-AF8C-48E2-B631-69616A47C427}"/>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53083C-022B-4236-AA24-DD9BE9EEA039}"/>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SESSION 1</a:t>
            </a:r>
          </a:p>
        </p:txBody>
      </p:sp>
      <p:sp>
        <p:nvSpPr>
          <p:cNvPr id="4" name="">
            <a:extLst xmlns:a="http://schemas.openxmlformats.org/drawingml/2006/main">
              <a:ext uri="{FF2B5EF4-FFF2-40B4-BE49-F238E27FC236}">
                <a16:creationId xmlns:a16="http://schemas.microsoft.com/office/drawing/2014/main" id="{C419BA94-1BDF-4737-B77F-975B02C841D1}"/>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The course keeps returning to one question</a:t>
            </a:r>
          </a:p>
        </p:txBody>
      </p:sp>
      <p:sp>
        <p:nvSpPr>
          <p:cNvPr id="5" name="">
            <a:extLst xmlns:a="http://schemas.openxmlformats.org/drawingml/2006/main">
              <a:ext uri="{FF2B5EF4-FFF2-40B4-BE49-F238E27FC236}">
                <a16:creationId xmlns:a16="http://schemas.microsoft.com/office/drawing/2014/main" id="{E31DF409-39C9-4E2E-A504-6E01B7A65612}"/>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8A772E3A-AEFE-4BBE-9335-F7598B46846E}"/>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03</a:t>
            </a:r>
          </a:p>
        </p:txBody>
      </p:sp>
      <p:sp>
        <p:nvSpPr>
          <p:cNvPr id="7" name="">
            <a:extLst xmlns:a="http://schemas.openxmlformats.org/drawingml/2006/main">
              <a:ext uri="{FF2B5EF4-FFF2-40B4-BE49-F238E27FC236}">
                <a16:creationId xmlns:a16="http://schemas.microsoft.com/office/drawing/2014/main" id="{48DE0270-74DD-4E68-AFA6-0B712AF659FE}"/>
              </a:ext>
            </a:extLst>
          </p:cNvPr>
          <p:cNvSpPr>
            <a:spLocks xmlns:a="http://schemas.openxmlformats.org/drawingml/2006/main" noGrp="1"/>
          </p:cNvSpPr>
          <p:nvPr/>
        </p:nvSpPr>
        <p:spPr>
          <a:xfrm xmlns:a="http://schemas.openxmlformats.org/drawingml/2006/main">
            <a:off x="876300" y="2133600"/>
            <a:ext cx="10382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850" b="1" i="0">
                <a:solidFill>
                  <a:srgbClr val="123421"/>
                </a:solidFill>
              </a:defRPr>
            </a:pPr>
            <a:r>
              <a:rPr sz="2850" b="1" i="0">
                <a:solidFill>
                  <a:srgbClr val="123421"/>
                </a:solidFill>
              </a:rPr>
              <a:t>Does the design and evidence actually support the claim being made?</a:t>
            </a:r>
          </a:p>
        </p:txBody>
      </p:sp>
      <p:sp>
        <p:nvSpPr>
          <p:cNvPr id="8" name="">
            <a:extLst xmlns:a="http://schemas.openxmlformats.org/drawingml/2006/main">
              <a:ext uri="{FF2B5EF4-FFF2-40B4-BE49-F238E27FC236}">
                <a16:creationId xmlns:a16="http://schemas.microsoft.com/office/drawing/2014/main" id="{2E1798EC-0C66-479E-B52F-8F4FA1DC7564}"/>
              </a:ext>
            </a:extLst>
          </p:cNvPr>
          <p:cNvSpPr>
            <a:spLocks xmlns:a="http://schemas.openxmlformats.org/drawingml/2006/main" noGrp="1"/>
          </p:cNvSpPr>
          <p:nvPr/>
        </p:nvSpPr>
        <p:spPr>
          <a:xfrm xmlns:a="http://schemas.openxmlformats.org/drawingml/2006/main">
            <a:off x="790575" y="4048125"/>
            <a:ext cx="12001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9050">
            <a:solidFill>
              <a:srgbClr val="275D38"/>
            </a:solidFill>
            <a:prstDash val="solid"/>
          </a:ln>
        </p:spPr>
      </p:sp>
      <p:sp>
        <p:nvSpPr>
          <p:cNvPr id="9" name="">
            <a:extLst xmlns:a="http://schemas.openxmlformats.org/drawingml/2006/main">
              <a:ext uri="{FF2B5EF4-FFF2-40B4-BE49-F238E27FC236}">
                <a16:creationId xmlns:a16="http://schemas.microsoft.com/office/drawing/2014/main" id="{6886D376-50C8-45CE-B882-5F7FC0AEC29C}"/>
              </a:ext>
            </a:extLst>
          </p:cNvPr>
          <p:cNvSpPr>
            <a:spLocks xmlns:a="http://schemas.openxmlformats.org/drawingml/2006/main" noGrp="1"/>
          </p:cNvSpPr>
          <p:nvPr/>
        </p:nvSpPr>
        <p:spPr>
          <a:xfrm xmlns:a="http://schemas.openxmlformats.org/drawingml/2006/main">
            <a:off x="866775" y="42576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Problem</a:t>
            </a:r>
          </a:p>
        </p:txBody>
      </p:sp>
      <p:sp>
        <p:nvSpPr>
          <p:cNvPr id="10" name="">
            <a:extLst xmlns:a="http://schemas.openxmlformats.org/drawingml/2006/main">
              <a:ext uri="{FF2B5EF4-FFF2-40B4-BE49-F238E27FC236}">
                <a16:creationId xmlns:a16="http://schemas.microsoft.com/office/drawing/2014/main" id="{439DC6FA-FA0E-4D9A-91FF-2D9B6AD83C17}"/>
              </a:ext>
            </a:extLst>
          </p:cNvPr>
          <p:cNvSpPr>
            <a:spLocks xmlns:a="http://schemas.openxmlformats.org/drawingml/2006/main" noGrp="1"/>
          </p:cNvSpPr>
          <p:nvPr/>
        </p:nvSpPr>
        <p:spPr>
          <a:xfrm xmlns:a="http://schemas.openxmlformats.org/drawingml/2006/main">
            <a:off x="1990725" y="4210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275D38"/>
                </a:solidFill>
              </a:defRPr>
            </a:pPr>
            <a:r>
              <a:rPr sz="2100" b="1" i="0">
                <a:solidFill>
                  <a:srgbClr val="275D38"/>
                </a:solidFill>
              </a:rPr>
              <a:t>→</a:t>
            </a:r>
          </a:p>
        </p:txBody>
      </p:sp>
      <p:sp>
        <p:nvSpPr>
          <p:cNvPr id="11" name="">
            <a:extLst xmlns:a="http://schemas.openxmlformats.org/drawingml/2006/main">
              <a:ext uri="{FF2B5EF4-FFF2-40B4-BE49-F238E27FC236}">
                <a16:creationId xmlns:a16="http://schemas.microsoft.com/office/drawing/2014/main" id="{56E65BA5-AA84-4B60-8CD7-B714FFBEE945}"/>
              </a:ext>
            </a:extLst>
          </p:cNvPr>
          <p:cNvSpPr>
            <a:spLocks xmlns:a="http://schemas.openxmlformats.org/drawingml/2006/main" noGrp="1"/>
          </p:cNvSpPr>
          <p:nvPr/>
        </p:nvSpPr>
        <p:spPr>
          <a:xfrm xmlns:a="http://schemas.openxmlformats.org/drawingml/2006/main">
            <a:off x="2314575" y="4048125"/>
            <a:ext cx="12001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9050">
            <a:solidFill>
              <a:srgbClr val="275D38"/>
            </a:solidFill>
            <a:prstDash val="solid"/>
          </a:ln>
        </p:spPr>
      </p:sp>
      <p:sp>
        <p:nvSpPr>
          <p:cNvPr id="12" name="">
            <a:extLst xmlns:a="http://schemas.openxmlformats.org/drawingml/2006/main">
              <a:ext uri="{FF2B5EF4-FFF2-40B4-BE49-F238E27FC236}">
                <a16:creationId xmlns:a16="http://schemas.microsoft.com/office/drawing/2014/main" id="{A369BAAD-E949-4EA8-A1F8-BA18EDCED7D5}"/>
              </a:ext>
            </a:extLst>
          </p:cNvPr>
          <p:cNvSpPr>
            <a:spLocks xmlns:a="http://schemas.openxmlformats.org/drawingml/2006/main" noGrp="1"/>
          </p:cNvSpPr>
          <p:nvPr/>
        </p:nvSpPr>
        <p:spPr>
          <a:xfrm xmlns:a="http://schemas.openxmlformats.org/drawingml/2006/main">
            <a:off x="2390775" y="42576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Purpose</a:t>
            </a:r>
          </a:p>
        </p:txBody>
      </p:sp>
      <p:sp>
        <p:nvSpPr>
          <p:cNvPr id="13" name="">
            <a:extLst xmlns:a="http://schemas.openxmlformats.org/drawingml/2006/main">
              <a:ext uri="{FF2B5EF4-FFF2-40B4-BE49-F238E27FC236}">
                <a16:creationId xmlns:a16="http://schemas.microsoft.com/office/drawing/2014/main" id="{E9BF5058-7AFA-443A-8ED5-F3D7E8E44224}"/>
              </a:ext>
            </a:extLst>
          </p:cNvPr>
          <p:cNvSpPr>
            <a:spLocks xmlns:a="http://schemas.openxmlformats.org/drawingml/2006/main" noGrp="1"/>
          </p:cNvSpPr>
          <p:nvPr/>
        </p:nvSpPr>
        <p:spPr>
          <a:xfrm xmlns:a="http://schemas.openxmlformats.org/drawingml/2006/main">
            <a:off x="3514725" y="4210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275D38"/>
                </a:solidFill>
              </a:defRPr>
            </a:pPr>
            <a:r>
              <a:rPr sz="2100" b="1" i="0">
                <a:solidFill>
                  <a:srgbClr val="275D38"/>
                </a:solidFill>
              </a:rPr>
              <a:t>→</a:t>
            </a:r>
          </a:p>
        </p:txBody>
      </p:sp>
      <p:sp>
        <p:nvSpPr>
          <p:cNvPr id="14" name="">
            <a:extLst xmlns:a="http://schemas.openxmlformats.org/drawingml/2006/main">
              <a:ext uri="{FF2B5EF4-FFF2-40B4-BE49-F238E27FC236}">
                <a16:creationId xmlns:a16="http://schemas.microsoft.com/office/drawing/2014/main" id="{253249CA-EB6D-4F2D-A8F8-6BDBCD71C2FE}"/>
              </a:ext>
            </a:extLst>
          </p:cNvPr>
          <p:cNvSpPr>
            <a:spLocks xmlns:a="http://schemas.openxmlformats.org/drawingml/2006/main" noGrp="1"/>
          </p:cNvSpPr>
          <p:nvPr/>
        </p:nvSpPr>
        <p:spPr>
          <a:xfrm xmlns:a="http://schemas.openxmlformats.org/drawingml/2006/main">
            <a:off x="3838575" y="4048125"/>
            <a:ext cx="12001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9050">
            <a:solidFill>
              <a:srgbClr val="275D38"/>
            </a:solidFill>
            <a:prstDash val="solid"/>
          </a:ln>
        </p:spPr>
      </p:sp>
      <p:sp>
        <p:nvSpPr>
          <p:cNvPr id="15" name="">
            <a:extLst xmlns:a="http://schemas.openxmlformats.org/drawingml/2006/main">
              <a:ext uri="{FF2B5EF4-FFF2-40B4-BE49-F238E27FC236}">
                <a16:creationId xmlns:a16="http://schemas.microsoft.com/office/drawing/2014/main" id="{C4970A87-CC07-43A1-AE7E-160DDC98F3F3}"/>
              </a:ext>
            </a:extLst>
          </p:cNvPr>
          <p:cNvSpPr>
            <a:spLocks xmlns:a="http://schemas.openxmlformats.org/drawingml/2006/main" noGrp="1"/>
          </p:cNvSpPr>
          <p:nvPr/>
        </p:nvSpPr>
        <p:spPr>
          <a:xfrm xmlns:a="http://schemas.openxmlformats.org/drawingml/2006/main">
            <a:off x="3914775" y="42576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Question</a:t>
            </a:r>
          </a:p>
        </p:txBody>
      </p:sp>
      <p:sp>
        <p:nvSpPr>
          <p:cNvPr id="16" name="">
            <a:extLst xmlns:a="http://schemas.openxmlformats.org/drawingml/2006/main">
              <a:ext uri="{FF2B5EF4-FFF2-40B4-BE49-F238E27FC236}">
                <a16:creationId xmlns:a16="http://schemas.microsoft.com/office/drawing/2014/main" id="{8EFE4F93-F6D3-4229-928D-414139A4AD5B}"/>
              </a:ext>
            </a:extLst>
          </p:cNvPr>
          <p:cNvSpPr>
            <a:spLocks xmlns:a="http://schemas.openxmlformats.org/drawingml/2006/main" noGrp="1"/>
          </p:cNvSpPr>
          <p:nvPr/>
        </p:nvSpPr>
        <p:spPr>
          <a:xfrm xmlns:a="http://schemas.openxmlformats.org/drawingml/2006/main">
            <a:off x="5038725" y="4210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275D38"/>
                </a:solidFill>
              </a:defRPr>
            </a:pPr>
            <a:r>
              <a:rPr sz="2100" b="1" i="0">
                <a:solidFill>
                  <a:srgbClr val="275D38"/>
                </a:solidFill>
              </a:rPr>
              <a:t>→</a:t>
            </a:r>
          </a:p>
        </p:txBody>
      </p:sp>
      <p:sp>
        <p:nvSpPr>
          <p:cNvPr id="17" name="">
            <a:extLst xmlns:a="http://schemas.openxmlformats.org/drawingml/2006/main">
              <a:ext uri="{FF2B5EF4-FFF2-40B4-BE49-F238E27FC236}">
                <a16:creationId xmlns:a16="http://schemas.microsoft.com/office/drawing/2014/main" id="{527C8702-F754-4EA9-AB8C-99630997D58D}"/>
              </a:ext>
            </a:extLst>
          </p:cNvPr>
          <p:cNvSpPr>
            <a:spLocks xmlns:a="http://schemas.openxmlformats.org/drawingml/2006/main" noGrp="1"/>
          </p:cNvSpPr>
          <p:nvPr/>
        </p:nvSpPr>
        <p:spPr>
          <a:xfrm xmlns:a="http://schemas.openxmlformats.org/drawingml/2006/main">
            <a:off x="5362575" y="4048125"/>
            <a:ext cx="12001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9050">
            <a:solidFill>
              <a:srgbClr val="275D38"/>
            </a:solidFill>
            <a:prstDash val="solid"/>
          </a:ln>
        </p:spPr>
      </p:sp>
      <p:sp>
        <p:nvSpPr>
          <p:cNvPr id="18" name="">
            <a:extLst xmlns:a="http://schemas.openxmlformats.org/drawingml/2006/main">
              <a:ext uri="{FF2B5EF4-FFF2-40B4-BE49-F238E27FC236}">
                <a16:creationId xmlns:a16="http://schemas.microsoft.com/office/drawing/2014/main" id="{527BC8C7-ADE6-4A11-B144-479969AE43EA}"/>
              </a:ext>
            </a:extLst>
          </p:cNvPr>
          <p:cNvSpPr>
            <a:spLocks xmlns:a="http://schemas.openxmlformats.org/drawingml/2006/main" noGrp="1"/>
          </p:cNvSpPr>
          <p:nvPr/>
        </p:nvSpPr>
        <p:spPr>
          <a:xfrm xmlns:a="http://schemas.openxmlformats.org/drawingml/2006/main">
            <a:off x="5438775" y="42576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Design</a:t>
            </a:r>
          </a:p>
        </p:txBody>
      </p:sp>
      <p:sp>
        <p:nvSpPr>
          <p:cNvPr id="19" name="">
            <a:extLst xmlns:a="http://schemas.openxmlformats.org/drawingml/2006/main">
              <a:ext uri="{FF2B5EF4-FFF2-40B4-BE49-F238E27FC236}">
                <a16:creationId xmlns:a16="http://schemas.microsoft.com/office/drawing/2014/main" id="{CA18D82E-45AC-4A85-8BD7-D3F61148A13F}"/>
              </a:ext>
            </a:extLst>
          </p:cNvPr>
          <p:cNvSpPr>
            <a:spLocks xmlns:a="http://schemas.openxmlformats.org/drawingml/2006/main" noGrp="1"/>
          </p:cNvSpPr>
          <p:nvPr/>
        </p:nvSpPr>
        <p:spPr>
          <a:xfrm xmlns:a="http://schemas.openxmlformats.org/drawingml/2006/main">
            <a:off x="6562725" y="4210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275D38"/>
                </a:solidFill>
              </a:defRPr>
            </a:pPr>
            <a:r>
              <a:rPr sz="2100" b="1" i="0">
                <a:solidFill>
                  <a:srgbClr val="275D38"/>
                </a:solidFill>
              </a:rPr>
              <a:t>→</a:t>
            </a:r>
          </a:p>
        </p:txBody>
      </p:sp>
      <p:sp>
        <p:nvSpPr>
          <p:cNvPr id="20" name="">
            <a:extLst xmlns:a="http://schemas.openxmlformats.org/drawingml/2006/main">
              <a:ext uri="{FF2B5EF4-FFF2-40B4-BE49-F238E27FC236}">
                <a16:creationId xmlns:a16="http://schemas.microsoft.com/office/drawing/2014/main" id="{B2E07252-63DE-4DCF-ACC9-988F4AAC84B8}"/>
              </a:ext>
            </a:extLst>
          </p:cNvPr>
          <p:cNvSpPr>
            <a:spLocks xmlns:a="http://schemas.openxmlformats.org/drawingml/2006/main" noGrp="1"/>
          </p:cNvSpPr>
          <p:nvPr/>
        </p:nvSpPr>
        <p:spPr>
          <a:xfrm xmlns:a="http://schemas.openxmlformats.org/drawingml/2006/main">
            <a:off x="6886575" y="4048125"/>
            <a:ext cx="12001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9050">
            <a:solidFill>
              <a:srgbClr val="275D38"/>
            </a:solidFill>
            <a:prstDash val="solid"/>
          </a:ln>
        </p:spPr>
      </p:sp>
      <p:sp>
        <p:nvSpPr>
          <p:cNvPr id="21" name="">
            <a:extLst xmlns:a="http://schemas.openxmlformats.org/drawingml/2006/main">
              <a:ext uri="{FF2B5EF4-FFF2-40B4-BE49-F238E27FC236}">
                <a16:creationId xmlns:a16="http://schemas.microsoft.com/office/drawing/2014/main" id="{2CDD47B3-6240-493B-9245-3255CAE67126}"/>
              </a:ext>
            </a:extLst>
          </p:cNvPr>
          <p:cNvSpPr>
            <a:spLocks xmlns:a="http://schemas.openxmlformats.org/drawingml/2006/main" noGrp="1"/>
          </p:cNvSpPr>
          <p:nvPr/>
        </p:nvSpPr>
        <p:spPr>
          <a:xfrm xmlns:a="http://schemas.openxmlformats.org/drawingml/2006/main">
            <a:off x="6962775" y="42576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Data</a:t>
            </a:r>
          </a:p>
        </p:txBody>
      </p:sp>
      <p:sp>
        <p:nvSpPr>
          <p:cNvPr id="22" name="">
            <a:extLst xmlns:a="http://schemas.openxmlformats.org/drawingml/2006/main">
              <a:ext uri="{FF2B5EF4-FFF2-40B4-BE49-F238E27FC236}">
                <a16:creationId xmlns:a16="http://schemas.microsoft.com/office/drawing/2014/main" id="{C36B2F30-E8F3-4D95-87E0-54427A4B245D}"/>
              </a:ext>
            </a:extLst>
          </p:cNvPr>
          <p:cNvSpPr>
            <a:spLocks xmlns:a="http://schemas.openxmlformats.org/drawingml/2006/main" noGrp="1"/>
          </p:cNvSpPr>
          <p:nvPr/>
        </p:nvSpPr>
        <p:spPr>
          <a:xfrm xmlns:a="http://schemas.openxmlformats.org/drawingml/2006/main">
            <a:off x="8086725" y="4210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275D38"/>
                </a:solidFill>
              </a:defRPr>
            </a:pPr>
            <a:r>
              <a:rPr sz="2100" b="1" i="0">
                <a:solidFill>
                  <a:srgbClr val="275D38"/>
                </a:solidFill>
              </a:rPr>
              <a:t>→</a:t>
            </a:r>
          </a:p>
        </p:txBody>
      </p:sp>
      <p:sp>
        <p:nvSpPr>
          <p:cNvPr id="23" name="">
            <a:extLst xmlns:a="http://schemas.openxmlformats.org/drawingml/2006/main">
              <a:ext uri="{FF2B5EF4-FFF2-40B4-BE49-F238E27FC236}">
                <a16:creationId xmlns:a16="http://schemas.microsoft.com/office/drawing/2014/main" id="{BF4052A8-B3A5-4539-9843-325C40AB8B05}"/>
              </a:ext>
            </a:extLst>
          </p:cNvPr>
          <p:cNvSpPr>
            <a:spLocks xmlns:a="http://schemas.openxmlformats.org/drawingml/2006/main" noGrp="1"/>
          </p:cNvSpPr>
          <p:nvPr/>
        </p:nvSpPr>
        <p:spPr>
          <a:xfrm xmlns:a="http://schemas.openxmlformats.org/drawingml/2006/main">
            <a:off x="8410575" y="4048125"/>
            <a:ext cx="12001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19050">
            <a:solidFill>
              <a:srgbClr val="275D38"/>
            </a:solidFill>
            <a:prstDash val="solid"/>
          </a:ln>
        </p:spPr>
      </p:sp>
      <p:sp>
        <p:nvSpPr>
          <p:cNvPr id="24" name="">
            <a:extLst xmlns:a="http://schemas.openxmlformats.org/drawingml/2006/main">
              <a:ext uri="{FF2B5EF4-FFF2-40B4-BE49-F238E27FC236}">
                <a16:creationId xmlns:a16="http://schemas.microsoft.com/office/drawing/2014/main" id="{7F2ED9E7-01A3-439B-BF44-935DF2C9A969}"/>
              </a:ext>
            </a:extLst>
          </p:cNvPr>
          <p:cNvSpPr>
            <a:spLocks xmlns:a="http://schemas.openxmlformats.org/drawingml/2006/main" noGrp="1"/>
          </p:cNvSpPr>
          <p:nvPr/>
        </p:nvSpPr>
        <p:spPr>
          <a:xfrm xmlns:a="http://schemas.openxmlformats.org/drawingml/2006/main">
            <a:off x="8486775" y="42576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Analysis</a:t>
            </a:r>
          </a:p>
        </p:txBody>
      </p:sp>
      <p:sp>
        <p:nvSpPr>
          <p:cNvPr id="25" name="">
            <a:extLst xmlns:a="http://schemas.openxmlformats.org/drawingml/2006/main">
              <a:ext uri="{FF2B5EF4-FFF2-40B4-BE49-F238E27FC236}">
                <a16:creationId xmlns:a16="http://schemas.microsoft.com/office/drawing/2014/main" id="{C6398F41-53A5-4D70-8BA9-710BACF74A79}"/>
              </a:ext>
            </a:extLst>
          </p:cNvPr>
          <p:cNvSpPr>
            <a:spLocks xmlns:a="http://schemas.openxmlformats.org/drawingml/2006/main" noGrp="1"/>
          </p:cNvSpPr>
          <p:nvPr/>
        </p:nvSpPr>
        <p:spPr>
          <a:xfrm xmlns:a="http://schemas.openxmlformats.org/drawingml/2006/main">
            <a:off x="9610725" y="4210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275D38"/>
                </a:solidFill>
              </a:defRPr>
            </a:pPr>
            <a:r>
              <a:rPr sz="2100" b="1" i="0">
                <a:solidFill>
                  <a:srgbClr val="275D38"/>
                </a:solidFill>
              </a:rPr>
              <a:t>→</a:t>
            </a:r>
          </a:p>
        </p:txBody>
      </p:sp>
      <p:sp>
        <p:nvSpPr>
          <p:cNvPr id="26" name="">
            <a:extLst xmlns:a="http://schemas.openxmlformats.org/drawingml/2006/main">
              <a:ext uri="{FF2B5EF4-FFF2-40B4-BE49-F238E27FC236}">
                <a16:creationId xmlns:a16="http://schemas.microsoft.com/office/drawing/2014/main" id="{845230DE-5F94-42D3-A86E-318FDFA20D66}"/>
              </a:ext>
            </a:extLst>
          </p:cNvPr>
          <p:cNvSpPr>
            <a:spLocks xmlns:a="http://schemas.openxmlformats.org/drawingml/2006/main" noGrp="1"/>
          </p:cNvSpPr>
          <p:nvPr/>
        </p:nvSpPr>
        <p:spPr>
          <a:xfrm xmlns:a="http://schemas.openxmlformats.org/drawingml/2006/main">
            <a:off x="9934575" y="4048125"/>
            <a:ext cx="1200150" cy="742950"/>
          </a:xfrm>
          <a:prstGeom xmlns:a="http://schemas.openxmlformats.org/drawingml/2006/main" prst="roundRect">
            <a:avLst>
              <a:gd name="adj" fmla="val 10256"/>
            </a:avLst>
          </a:prstGeom>
          <a:solidFill xmlns:a="http://schemas.openxmlformats.org/drawingml/2006/main">
            <a:srgbClr val="FFDB05"/>
          </a:solidFill>
          <a:ln xmlns:a="http://schemas.openxmlformats.org/drawingml/2006/main" w="19050">
            <a:solidFill>
              <a:srgbClr val="275D38"/>
            </a:solidFill>
            <a:prstDash val="solid"/>
          </a:ln>
        </p:spPr>
      </p:sp>
      <p:sp>
        <p:nvSpPr>
          <p:cNvPr id="27" name="">
            <a:extLst xmlns:a="http://schemas.openxmlformats.org/drawingml/2006/main">
              <a:ext uri="{FF2B5EF4-FFF2-40B4-BE49-F238E27FC236}">
                <a16:creationId xmlns:a16="http://schemas.microsoft.com/office/drawing/2014/main" id="{6787EDE8-6BB9-4CAA-B8E3-43188172113E}"/>
              </a:ext>
            </a:extLst>
          </p:cNvPr>
          <p:cNvSpPr>
            <a:spLocks xmlns:a="http://schemas.openxmlformats.org/drawingml/2006/main" noGrp="1"/>
          </p:cNvSpPr>
          <p:nvPr/>
        </p:nvSpPr>
        <p:spPr>
          <a:xfrm xmlns:a="http://schemas.openxmlformats.org/drawingml/2006/main">
            <a:off x="10010775" y="425767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Claim</a:t>
            </a:r>
          </a:p>
        </p:txBody>
      </p:sp>
      <p:sp>
        <p:nvSpPr>
          <p:cNvPr id="28" name="">
            <a:extLst xmlns:a="http://schemas.openxmlformats.org/drawingml/2006/main">
              <a:ext uri="{FF2B5EF4-FFF2-40B4-BE49-F238E27FC236}">
                <a16:creationId xmlns:a16="http://schemas.microsoft.com/office/drawing/2014/main" id="{9B6545E1-664E-40E7-8AAB-40A81A910618}"/>
              </a:ext>
            </a:extLst>
          </p:cNvPr>
          <p:cNvSpPr>
            <a:spLocks xmlns:a="http://schemas.openxmlformats.org/drawingml/2006/main" noGrp="1"/>
          </p:cNvSpPr>
          <p:nvPr/>
        </p:nvSpPr>
        <p:spPr>
          <a:xfrm xmlns:a="http://schemas.openxmlformats.org/drawingml/2006/main">
            <a:off x="2333625" y="5219700"/>
            <a:ext cx="752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i="0">
                <a:solidFill>
                  <a:srgbClr val="566159"/>
                </a:solidFill>
              </a:defRPr>
            </a:pPr>
            <a:r>
              <a:rPr sz="1650" b="0" i="0">
                <a:solidFill>
                  <a:srgbClr val="566159"/>
                </a:solidFill>
              </a:rPr>
              <a:t>A weak link changes what the study can legitimately conclude.</a:t>
            </a:r>
          </a:p>
        </p:txBody>
      </p:sp>
    </p:spTree>
    <p:extLst>
      <p:ext uri="{BB962C8B-B14F-4D97-AF65-F5344CB8AC3E}">
        <p14:creationId xmlns:p14="http://schemas.microsoft.com/office/powerpoint/2010/main" val="1332398338"/>
      </p:ext>
    </p:extLst>
  </p:cSld>
</p:sld>
</file>

<file path=ppt/slides/slide4.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44B2E7-B317-4C1B-92E8-758774838FD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EEF097-F991-4804-AFEA-505BF8DF6688}"/>
              </a:ext>
            </a:extLst>
          </p:cNvPr>
          <p:cNvSpPr>
            <a:spLocks xmlns:a="http://schemas.openxmlformats.org/drawingml/2006/main" noGrp="1"/>
          </p:cNvSpPr>
          <p:nvPr/>
        </p:nvSpPr>
        <p:spPr>
          <a:xfrm xmlns:a="http://schemas.openxmlformats.org/drawingml/2006/main">
            <a:off x="762000" y="7048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FFDB05"/>
                </a:solidFill>
              </a:defRPr>
            </a:pPr>
            <a:r>
              <a:rPr sz="1275" b="1" i="0">
                <a:solidFill>
                  <a:srgbClr val="FFDB05"/>
                </a:solidFill>
              </a:rPr>
              <a:t>ACTIVITY · 15–20 MINUTES</a:t>
            </a:r>
          </a:p>
        </p:txBody>
      </p:sp>
      <p:sp>
        <p:nvSpPr>
          <p:cNvPr id="3" name="">
            <a:extLst xmlns:a="http://schemas.openxmlformats.org/drawingml/2006/main">
              <a:ext uri="{FF2B5EF4-FFF2-40B4-BE49-F238E27FC236}">
                <a16:creationId xmlns:a16="http://schemas.microsoft.com/office/drawing/2014/main" id="{5ADD04FC-9182-4CED-B3BA-FBFCEE764EBD}"/>
              </a:ext>
            </a:extLst>
          </p:cNvPr>
          <p:cNvSpPr>
            <a:spLocks xmlns:a="http://schemas.openxmlformats.org/drawingml/2006/main" noGrp="1"/>
          </p:cNvSpPr>
          <p:nvPr/>
        </p:nvSpPr>
        <p:spPr>
          <a:xfrm xmlns:a="http://schemas.openxmlformats.org/drawingml/2006/main">
            <a:off x="762000" y="1257300"/>
            <a:ext cx="9906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i="0">
                <a:solidFill>
                  <a:srgbClr val="FFFFFF"/>
                </a:solidFill>
              </a:defRPr>
            </a:pPr>
            <a:r>
              <a:rPr sz="3900" b="1" i="0">
                <a:solidFill>
                  <a:srgbClr val="FFFFFF"/>
                </a:solidFill>
              </a:rPr>
              <a:t>Research Thinking and AI Use Baseline</a:t>
            </a:r>
          </a:p>
        </p:txBody>
      </p:sp>
      <p:sp>
        <p:nvSpPr>
          <p:cNvPr id="4" name="">
            <a:extLst xmlns:a="http://schemas.openxmlformats.org/drawingml/2006/main">
              <a:ext uri="{FF2B5EF4-FFF2-40B4-BE49-F238E27FC236}">
                <a16:creationId xmlns:a16="http://schemas.microsoft.com/office/drawing/2014/main" id="{3A47650B-1E1D-4E77-9706-CA4524B0D15D}"/>
              </a:ext>
            </a:extLst>
          </p:cNvPr>
          <p:cNvSpPr>
            <a:spLocks xmlns:a="http://schemas.openxmlformats.org/drawingml/2006/main" noGrp="1"/>
          </p:cNvSpPr>
          <p:nvPr/>
        </p:nvSpPr>
        <p:spPr>
          <a:xfrm xmlns:a="http://schemas.openxmlformats.org/drawingml/2006/main">
            <a:off x="781050" y="2857500"/>
            <a:ext cx="962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i="0">
                <a:solidFill>
                  <a:srgbClr val="E4EFE7"/>
                </a:solidFill>
              </a:defRPr>
            </a:pPr>
            <a:r>
              <a:rPr sz="2100" b="0" i="0">
                <a:solidFill>
                  <a:srgbClr val="E4EFE7"/>
                </a:solidFill>
              </a:rPr>
              <a:t>Respond according to what you currently think—not what you believe a research-methods instructor may expect.</a:t>
            </a:r>
          </a:p>
        </p:txBody>
      </p:sp>
      <p:sp>
        <p:nvSpPr>
          <p:cNvPr id="5" name="">
            <a:extLst xmlns:a="http://schemas.openxmlformats.org/drawingml/2006/main">
              <a:ext uri="{FF2B5EF4-FFF2-40B4-BE49-F238E27FC236}">
                <a16:creationId xmlns:a16="http://schemas.microsoft.com/office/drawing/2014/main" id="{CD408219-12DB-4BFE-AFB4-5E49CD3A6EFD}"/>
              </a:ext>
            </a:extLst>
          </p:cNvPr>
          <p:cNvSpPr>
            <a:spLocks xmlns:a="http://schemas.openxmlformats.org/drawingml/2006/main" noGrp="1"/>
          </p:cNvSpPr>
          <p:nvPr/>
        </p:nvSpPr>
        <p:spPr>
          <a:xfrm xmlns:a="http://schemas.openxmlformats.org/drawingml/2006/main">
            <a:off x="762000" y="4286250"/>
            <a:ext cx="9715500" cy="1219200"/>
          </a:xfrm>
          <a:prstGeom xmlns:a="http://schemas.openxmlformats.org/drawingml/2006/main" prst="roundRect">
            <a:avLst>
              <a:gd name="adj" fmla="val 9375"/>
            </a:avLst>
          </a:prstGeom>
          <a:solidFill xmlns:a="http://schemas.openxmlformats.org/drawingml/2006/main">
            <a:srgbClr val="1D4A30"/>
          </a:solidFill>
          <a:ln xmlns:a="http://schemas.openxmlformats.org/drawingml/2006/main" w="9525">
            <a:solidFill>
              <a:srgbClr val="5C8568"/>
            </a:solidFill>
            <a:prstDash val="solid"/>
          </a:ln>
        </p:spPr>
      </p:sp>
      <p:sp>
        <p:nvSpPr>
          <p:cNvPr id="6" name="">
            <a:extLst xmlns:a="http://schemas.openxmlformats.org/drawingml/2006/main">
              <a:ext uri="{FF2B5EF4-FFF2-40B4-BE49-F238E27FC236}">
                <a16:creationId xmlns:a16="http://schemas.microsoft.com/office/drawing/2014/main" id="{8917E622-7F0D-4C8D-8AA8-C80D94F39FA6}"/>
              </a:ext>
            </a:extLst>
          </p:cNvPr>
          <p:cNvSpPr>
            <a:spLocks xmlns:a="http://schemas.openxmlformats.org/drawingml/2006/main" noGrp="1"/>
          </p:cNvSpPr>
          <p:nvPr/>
        </p:nvSpPr>
        <p:spPr>
          <a:xfrm xmlns:a="http://schemas.openxmlformats.org/drawingml/2006/main">
            <a:off x="952500" y="44196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FDB05"/>
                </a:solidFill>
              </a:defRPr>
            </a:pPr>
            <a:r>
              <a:rPr sz="1200" b="1" i="0">
                <a:solidFill>
                  <a:srgbClr val="FFDB05"/>
                </a:solidFill>
              </a:rPr>
              <a:t>WHAT TO KNOW</a:t>
            </a:r>
          </a:p>
        </p:txBody>
      </p:sp>
      <p:sp>
        <p:nvSpPr>
          <p:cNvPr id="7" name="">
            <a:extLst xmlns:a="http://schemas.openxmlformats.org/drawingml/2006/main">
              <a:ext uri="{FF2B5EF4-FFF2-40B4-BE49-F238E27FC236}">
                <a16:creationId xmlns:a16="http://schemas.microsoft.com/office/drawing/2014/main" id="{6D1EF0DC-F847-4DC2-9569-8F86E23DBB83}"/>
              </a:ext>
            </a:extLst>
          </p:cNvPr>
          <p:cNvSpPr>
            <a:spLocks xmlns:a="http://schemas.openxmlformats.org/drawingml/2006/main" noGrp="1"/>
          </p:cNvSpPr>
          <p:nvPr/>
        </p:nvSpPr>
        <p:spPr>
          <a:xfrm xmlns:a="http://schemas.openxmlformats.org/drawingml/2006/main">
            <a:off x="952500" y="47244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FFFFFF"/>
                </a:solidFill>
              </a:defRPr>
            </a:pPr>
            <a:r>
              <a:rPr sz="1800" b="0" i="0">
                <a:solidFill>
                  <a:srgbClr val="FFFFFF"/>
                </a:solidFill>
              </a:rPr>
              <a:t>Completion-based · No worldview is being graded · Use the approved course form</a:t>
            </a:r>
          </a:p>
        </p:txBody>
      </p:sp>
      <p:sp>
        <p:nvSpPr>
          <p:cNvPr id="8" name="">
            <a:extLst xmlns:a="http://schemas.openxmlformats.org/drawingml/2006/main">
              <a:ext uri="{FF2B5EF4-FFF2-40B4-BE49-F238E27FC236}">
                <a16:creationId xmlns:a16="http://schemas.microsoft.com/office/drawing/2014/main" id="{71F5580C-FA10-40C6-8CEC-1B7DE5367D34}"/>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9" name="">
            <a:extLst xmlns:a="http://schemas.openxmlformats.org/drawingml/2006/main">
              <a:ext uri="{FF2B5EF4-FFF2-40B4-BE49-F238E27FC236}">
                <a16:creationId xmlns:a16="http://schemas.microsoft.com/office/drawing/2014/main" id="{A1517F90-D8F1-4062-8F59-66B23319A0AC}"/>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04</a:t>
            </a:r>
          </a:p>
        </p:txBody>
      </p:sp>
    </p:spTree>
    <p:extLst>
      <p:ext uri="{BB962C8B-B14F-4D97-AF65-F5344CB8AC3E}">
        <p14:creationId xmlns:p14="http://schemas.microsoft.com/office/powerpoint/2010/main" val="1424169934"/>
      </p:ext>
    </p:extLst>
  </p:cSld>
</p:sld>
</file>

<file path=ppt/slides/slide5.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DA9420-5FB9-4068-8EEB-596B0A9EF05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7ED916-F07B-4738-8E13-BFDCECF86D43}"/>
              </a:ext>
            </a:extLst>
          </p:cNvPr>
          <p:cNvSpPr>
            <a:spLocks xmlns:a="http://schemas.openxmlformats.org/drawingml/2006/main" noGrp="1"/>
          </p:cNvSpPr>
          <p:nvPr/>
        </p:nvSpPr>
        <p:spPr>
          <a:xfrm xmlns:a="http://schemas.openxmlformats.org/drawingml/2006/main">
            <a:off x="685800" y="8763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PART I · WHAT IS EDUCATIONAL RESEARCH?</a:t>
            </a:r>
          </a:p>
        </p:txBody>
      </p:sp>
      <p:sp>
        <p:nvSpPr>
          <p:cNvPr id="3" name="">
            <a:extLst xmlns:a="http://schemas.openxmlformats.org/drawingml/2006/main">
              <a:ext uri="{FF2B5EF4-FFF2-40B4-BE49-F238E27FC236}">
                <a16:creationId xmlns:a16="http://schemas.microsoft.com/office/drawing/2014/main" id="{7C2726B2-9A27-4395-B082-CF1B037D6D3A}"/>
              </a:ext>
            </a:extLst>
          </p:cNvPr>
          <p:cNvSpPr>
            <a:spLocks xmlns:a="http://schemas.openxmlformats.org/drawingml/2006/main" noGrp="1"/>
          </p:cNvSpPr>
          <p:nvPr/>
        </p:nvSpPr>
        <p:spPr>
          <a:xfrm xmlns:a="http://schemas.openxmlformats.org/drawingml/2006/main">
            <a:off x="685800" y="160020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defRPr>
            </a:pPr>
            <a:r>
              <a:rPr sz="4350" b="1" i="0">
                <a:solidFill>
                  <a:srgbClr val="FFFFFF"/>
                </a:solidFill>
              </a:rPr>
              <a:t>Research begins before we name the method</a:t>
            </a:r>
          </a:p>
        </p:txBody>
      </p:sp>
      <p:sp>
        <p:nvSpPr>
          <p:cNvPr id="4" name="">
            <a:extLst xmlns:a="http://schemas.openxmlformats.org/drawingml/2006/main">
              <a:ext uri="{FF2B5EF4-FFF2-40B4-BE49-F238E27FC236}">
                <a16:creationId xmlns:a16="http://schemas.microsoft.com/office/drawing/2014/main" id="{762AD624-643A-46DF-9162-C5F52DF46C50}"/>
              </a:ext>
            </a:extLst>
          </p:cNvPr>
          <p:cNvSpPr>
            <a:spLocks xmlns:a="http://schemas.openxmlformats.org/drawingml/2006/main" noGrp="1"/>
          </p:cNvSpPr>
          <p:nvPr/>
        </p:nvSpPr>
        <p:spPr>
          <a:xfrm xmlns:a="http://schemas.openxmlformats.org/drawingml/2006/main">
            <a:off x="685800" y="4333875"/>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i="0">
                <a:solidFill>
                  <a:srgbClr val="DCE8DF"/>
                </a:solidFill>
              </a:defRPr>
            </a:pPr>
            <a:r>
              <a:rPr sz="1950" b="0" i="0">
                <a:solidFill>
                  <a:srgbClr val="DCE8DF"/>
                </a:solidFill>
              </a:rPr>
              <a:t>What makes evidence trustworthy? How much does context matter? What role does the researcher play?</a:t>
            </a:r>
          </a:p>
        </p:txBody>
      </p:sp>
      <p:sp>
        <p:nvSpPr>
          <p:cNvPr id="5" name="">
            <a:extLst xmlns:a="http://schemas.openxmlformats.org/drawingml/2006/main">
              <a:ext uri="{FF2B5EF4-FFF2-40B4-BE49-F238E27FC236}">
                <a16:creationId xmlns:a16="http://schemas.microsoft.com/office/drawing/2014/main" id="{3E72CA88-F79D-46FE-8E11-04315F633666}"/>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6" name="">
            <a:extLst xmlns:a="http://schemas.openxmlformats.org/drawingml/2006/main">
              <a:ext uri="{FF2B5EF4-FFF2-40B4-BE49-F238E27FC236}">
                <a16:creationId xmlns:a16="http://schemas.microsoft.com/office/drawing/2014/main" id="{010E3429-4540-4AFD-ABA8-D9F9B67DF9F7}"/>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05</a:t>
            </a:r>
          </a:p>
        </p:txBody>
      </p:sp>
    </p:spTree>
    <p:extLst>
      <p:ext uri="{BB962C8B-B14F-4D97-AF65-F5344CB8AC3E}">
        <p14:creationId xmlns:p14="http://schemas.microsoft.com/office/powerpoint/2010/main" val="1396837264"/>
      </p:ext>
    </p:extLst>
  </p:cSld>
</p:sld>
</file>

<file path=ppt/slides/slide6.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ABDBD09-5BBA-4DA4-9826-E3D2485ACDE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6A3A26-BC4E-40FA-B154-B59CD9533CD8}"/>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81B584E-FD5A-4DDA-AE1D-C4CEE26F7F70}"/>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SESSION 1</a:t>
            </a:r>
          </a:p>
        </p:txBody>
      </p:sp>
      <p:sp>
        <p:nvSpPr>
          <p:cNvPr id="4" name="">
            <a:extLst xmlns:a="http://schemas.openxmlformats.org/drawingml/2006/main">
              <a:ext uri="{FF2B5EF4-FFF2-40B4-BE49-F238E27FC236}">
                <a16:creationId xmlns:a16="http://schemas.microsoft.com/office/drawing/2014/main" id="{76022504-D845-4F98-8047-69A3580A1646}"/>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Everyday experience can start inquiry—but not finish it</a:t>
            </a:r>
          </a:p>
        </p:txBody>
      </p:sp>
      <p:sp>
        <p:nvSpPr>
          <p:cNvPr id="5" name="">
            <a:extLst xmlns:a="http://schemas.openxmlformats.org/drawingml/2006/main">
              <a:ext uri="{FF2B5EF4-FFF2-40B4-BE49-F238E27FC236}">
                <a16:creationId xmlns:a16="http://schemas.microsoft.com/office/drawing/2014/main" id="{8C65050B-A2E8-446E-8D54-FEEA6414395D}"/>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80FB6E46-29B2-4C5E-B133-8E852BB2BE97}"/>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06</a:t>
            </a:r>
          </a:p>
        </p:txBody>
      </p:sp>
      <p:sp>
        <p:nvSpPr>
          <p:cNvPr id="7" name="">
            <a:extLst xmlns:a="http://schemas.openxmlformats.org/drawingml/2006/main">
              <a:ext uri="{FF2B5EF4-FFF2-40B4-BE49-F238E27FC236}">
                <a16:creationId xmlns:a16="http://schemas.microsoft.com/office/drawing/2014/main" id="{A3581EF0-CE9F-441A-BE6F-922D0EC31019}"/>
              </a:ext>
            </a:extLst>
          </p:cNvPr>
          <p:cNvSpPr>
            <a:spLocks xmlns:a="http://schemas.openxmlformats.org/drawingml/2006/main" noGrp="1"/>
          </p:cNvSpPr>
          <p:nvPr/>
        </p:nvSpPr>
        <p:spPr>
          <a:xfrm xmlns:a="http://schemas.openxmlformats.org/drawingml/2006/main">
            <a:off x="685800" y="2190750"/>
            <a:ext cx="4762500" cy="3190875"/>
          </a:xfrm>
          <a:prstGeom xmlns:a="http://schemas.openxmlformats.org/drawingml/2006/main" prst="roundRect">
            <a:avLst>
              <a:gd name="adj" fmla="val 3582"/>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7D13AF60-15FD-4733-9E4B-E625E1A4E0EE}"/>
              </a:ext>
            </a:extLst>
          </p:cNvPr>
          <p:cNvSpPr>
            <a:spLocks xmlns:a="http://schemas.openxmlformats.org/drawingml/2006/main" noGrp="1"/>
          </p:cNvSpPr>
          <p:nvPr/>
        </p:nvSpPr>
        <p:spPr>
          <a:xfrm xmlns:a="http://schemas.openxmlformats.org/drawingml/2006/main">
            <a:off x="876300" y="23241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A54F2B"/>
                </a:solidFill>
              </a:defRPr>
            </a:pPr>
            <a:r>
              <a:rPr sz="1200" b="1" i="0">
                <a:solidFill>
                  <a:srgbClr val="A54F2B"/>
                </a:solidFill>
              </a:rPr>
              <a:t>EVERYDAY INQUIRY</a:t>
            </a:r>
          </a:p>
        </p:txBody>
      </p:sp>
      <p:sp>
        <p:nvSpPr>
          <p:cNvPr id="9" name="">
            <a:extLst xmlns:a="http://schemas.openxmlformats.org/drawingml/2006/main">
              <a:ext uri="{FF2B5EF4-FFF2-40B4-BE49-F238E27FC236}">
                <a16:creationId xmlns:a16="http://schemas.microsoft.com/office/drawing/2014/main" id="{EAF2EFB7-3E78-4AA9-A3D8-5C38A7C45C4D}"/>
              </a:ext>
            </a:extLst>
          </p:cNvPr>
          <p:cNvSpPr>
            <a:spLocks xmlns:a="http://schemas.openxmlformats.org/drawingml/2006/main" noGrp="1"/>
          </p:cNvSpPr>
          <p:nvPr/>
        </p:nvSpPr>
        <p:spPr>
          <a:xfrm xmlns:a="http://schemas.openxmlformats.org/drawingml/2006/main">
            <a:off x="876300" y="2628900"/>
            <a:ext cx="438150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“My students seem less engaged this year.”</a:t>
            </a:r>
          </a:p>
          <a:p xmlns:a="http://schemas.openxmlformats.org/drawingml/2006/main">
            <a:r>
              <a:t/>
            </a:r>
          </a:p>
          <a:p xmlns:a="http://schemas.openxmlformats.org/drawingml/2006/main">
            <a:pPr algn="l">
              <a:defRPr sz="1800" b="0" i="0">
                <a:solidFill>
                  <a:srgbClr val="17211B"/>
                </a:solidFill>
              </a:defRPr>
            </a:pPr>
            <a:r>
              <a:rPr sz="1800" b="0" i="0">
                <a:solidFill>
                  <a:srgbClr val="17211B"/>
                </a:solidFill>
              </a:rPr>
              <a:t>“My own experience suggests this works.”</a:t>
            </a:r>
          </a:p>
          <a:p xmlns:a="http://schemas.openxmlformats.org/drawingml/2006/main">
            <a:r>
              <a:t/>
            </a:r>
          </a:p>
          <a:p xmlns:a="http://schemas.openxmlformats.org/drawingml/2006/main">
            <a:pPr algn="l">
              <a:defRPr sz="1800" b="0" i="0">
                <a:solidFill>
                  <a:srgbClr val="17211B"/>
                </a:solidFill>
              </a:defRPr>
            </a:pPr>
            <a:r>
              <a:rPr sz="1800" b="0" i="0">
                <a:solidFill>
                  <a:srgbClr val="17211B"/>
                </a:solidFill>
              </a:rPr>
              <a:t>“Everyone says AI improves learning.”</a:t>
            </a:r>
          </a:p>
        </p:txBody>
      </p:sp>
      <p:sp>
        <p:nvSpPr>
          <p:cNvPr id="10" name="">
            <a:extLst xmlns:a="http://schemas.openxmlformats.org/drawingml/2006/main">
              <a:ext uri="{FF2B5EF4-FFF2-40B4-BE49-F238E27FC236}">
                <a16:creationId xmlns:a16="http://schemas.microsoft.com/office/drawing/2014/main" id="{8C62D49C-0DD5-486D-B498-C2B75E6B9FDB}"/>
              </a:ext>
            </a:extLst>
          </p:cNvPr>
          <p:cNvSpPr>
            <a:spLocks xmlns:a="http://schemas.openxmlformats.org/drawingml/2006/main" noGrp="1"/>
          </p:cNvSpPr>
          <p:nvPr/>
        </p:nvSpPr>
        <p:spPr>
          <a:xfrm xmlns:a="http://schemas.openxmlformats.org/drawingml/2006/main">
            <a:off x="5715000" y="3429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300" b="1" i="0">
                <a:solidFill>
                  <a:srgbClr val="275D38"/>
                </a:solidFill>
              </a:defRPr>
            </a:pPr>
            <a:r>
              <a:rPr sz="3300" b="1" i="0">
                <a:solidFill>
                  <a:srgbClr val="275D38"/>
                </a:solidFill>
              </a:rPr>
              <a:t>→</a:t>
            </a:r>
          </a:p>
        </p:txBody>
      </p:sp>
      <p:sp>
        <p:nvSpPr>
          <p:cNvPr id="11" name="">
            <a:extLst xmlns:a="http://schemas.openxmlformats.org/drawingml/2006/main">
              <a:ext uri="{FF2B5EF4-FFF2-40B4-BE49-F238E27FC236}">
                <a16:creationId xmlns:a16="http://schemas.microsoft.com/office/drawing/2014/main" id="{2A9089E3-F018-41B5-9065-12B37BCEF8D5}"/>
              </a:ext>
            </a:extLst>
          </p:cNvPr>
          <p:cNvSpPr>
            <a:spLocks xmlns:a="http://schemas.openxmlformats.org/drawingml/2006/main" noGrp="1"/>
          </p:cNvSpPr>
          <p:nvPr/>
        </p:nvSpPr>
        <p:spPr>
          <a:xfrm xmlns:a="http://schemas.openxmlformats.org/drawingml/2006/main">
            <a:off x="6477000" y="2190750"/>
            <a:ext cx="4762500" cy="3190875"/>
          </a:xfrm>
          <a:prstGeom xmlns:a="http://schemas.openxmlformats.org/drawingml/2006/main" prst="roundRect">
            <a:avLst>
              <a:gd name="adj" fmla="val 3582"/>
            </a:avLst>
          </a:prstGeom>
          <a:solidFill xmlns:a="http://schemas.openxmlformats.org/drawingml/2006/main">
            <a:srgbClr val="E8F1EB"/>
          </a:solidFill>
          <a:ln xmlns:a="http://schemas.openxmlformats.org/drawingml/2006/main" w="19050">
            <a:solidFill>
              <a:srgbClr val="275D38"/>
            </a:solidFill>
            <a:prstDash val="solid"/>
          </a:ln>
        </p:spPr>
      </p:sp>
      <p:sp>
        <p:nvSpPr>
          <p:cNvPr id="12" name="">
            <a:extLst xmlns:a="http://schemas.openxmlformats.org/drawingml/2006/main">
              <a:ext uri="{FF2B5EF4-FFF2-40B4-BE49-F238E27FC236}">
                <a16:creationId xmlns:a16="http://schemas.microsoft.com/office/drawing/2014/main" id="{53A2A794-F009-42BE-8004-16F7624E3146}"/>
              </a:ext>
            </a:extLst>
          </p:cNvPr>
          <p:cNvSpPr>
            <a:spLocks xmlns:a="http://schemas.openxmlformats.org/drawingml/2006/main" noGrp="1"/>
          </p:cNvSpPr>
          <p:nvPr/>
        </p:nvSpPr>
        <p:spPr>
          <a:xfrm xmlns:a="http://schemas.openxmlformats.org/drawingml/2006/main">
            <a:off x="6667500" y="23241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RESEARCH INQUIRY</a:t>
            </a:r>
          </a:p>
        </p:txBody>
      </p:sp>
      <p:sp>
        <p:nvSpPr>
          <p:cNvPr id="13" name="">
            <a:extLst xmlns:a="http://schemas.openxmlformats.org/drawingml/2006/main">
              <a:ext uri="{FF2B5EF4-FFF2-40B4-BE49-F238E27FC236}">
                <a16:creationId xmlns:a16="http://schemas.microsoft.com/office/drawing/2014/main" id="{325C9001-DD31-4925-9640-203BCD9E4003}"/>
              </a:ext>
            </a:extLst>
          </p:cNvPr>
          <p:cNvSpPr>
            <a:spLocks xmlns:a="http://schemas.openxmlformats.org/drawingml/2006/main" noGrp="1"/>
          </p:cNvSpPr>
          <p:nvPr/>
        </p:nvSpPr>
        <p:spPr>
          <a:xfrm xmlns:a="http://schemas.openxmlformats.org/drawingml/2006/main">
            <a:off x="6667500" y="2628900"/>
            <a:ext cx="438150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Define the problem and concepts.</a:t>
            </a:r>
          </a:p>
          <a:p xmlns:a="http://schemas.openxmlformats.org/drawingml/2006/main">
            <a:r>
              <a:t/>
            </a:r>
          </a:p>
          <a:p xmlns:a="http://schemas.openxmlformats.org/drawingml/2006/main">
            <a:pPr algn="l">
              <a:defRPr sz="1800" b="0" i="0">
                <a:solidFill>
                  <a:srgbClr val="17211B"/>
                </a:solidFill>
              </a:defRPr>
            </a:pPr>
            <a:r>
              <a:rPr sz="1800" b="0" i="0">
                <a:solidFill>
                  <a:srgbClr val="17211B"/>
                </a:solidFill>
              </a:rPr>
              <a:t>Gather appropriate evidence systematically.</a:t>
            </a:r>
          </a:p>
          <a:p xmlns:a="http://schemas.openxmlformats.org/drawingml/2006/main">
            <a:r>
              <a:t/>
            </a:r>
          </a:p>
          <a:p xmlns:a="http://schemas.openxmlformats.org/drawingml/2006/main">
            <a:pPr algn="l">
              <a:defRPr sz="1800" b="0" i="0">
                <a:solidFill>
                  <a:srgbClr val="17211B"/>
                </a:solidFill>
              </a:defRPr>
            </a:pPr>
            <a:r>
              <a:rPr sz="1800" b="0" i="0">
                <a:solidFill>
                  <a:srgbClr val="17211B"/>
                </a:solidFill>
              </a:rPr>
              <a:t>Consider alternatives and limits.</a:t>
            </a:r>
          </a:p>
          <a:p xmlns:a="http://schemas.openxmlformats.org/drawingml/2006/main">
            <a:r>
              <a:t/>
            </a:r>
          </a:p>
          <a:p xmlns:a="http://schemas.openxmlformats.org/drawingml/2006/main">
            <a:pPr algn="l">
              <a:defRPr sz="1800" b="0" i="0">
                <a:solidFill>
                  <a:srgbClr val="17211B"/>
                </a:solidFill>
              </a:defRPr>
            </a:pPr>
            <a:r>
              <a:rPr sz="1800" b="0" i="0">
                <a:solidFill>
                  <a:srgbClr val="17211B"/>
                </a:solidFill>
              </a:rPr>
              <a:t>Make the reasoning transparent.</a:t>
            </a:r>
          </a:p>
        </p:txBody>
      </p:sp>
    </p:spTree>
    <p:extLst>
      <p:ext uri="{BB962C8B-B14F-4D97-AF65-F5344CB8AC3E}">
        <p14:creationId xmlns:p14="http://schemas.microsoft.com/office/powerpoint/2010/main" val="1030294389"/>
      </p:ext>
    </p:extLst>
  </p:cSld>
</p:sld>
</file>

<file path=ppt/slides/slide7.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06773DE-54D9-4D81-B55B-573C98EF277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8136F0-E2E2-4E24-B706-C2E29A1E11B8}"/>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CA7DA5-1362-4FC0-92F3-77663D6815A5}"/>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SESSION 1</a:t>
            </a:r>
          </a:p>
        </p:txBody>
      </p:sp>
      <p:sp>
        <p:nvSpPr>
          <p:cNvPr id="4" name="">
            <a:extLst xmlns:a="http://schemas.openxmlformats.org/drawingml/2006/main">
              <a:ext uri="{FF2B5EF4-FFF2-40B4-BE49-F238E27FC236}">
                <a16:creationId xmlns:a16="http://schemas.microsoft.com/office/drawing/2014/main" id="{BB2C079F-E7E5-48EF-A73E-D77A63E49A87}"/>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48DF0AEB-B696-4205-A3F8-78025414579A}"/>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336BE560-FE36-4007-AF61-8AA248725461}"/>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07</a:t>
            </a:r>
          </a:p>
        </p:txBody>
      </p:sp>
      <p:sp>
        <p:nvSpPr>
          <p:cNvPr id="7" name="">
            <a:extLst xmlns:a="http://schemas.openxmlformats.org/drawingml/2006/main">
              <a:ext uri="{FF2B5EF4-FFF2-40B4-BE49-F238E27FC236}">
                <a16:creationId xmlns:a16="http://schemas.microsoft.com/office/drawing/2014/main" id="{835A9405-A5FE-4F2F-9695-71122F0A3BE8}"/>
              </a:ext>
            </a:extLst>
          </p:cNvPr>
          <p:cNvSpPr>
            <a:spLocks xmlns:a="http://schemas.openxmlformats.org/drawingml/2006/main" noGrp="1"/>
          </p:cNvSpPr>
          <p:nvPr/>
        </p:nvSpPr>
        <p:spPr>
          <a:xfrm xmlns:a="http://schemas.openxmlformats.org/drawingml/2006/main">
            <a:off x="723900" y="11239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i="0">
                <a:solidFill>
                  <a:srgbClr val="123421"/>
                </a:solidFill>
              </a:defRPr>
            </a:pPr>
            <a:r>
              <a:rPr sz="2850" b="1" i="0">
                <a:solidFill>
                  <a:srgbClr val="123421"/>
                </a:solidFill>
              </a:rPr>
              <a:t>Research makes claims examinable</a:t>
            </a:r>
          </a:p>
        </p:txBody>
      </p:sp>
      <p:sp>
        <p:nvSpPr>
          <p:cNvPr id="8" name="">
            <a:extLst xmlns:a="http://schemas.openxmlformats.org/drawingml/2006/main">
              <a:ext uri="{FF2B5EF4-FFF2-40B4-BE49-F238E27FC236}">
                <a16:creationId xmlns:a16="http://schemas.microsoft.com/office/drawing/2014/main" id="{CA402533-CC85-4A71-84FB-1E7F71E199C9}"/>
              </a:ext>
            </a:extLst>
          </p:cNvPr>
          <p:cNvSpPr>
            <a:spLocks xmlns:a="http://schemas.openxmlformats.org/drawingml/2006/main" noGrp="1"/>
          </p:cNvSpPr>
          <p:nvPr/>
        </p:nvSpPr>
        <p:spPr>
          <a:xfrm xmlns:a="http://schemas.openxmlformats.org/drawingml/2006/main">
            <a:off x="723900" y="2114550"/>
            <a:ext cx="5000625"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7DFD9"/>
            </a:solidFill>
            <a:prstDash val="solid"/>
          </a:ln>
        </p:spPr>
      </p:sp>
      <p:sp>
        <p:nvSpPr>
          <p:cNvPr id="9" name="">
            <a:extLst xmlns:a="http://schemas.openxmlformats.org/drawingml/2006/main">
              <a:ext uri="{FF2B5EF4-FFF2-40B4-BE49-F238E27FC236}">
                <a16:creationId xmlns:a16="http://schemas.microsoft.com/office/drawing/2014/main" id="{485D671B-3549-4A3E-9F79-C9E53A0CED8A}"/>
              </a:ext>
            </a:extLst>
          </p:cNvPr>
          <p:cNvSpPr>
            <a:spLocks xmlns:a="http://schemas.openxmlformats.org/drawingml/2006/main" noGrp="1"/>
          </p:cNvSpPr>
          <p:nvPr/>
        </p:nvSpPr>
        <p:spPr>
          <a:xfrm xmlns:a="http://schemas.openxmlformats.org/drawingml/2006/main">
            <a:off x="914400" y="22479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SYSTEMATIC</a:t>
            </a:r>
          </a:p>
        </p:txBody>
      </p:sp>
      <p:sp>
        <p:nvSpPr>
          <p:cNvPr id="10" name="">
            <a:extLst xmlns:a="http://schemas.openxmlformats.org/drawingml/2006/main">
              <a:ext uri="{FF2B5EF4-FFF2-40B4-BE49-F238E27FC236}">
                <a16:creationId xmlns:a16="http://schemas.microsoft.com/office/drawing/2014/main" id="{DF96FCEB-F5B4-4D52-A7C8-84669F5EB233}"/>
              </a:ext>
            </a:extLst>
          </p:cNvPr>
          <p:cNvSpPr>
            <a:spLocks xmlns:a="http://schemas.openxmlformats.org/drawingml/2006/main" noGrp="1"/>
          </p:cNvSpPr>
          <p:nvPr/>
        </p:nvSpPr>
        <p:spPr>
          <a:xfrm xmlns:a="http://schemas.openxmlformats.org/drawingml/2006/main">
            <a:off x="914400" y="2552700"/>
            <a:ext cx="461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Decisions are intentional rather than arbitrary.</a:t>
            </a:r>
          </a:p>
        </p:txBody>
      </p:sp>
      <p:sp>
        <p:nvSpPr>
          <p:cNvPr id="11" name="">
            <a:extLst xmlns:a="http://schemas.openxmlformats.org/drawingml/2006/main">
              <a:ext uri="{FF2B5EF4-FFF2-40B4-BE49-F238E27FC236}">
                <a16:creationId xmlns:a16="http://schemas.microsoft.com/office/drawing/2014/main" id="{C177193D-22FE-4288-8B00-7A9773FCEDC3}"/>
              </a:ext>
            </a:extLst>
          </p:cNvPr>
          <p:cNvSpPr>
            <a:spLocks xmlns:a="http://schemas.openxmlformats.org/drawingml/2006/main" noGrp="1"/>
          </p:cNvSpPr>
          <p:nvPr/>
        </p:nvSpPr>
        <p:spPr>
          <a:xfrm xmlns:a="http://schemas.openxmlformats.org/drawingml/2006/main">
            <a:off x="6105525" y="2114550"/>
            <a:ext cx="5000625"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7DFD9"/>
            </a:solidFill>
            <a:prstDash val="solid"/>
          </a:ln>
        </p:spPr>
      </p:sp>
      <p:sp>
        <p:nvSpPr>
          <p:cNvPr id="12" name="">
            <a:extLst xmlns:a="http://schemas.openxmlformats.org/drawingml/2006/main">
              <a:ext uri="{FF2B5EF4-FFF2-40B4-BE49-F238E27FC236}">
                <a16:creationId xmlns:a16="http://schemas.microsoft.com/office/drawing/2014/main" id="{CC503F34-9F99-4DD0-8F43-5F140FC65DFF}"/>
              </a:ext>
            </a:extLst>
          </p:cNvPr>
          <p:cNvSpPr>
            <a:spLocks xmlns:a="http://schemas.openxmlformats.org/drawingml/2006/main" noGrp="1"/>
          </p:cNvSpPr>
          <p:nvPr/>
        </p:nvSpPr>
        <p:spPr>
          <a:xfrm xmlns:a="http://schemas.openxmlformats.org/drawingml/2006/main">
            <a:off x="6296025" y="22479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EMPIRICAL</a:t>
            </a:r>
          </a:p>
        </p:txBody>
      </p:sp>
      <p:sp>
        <p:nvSpPr>
          <p:cNvPr id="13" name="">
            <a:extLst xmlns:a="http://schemas.openxmlformats.org/drawingml/2006/main">
              <a:ext uri="{FF2B5EF4-FFF2-40B4-BE49-F238E27FC236}">
                <a16:creationId xmlns:a16="http://schemas.microsoft.com/office/drawing/2014/main" id="{8527D092-9727-4B52-8323-847900ECF622}"/>
              </a:ext>
            </a:extLst>
          </p:cNvPr>
          <p:cNvSpPr>
            <a:spLocks xmlns:a="http://schemas.openxmlformats.org/drawingml/2006/main" noGrp="1"/>
          </p:cNvSpPr>
          <p:nvPr/>
        </p:nvSpPr>
        <p:spPr>
          <a:xfrm xmlns:a="http://schemas.openxmlformats.org/drawingml/2006/main">
            <a:off x="6296025" y="2552700"/>
            <a:ext cx="461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Claims are connected to evidence.</a:t>
            </a:r>
          </a:p>
        </p:txBody>
      </p:sp>
      <p:sp>
        <p:nvSpPr>
          <p:cNvPr id="14" name="">
            <a:extLst xmlns:a="http://schemas.openxmlformats.org/drawingml/2006/main">
              <a:ext uri="{FF2B5EF4-FFF2-40B4-BE49-F238E27FC236}">
                <a16:creationId xmlns:a16="http://schemas.microsoft.com/office/drawing/2014/main" id="{0E37DCC7-A9F8-4B11-AF70-D4027FAA8A92}"/>
              </a:ext>
            </a:extLst>
          </p:cNvPr>
          <p:cNvSpPr>
            <a:spLocks xmlns:a="http://schemas.openxmlformats.org/drawingml/2006/main" noGrp="1"/>
          </p:cNvSpPr>
          <p:nvPr/>
        </p:nvSpPr>
        <p:spPr>
          <a:xfrm xmlns:a="http://schemas.openxmlformats.org/drawingml/2006/main">
            <a:off x="723900" y="3371850"/>
            <a:ext cx="5000625" cy="1104900"/>
          </a:xfrm>
          <a:prstGeom xmlns:a="http://schemas.openxmlformats.org/drawingml/2006/main" prst="roundRect">
            <a:avLst>
              <a:gd name="adj" fmla="val 10345"/>
            </a:avLst>
          </a:prstGeom>
          <a:solidFill xmlns:a="http://schemas.openxmlformats.org/drawingml/2006/main">
            <a:srgbClr val="E8F1EB"/>
          </a:solidFill>
          <a:ln xmlns:a="http://schemas.openxmlformats.org/drawingml/2006/main" w="9525">
            <a:solidFill>
              <a:srgbClr val="D7DFD9"/>
            </a:solidFill>
            <a:prstDash val="solid"/>
          </a:ln>
        </p:spPr>
      </p:sp>
      <p:sp>
        <p:nvSpPr>
          <p:cNvPr id="15" name="">
            <a:extLst xmlns:a="http://schemas.openxmlformats.org/drawingml/2006/main">
              <a:ext uri="{FF2B5EF4-FFF2-40B4-BE49-F238E27FC236}">
                <a16:creationId xmlns:a16="http://schemas.microsoft.com/office/drawing/2014/main" id="{72FE630C-6BC6-4F37-B287-55C2C97E00E9}"/>
              </a:ext>
            </a:extLst>
          </p:cNvPr>
          <p:cNvSpPr>
            <a:spLocks xmlns:a="http://schemas.openxmlformats.org/drawingml/2006/main" noGrp="1"/>
          </p:cNvSpPr>
          <p:nvPr/>
        </p:nvSpPr>
        <p:spPr>
          <a:xfrm xmlns:a="http://schemas.openxmlformats.org/drawingml/2006/main">
            <a:off x="914400" y="35052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TRANSPARENT</a:t>
            </a:r>
          </a:p>
        </p:txBody>
      </p:sp>
      <p:sp>
        <p:nvSpPr>
          <p:cNvPr id="16" name="">
            <a:extLst xmlns:a="http://schemas.openxmlformats.org/drawingml/2006/main">
              <a:ext uri="{FF2B5EF4-FFF2-40B4-BE49-F238E27FC236}">
                <a16:creationId xmlns:a16="http://schemas.microsoft.com/office/drawing/2014/main" id="{4EB27005-5C25-4EBA-8035-B049D7272098}"/>
              </a:ext>
            </a:extLst>
          </p:cNvPr>
          <p:cNvSpPr>
            <a:spLocks xmlns:a="http://schemas.openxmlformats.org/drawingml/2006/main" noGrp="1"/>
          </p:cNvSpPr>
          <p:nvPr/>
        </p:nvSpPr>
        <p:spPr>
          <a:xfrm xmlns:a="http://schemas.openxmlformats.org/drawingml/2006/main">
            <a:off x="914400" y="3810000"/>
            <a:ext cx="461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Others can understand how conclusions were reached.</a:t>
            </a:r>
          </a:p>
        </p:txBody>
      </p:sp>
      <p:sp>
        <p:nvSpPr>
          <p:cNvPr id="17" name="">
            <a:extLst xmlns:a="http://schemas.openxmlformats.org/drawingml/2006/main">
              <a:ext uri="{FF2B5EF4-FFF2-40B4-BE49-F238E27FC236}">
                <a16:creationId xmlns:a16="http://schemas.microsoft.com/office/drawing/2014/main" id="{13F6E86E-FD0B-4102-BF81-4EB11E3A721F}"/>
              </a:ext>
            </a:extLst>
          </p:cNvPr>
          <p:cNvSpPr>
            <a:spLocks xmlns:a="http://schemas.openxmlformats.org/drawingml/2006/main" noGrp="1"/>
          </p:cNvSpPr>
          <p:nvPr/>
        </p:nvSpPr>
        <p:spPr>
          <a:xfrm xmlns:a="http://schemas.openxmlformats.org/drawingml/2006/main">
            <a:off x="6105525" y="3371850"/>
            <a:ext cx="5000625" cy="1104900"/>
          </a:xfrm>
          <a:prstGeom xmlns:a="http://schemas.openxmlformats.org/drawingml/2006/main" prst="roundRect">
            <a:avLst>
              <a:gd name="adj" fmla="val 10345"/>
            </a:avLst>
          </a:prstGeom>
          <a:solidFill xmlns:a="http://schemas.openxmlformats.org/drawingml/2006/main">
            <a:srgbClr val="E8F1EB"/>
          </a:solidFill>
          <a:ln xmlns:a="http://schemas.openxmlformats.org/drawingml/2006/main" w="9525">
            <a:solidFill>
              <a:srgbClr val="D7DFD9"/>
            </a:solidFill>
            <a:prstDash val="solid"/>
          </a:ln>
        </p:spPr>
      </p:sp>
      <p:sp>
        <p:nvSpPr>
          <p:cNvPr id="18" name="">
            <a:extLst xmlns:a="http://schemas.openxmlformats.org/drawingml/2006/main">
              <a:ext uri="{FF2B5EF4-FFF2-40B4-BE49-F238E27FC236}">
                <a16:creationId xmlns:a16="http://schemas.microsoft.com/office/drawing/2014/main" id="{64D4797F-B3E8-4DBD-AC26-48772B1415C8}"/>
              </a:ext>
            </a:extLst>
          </p:cNvPr>
          <p:cNvSpPr>
            <a:spLocks xmlns:a="http://schemas.openxmlformats.org/drawingml/2006/main" noGrp="1"/>
          </p:cNvSpPr>
          <p:nvPr/>
        </p:nvSpPr>
        <p:spPr>
          <a:xfrm xmlns:a="http://schemas.openxmlformats.org/drawingml/2006/main">
            <a:off x="6296025" y="35052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CRITICAL</a:t>
            </a:r>
          </a:p>
        </p:txBody>
      </p:sp>
      <p:sp>
        <p:nvSpPr>
          <p:cNvPr id="19" name="">
            <a:extLst xmlns:a="http://schemas.openxmlformats.org/drawingml/2006/main">
              <a:ext uri="{FF2B5EF4-FFF2-40B4-BE49-F238E27FC236}">
                <a16:creationId xmlns:a16="http://schemas.microsoft.com/office/drawing/2014/main" id="{72EFA691-82F8-43E6-B575-1E69DB8D27D0}"/>
              </a:ext>
            </a:extLst>
          </p:cNvPr>
          <p:cNvSpPr>
            <a:spLocks xmlns:a="http://schemas.openxmlformats.org/drawingml/2006/main" noGrp="1"/>
          </p:cNvSpPr>
          <p:nvPr/>
        </p:nvSpPr>
        <p:spPr>
          <a:xfrm xmlns:a="http://schemas.openxmlformats.org/drawingml/2006/main">
            <a:off x="6296025" y="3810000"/>
            <a:ext cx="461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Alternative explanations and limitations are considered.</a:t>
            </a:r>
          </a:p>
        </p:txBody>
      </p:sp>
      <p:sp>
        <p:nvSpPr>
          <p:cNvPr id="20" name="">
            <a:extLst xmlns:a="http://schemas.openxmlformats.org/drawingml/2006/main">
              <a:ext uri="{FF2B5EF4-FFF2-40B4-BE49-F238E27FC236}">
                <a16:creationId xmlns:a16="http://schemas.microsoft.com/office/drawing/2014/main" id="{D7114ABD-9EC1-4ACF-86C3-EFCC486142E3}"/>
              </a:ext>
            </a:extLst>
          </p:cNvPr>
          <p:cNvSpPr>
            <a:spLocks xmlns:a="http://schemas.openxmlformats.org/drawingml/2006/main" noGrp="1"/>
          </p:cNvSpPr>
          <p:nvPr/>
        </p:nvSpPr>
        <p:spPr>
          <a:xfrm xmlns:a="http://schemas.openxmlformats.org/drawingml/2006/main">
            <a:off x="723900" y="4629150"/>
            <a:ext cx="5000625"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7DFD9"/>
            </a:solidFill>
            <a:prstDash val="solid"/>
          </a:ln>
        </p:spPr>
      </p:sp>
      <p:sp>
        <p:nvSpPr>
          <p:cNvPr id="21" name="">
            <a:extLst xmlns:a="http://schemas.openxmlformats.org/drawingml/2006/main">
              <a:ext uri="{FF2B5EF4-FFF2-40B4-BE49-F238E27FC236}">
                <a16:creationId xmlns:a16="http://schemas.microsoft.com/office/drawing/2014/main" id="{2FD616AE-2480-4B90-A9EA-FD373FA56E19}"/>
              </a:ext>
            </a:extLst>
          </p:cNvPr>
          <p:cNvSpPr>
            <a:spLocks xmlns:a="http://schemas.openxmlformats.org/drawingml/2006/main" noGrp="1"/>
          </p:cNvSpPr>
          <p:nvPr/>
        </p:nvSpPr>
        <p:spPr>
          <a:xfrm xmlns:a="http://schemas.openxmlformats.org/drawingml/2006/main">
            <a:off x="914400" y="47625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ETHICAL</a:t>
            </a:r>
          </a:p>
        </p:txBody>
      </p:sp>
      <p:sp>
        <p:nvSpPr>
          <p:cNvPr id="22" name="">
            <a:extLst xmlns:a="http://schemas.openxmlformats.org/drawingml/2006/main">
              <a:ext uri="{FF2B5EF4-FFF2-40B4-BE49-F238E27FC236}">
                <a16:creationId xmlns:a16="http://schemas.microsoft.com/office/drawing/2014/main" id="{2793660B-736F-4C54-96B4-D6A4688B3F0B}"/>
              </a:ext>
            </a:extLst>
          </p:cNvPr>
          <p:cNvSpPr>
            <a:spLocks xmlns:a="http://schemas.openxmlformats.org/drawingml/2006/main" noGrp="1"/>
          </p:cNvSpPr>
          <p:nvPr/>
        </p:nvSpPr>
        <p:spPr>
          <a:xfrm xmlns:a="http://schemas.openxmlformats.org/drawingml/2006/main">
            <a:off x="914400" y="5067300"/>
            <a:ext cx="461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Knowledge-making carries responsibilities to people and communities.</a:t>
            </a:r>
          </a:p>
        </p:txBody>
      </p:sp>
      <p:sp>
        <p:nvSpPr>
          <p:cNvPr id="23" name="">
            <a:extLst xmlns:a="http://schemas.openxmlformats.org/drawingml/2006/main">
              <a:ext uri="{FF2B5EF4-FFF2-40B4-BE49-F238E27FC236}">
                <a16:creationId xmlns:a16="http://schemas.microsoft.com/office/drawing/2014/main" id="{9DD5B0DA-BEB7-42F9-A9C7-282B8E9AF9AD}"/>
              </a:ext>
            </a:extLst>
          </p:cNvPr>
          <p:cNvSpPr>
            <a:spLocks xmlns:a="http://schemas.openxmlformats.org/drawingml/2006/main" noGrp="1"/>
          </p:cNvSpPr>
          <p:nvPr/>
        </p:nvSpPr>
        <p:spPr>
          <a:xfrm xmlns:a="http://schemas.openxmlformats.org/drawingml/2006/main">
            <a:off x="6105525" y="4629150"/>
            <a:ext cx="5000625"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7DFD9"/>
            </a:solidFill>
            <a:prstDash val="solid"/>
          </a:ln>
        </p:spPr>
      </p:sp>
      <p:sp>
        <p:nvSpPr>
          <p:cNvPr id="24" name="">
            <a:extLst xmlns:a="http://schemas.openxmlformats.org/drawingml/2006/main">
              <a:ext uri="{FF2B5EF4-FFF2-40B4-BE49-F238E27FC236}">
                <a16:creationId xmlns:a16="http://schemas.microsoft.com/office/drawing/2014/main" id="{9D31BE41-6914-417D-8CA2-002CA80F3FB5}"/>
              </a:ext>
            </a:extLst>
          </p:cNvPr>
          <p:cNvSpPr>
            <a:spLocks xmlns:a="http://schemas.openxmlformats.org/drawingml/2006/main" noGrp="1"/>
          </p:cNvSpPr>
          <p:nvPr/>
        </p:nvSpPr>
        <p:spPr>
          <a:xfrm xmlns:a="http://schemas.openxmlformats.org/drawingml/2006/main">
            <a:off x="6296025" y="4762500"/>
            <a:ext cx="461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OPEN TO REVISION</a:t>
            </a:r>
          </a:p>
        </p:txBody>
      </p:sp>
      <p:sp>
        <p:nvSpPr>
          <p:cNvPr id="25" name="">
            <a:extLst xmlns:a="http://schemas.openxmlformats.org/drawingml/2006/main">
              <a:ext uri="{FF2B5EF4-FFF2-40B4-BE49-F238E27FC236}">
                <a16:creationId xmlns:a16="http://schemas.microsoft.com/office/drawing/2014/main" id="{57A4A7AA-2679-45F9-B936-F5B5BAD390E4}"/>
              </a:ext>
            </a:extLst>
          </p:cNvPr>
          <p:cNvSpPr>
            <a:spLocks xmlns:a="http://schemas.openxmlformats.org/drawingml/2006/main" noGrp="1"/>
          </p:cNvSpPr>
          <p:nvPr/>
        </p:nvSpPr>
        <p:spPr>
          <a:xfrm xmlns:a="http://schemas.openxmlformats.org/drawingml/2006/main">
            <a:off x="6296025" y="5067300"/>
            <a:ext cx="461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Conclusions remain challengeable rather than unquestionable truths.</a:t>
            </a:r>
          </a:p>
        </p:txBody>
      </p:sp>
    </p:spTree>
    <p:extLst>
      <p:ext uri="{BB962C8B-B14F-4D97-AF65-F5344CB8AC3E}">
        <p14:creationId xmlns:p14="http://schemas.microsoft.com/office/powerpoint/2010/main" val="1336337730"/>
      </p:ext>
    </p:extLst>
  </p:cSld>
</p:sld>
</file>

<file path=ppt/slides/slide8.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25C4789-9098-418D-9753-A283DC1439E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B498DC-3524-4039-8E6A-8FE03B23E025}"/>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B631AE8-4DCD-40BE-9718-1E65EAFAA713}"/>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SESSION 1</a:t>
            </a:r>
          </a:p>
        </p:txBody>
      </p:sp>
      <p:sp>
        <p:nvSpPr>
          <p:cNvPr id="4" name="">
            <a:extLst xmlns:a="http://schemas.openxmlformats.org/drawingml/2006/main">
              <a:ext uri="{FF2B5EF4-FFF2-40B4-BE49-F238E27FC236}">
                <a16:creationId xmlns:a16="http://schemas.microsoft.com/office/drawing/2014/main" id="{E66CCCCA-8324-44EB-86EA-0B30238E13E9}"/>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A topic becomes researchable when the problem is specific</a:t>
            </a:r>
          </a:p>
        </p:txBody>
      </p:sp>
      <p:sp>
        <p:nvSpPr>
          <p:cNvPr id="5" name="">
            <a:extLst xmlns:a="http://schemas.openxmlformats.org/drawingml/2006/main">
              <a:ext uri="{FF2B5EF4-FFF2-40B4-BE49-F238E27FC236}">
                <a16:creationId xmlns:a16="http://schemas.microsoft.com/office/drawing/2014/main" id="{05704F72-B2FC-4FE2-A012-B7774AC35C73}"/>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66ADCBBC-A30E-473C-9B2E-A84C97EE3519}"/>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08</a:t>
            </a:r>
          </a:p>
        </p:txBody>
      </p:sp>
      <p:sp>
        <p:nvSpPr>
          <p:cNvPr id="7" name="">
            <a:extLst xmlns:a="http://schemas.openxmlformats.org/drawingml/2006/main">
              <a:ext uri="{FF2B5EF4-FFF2-40B4-BE49-F238E27FC236}">
                <a16:creationId xmlns:a16="http://schemas.microsoft.com/office/drawing/2014/main" id="{E11AF7CA-D321-4CFB-8691-806CB9FC07E0}"/>
              </a:ext>
            </a:extLst>
          </p:cNvPr>
          <p:cNvSpPr>
            <a:spLocks xmlns:a="http://schemas.openxmlformats.org/drawingml/2006/main" noGrp="1"/>
          </p:cNvSpPr>
          <p:nvPr/>
        </p:nvSpPr>
        <p:spPr>
          <a:xfrm xmlns:a="http://schemas.openxmlformats.org/drawingml/2006/main">
            <a:off x="762000" y="2286000"/>
            <a:ext cx="30480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40EC7573-4E5A-4A48-BBAB-298619E4E35D}"/>
              </a:ext>
            </a:extLst>
          </p:cNvPr>
          <p:cNvSpPr>
            <a:spLocks xmlns:a="http://schemas.openxmlformats.org/drawingml/2006/main" noGrp="1"/>
          </p:cNvSpPr>
          <p:nvPr/>
        </p:nvSpPr>
        <p:spPr>
          <a:xfrm xmlns:a="http://schemas.openxmlformats.org/drawingml/2006/main">
            <a:off x="952500" y="24193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BROAD TOPIC</a:t>
            </a:r>
          </a:p>
        </p:txBody>
      </p:sp>
      <p:sp>
        <p:nvSpPr>
          <p:cNvPr id="9" name="">
            <a:extLst xmlns:a="http://schemas.openxmlformats.org/drawingml/2006/main">
              <a:ext uri="{FF2B5EF4-FFF2-40B4-BE49-F238E27FC236}">
                <a16:creationId xmlns:a16="http://schemas.microsoft.com/office/drawing/2014/main" id="{43830FA0-CAD0-4846-8C60-30296326F97A}"/>
              </a:ext>
            </a:extLst>
          </p:cNvPr>
          <p:cNvSpPr>
            <a:spLocks xmlns:a="http://schemas.openxmlformats.org/drawingml/2006/main" noGrp="1"/>
          </p:cNvSpPr>
          <p:nvPr/>
        </p:nvSpPr>
        <p:spPr>
          <a:xfrm xmlns:a="http://schemas.openxmlformats.org/drawingml/2006/main">
            <a:off x="952500" y="2724150"/>
            <a:ext cx="26670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0" i="0">
                <a:solidFill>
                  <a:srgbClr val="17211B"/>
                </a:solidFill>
              </a:defRPr>
            </a:pPr>
            <a:r>
              <a:rPr sz="1950" b="0" i="0">
                <a:solidFill>
                  <a:srgbClr val="17211B"/>
                </a:solidFill>
              </a:rPr>
              <a:t>Artificial intelligence in higher education</a:t>
            </a:r>
          </a:p>
        </p:txBody>
      </p:sp>
      <p:sp>
        <p:nvSpPr>
          <p:cNvPr id="10" name="">
            <a:extLst xmlns:a="http://schemas.openxmlformats.org/drawingml/2006/main">
              <a:ext uri="{FF2B5EF4-FFF2-40B4-BE49-F238E27FC236}">
                <a16:creationId xmlns:a16="http://schemas.microsoft.com/office/drawing/2014/main" id="{D489B507-31ED-4F04-84FC-649BC133DF71}"/>
              </a:ext>
            </a:extLst>
          </p:cNvPr>
          <p:cNvSpPr>
            <a:spLocks xmlns:a="http://schemas.openxmlformats.org/drawingml/2006/main" noGrp="1"/>
          </p:cNvSpPr>
          <p:nvPr/>
        </p:nvSpPr>
        <p:spPr>
          <a:xfrm xmlns:a="http://schemas.openxmlformats.org/drawingml/2006/main">
            <a:off x="4000500" y="2905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i="0">
                <a:solidFill>
                  <a:srgbClr val="275D38"/>
                </a:solidFill>
              </a:defRPr>
            </a:pPr>
            <a:r>
              <a:rPr sz="3000" b="1" i="0">
                <a:solidFill>
                  <a:srgbClr val="275D38"/>
                </a:solidFill>
              </a:rPr>
              <a:t>→</a:t>
            </a:r>
          </a:p>
        </p:txBody>
      </p:sp>
      <p:sp>
        <p:nvSpPr>
          <p:cNvPr id="11" name="">
            <a:extLst xmlns:a="http://schemas.openxmlformats.org/drawingml/2006/main">
              <a:ext uri="{FF2B5EF4-FFF2-40B4-BE49-F238E27FC236}">
                <a16:creationId xmlns:a16="http://schemas.microsoft.com/office/drawing/2014/main" id="{A313D671-6778-4566-9DD5-6B6748AE2F61}"/>
              </a:ext>
            </a:extLst>
          </p:cNvPr>
          <p:cNvSpPr>
            <a:spLocks xmlns:a="http://schemas.openxmlformats.org/drawingml/2006/main" noGrp="1"/>
          </p:cNvSpPr>
          <p:nvPr/>
        </p:nvSpPr>
        <p:spPr>
          <a:xfrm xmlns:a="http://schemas.openxmlformats.org/drawingml/2006/main">
            <a:off x="4524375" y="2143125"/>
            <a:ext cx="3333750" cy="2095500"/>
          </a:xfrm>
          <a:prstGeom xmlns:a="http://schemas.openxmlformats.org/drawingml/2006/main" prst="roundRect">
            <a:avLst>
              <a:gd name="adj" fmla="val 5455"/>
            </a:avLst>
          </a:prstGeom>
          <a:solidFill xmlns:a="http://schemas.openxmlformats.org/drawingml/2006/main">
            <a:srgbClr val="E8F1EB"/>
          </a:solidFill>
          <a:ln xmlns:a="http://schemas.openxmlformats.org/drawingml/2006/main" w="19050">
            <a:solidFill>
              <a:srgbClr val="275D38"/>
            </a:solidFill>
            <a:prstDash val="solid"/>
          </a:ln>
        </p:spPr>
      </p:sp>
      <p:sp>
        <p:nvSpPr>
          <p:cNvPr id="12" name="">
            <a:extLst xmlns:a="http://schemas.openxmlformats.org/drawingml/2006/main">
              <a:ext uri="{FF2B5EF4-FFF2-40B4-BE49-F238E27FC236}">
                <a16:creationId xmlns:a16="http://schemas.microsoft.com/office/drawing/2014/main" id="{96A6AF4C-85B4-4F6B-8091-2F850311D7BA}"/>
              </a:ext>
            </a:extLst>
          </p:cNvPr>
          <p:cNvSpPr>
            <a:spLocks xmlns:a="http://schemas.openxmlformats.org/drawingml/2006/main" noGrp="1"/>
          </p:cNvSpPr>
          <p:nvPr/>
        </p:nvSpPr>
        <p:spPr>
          <a:xfrm xmlns:a="http://schemas.openxmlformats.org/drawingml/2006/main">
            <a:off x="4714875" y="22764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RESEARCH PROBLEM</a:t>
            </a:r>
          </a:p>
        </p:txBody>
      </p:sp>
      <p:sp>
        <p:nvSpPr>
          <p:cNvPr id="13" name="">
            <a:extLst xmlns:a="http://schemas.openxmlformats.org/drawingml/2006/main">
              <a:ext uri="{FF2B5EF4-FFF2-40B4-BE49-F238E27FC236}">
                <a16:creationId xmlns:a16="http://schemas.microsoft.com/office/drawing/2014/main" id="{B513C1EE-59AF-4ABF-9B75-23169F32CB28}"/>
              </a:ext>
            </a:extLst>
          </p:cNvPr>
          <p:cNvSpPr>
            <a:spLocks xmlns:a="http://schemas.openxmlformats.org/drawingml/2006/main" noGrp="1"/>
          </p:cNvSpPr>
          <p:nvPr/>
        </p:nvSpPr>
        <p:spPr>
          <a:xfrm xmlns:a="http://schemas.openxmlformats.org/drawingml/2006/main">
            <a:off x="4714875" y="2581275"/>
            <a:ext cx="29527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17211B"/>
                </a:solidFill>
              </a:defRPr>
            </a:pPr>
            <a:r>
              <a:rPr sz="1650" b="0" i="0">
                <a:solidFill>
                  <a:srgbClr val="17211B"/>
                </a:solidFill>
              </a:rPr>
              <a:t>We know relatively little about how graduate students evaluate the accuracy of AI-generated methodological advice.</a:t>
            </a:r>
          </a:p>
        </p:txBody>
      </p:sp>
      <p:sp>
        <p:nvSpPr>
          <p:cNvPr id="14" name="">
            <a:extLst xmlns:a="http://schemas.openxmlformats.org/drawingml/2006/main">
              <a:ext uri="{FF2B5EF4-FFF2-40B4-BE49-F238E27FC236}">
                <a16:creationId xmlns:a16="http://schemas.microsoft.com/office/drawing/2014/main" id="{7309B86F-7FB4-4B97-98CF-431C737C7342}"/>
              </a:ext>
            </a:extLst>
          </p:cNvPr>
          <p:cNvSpPr>
            <a:spLocks xmlns:a="http://schemas.openxmlformats.org/drawingml/2006/main" noGrp="1"/>
          </p:cNvSpPr>
          <p:nvPr/>
        </p:nvSpPr>
        <p:spPr>
          <a:xfrm xmlns:a="http://schemas.openxmlformats.org/drawingml/2006/main">
            <a:off x="8048625" y="2905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000" b="1" i="0">
                <a:solidFill>
                  <a:srgbClr val="275D38"/>
                </a:solidFill>
              </a:defRPr>
            </a:pPr>
            <a:r>
              <a:rPr sz="3000" b="1" i="0">
                <a:solidFill>
                  <a:srgbClr val="275D38"/>
                </a:solidFill>
              </a:rPr>
              <a:t>→</a:t>
            </a:r>
          </a:p>
        </p:txBody>
      </p:sp>
      <p:sp>
        <p:nvSpPr>
          <p:cNvPr id="15" name="">
            <a:extLst xmlns:a="http://schemas.openxmlformats.org/drawingml/2006/main">
              <a:ext uri="{FF2B5EF4-FFF2-40B4-BE49-F238E27FC236}">
                <a16:creationId xmlns:a16="http://schemas.microsoft.com/office/drawing/2014/main" id="{E8E17C40-BBFE-4CE1-893E-3008BC72D95B}"/>
              </a:ext>
            </a:extLst>
          </p:cNvPr>
          <p:cNvSpPr>
            <a:spLocks xmlns:a="http://schemas.openxmlformats.org/drawingml/2006/main" noGrp="1"/>
          </p:cNvSpPr>
          <p:nvPr/>
        </p:nvSpPr>
        <p:spPr>
          <a:xfrm xmlns:a="http://schemas.openxmlformats.org/drawingml/2006/main">
            <a:off x="8572500" y="1952625"/>
            <a:ext cx="2857500" cy="2476500"/>
          </a:xfrm>
          <a:prstGeom xmlns:a="http://schemas.openxmlformats.org/drawingml/2006/main" prst="roundRect">
            <a:avLst>
              <a:gd name="adj" fmla="val 4615"/>
            </a:avLst>
          </a:prstGeom>
          <a:solidFill xmlns:a="http://schemas.openxmlformats.org/drawingml/2006/main">
            <a:srgbClr val="FFF7BD"/>
          </a:solidFill>
          <a:ln xmlns:a="http://schemas.openxmlformats.org/drawingml/2006/main" w="19050">
            <a:solidFill>
              <a:srgbClr val="FFDB05"/>
            </a:solidFill>
            <a:prstDash val="solid"/>
          </a:ln>
        </p:spPr>
      </p:sp>
      <p:sp>
        <p:nvSpPr>
          <p:cNvPr id="16" name="">
            <a:extLst xmlns:a="http://schemas.openxmlformats.org/drawingml/2006/main">
              <a:ext uri="{FF2B5EF4-FFF2-40B4-BE49-F238E27FC236}">
                <a16:creationId xmlns:a16="http://schemas.microsoft.com/office/drawing/2014/main" id="{89E3A79A-EF7E-45D5-B485-BE36E6CC98A8}"/>
              </a:ext>
            </a:extLst>
          </p:cNvPr>
          <p:cNvSpPr>
            <a:spLocks xmlns:a="http://schemas.openxmlformats.org/drawingml/2006/main" noGrp="1"/>
          </p:cNvSpPr>
          <p:nvPr/>
        </p:nvSpPr>
        <p:spPr>
          <a:xfrm xmlns:a="http://schemas.openxmlformats.org/drawingml/2006/main">
            <a:off x="8763000" y="20859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POSSIBLE QUESTION</a:t>
            </a:r>
          </a:p>
        </p:txBody>
      </p:sp>
      <p:sp>
        <p:nvSpPr>
          <p:cNvPr id="17" name="">
            <a:extLst xmlns:a="http://schemas.openxmlformats.org/drawingml/2006/main">
              <a:ext uri="{FF2B5EF4-FFF2-40B4-BE49-F238E27FC236}">
                <a16:creationId xmlns:a16="http://schemas.microsoft.com/office/drawing/2014/main" id="{4A139489-0AA8-4C37-958E-CBD05EF16C5F}"/>
              </a:ext>
            </a:extLst>
          </p:cNvPr>
          <p:cNvSpPr>
            <a:spLocks xmlns:a="http://schemas.openxmlformats.org/drawingml/2006/main" noGrp="1"/>
          </p:cNvSpPr>
          <p:nvPr/>
        </p:nvSpPr>
        <p:spPr>
          <a:xfrm xmlns:a="http://schemas.openxmlformats.org/drawingml/2006/main">
            <a:off x="8763000" y="2390775"/>
            <a:ext cx="247650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How do graduate students evaluate and verify AI-generated methodological recommendations while developing research proposals?</a:t>
            </a:r>
          </a:p>
        </p:txBody>
      </p:sp>
      <p:sp>
        <p:nvSpPr>
          <p:cNvPr id="18" name="">
            <a:extLst xmlns:a="http://schemas.openxmlformats.org/drawingml/2006/main">
              <a:ext uri="{FF2B5EF4-FFF2-40B4-BE49-F238E27FC236}">
                <a16:creationId xmlns:a16="http://schemas.microsoft.com/office/drawing/2014/main" id="{B2B03FAB-1E0C-4112-BCCF-28A5918A60F2}"/>
              </a:ext>
            </a:extLst>
          </p:cNvPr>
          <p:cNvSpPr>
            <a:spLocks xmlns:a="http://schemas.openxmlformats.org/drawingml/2006/main" noGrp="1"/>
          </p:cNvSpPr>
          <p:nvPr/>
        </p:nvSpPr>
        <p:spPr>
          <a:xfrm xmlns:a="http://schemas.openxmlformats.org/drawingml/2006/main">
            <a:off x="1619250" y="4905375"/>
            <a:ext cx="895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123421"/>
                </a:solidFill>
              </a:defRPr>
            </a:pPr>
            <a:r>
              <a:rPr sz="1875" b="1" i="0">
                <a:solidFill>
                  <a:srgbClr val="123421"/>
                </a:solidFill>
              </a:rPr>
              <a:t>“AI in education” names an area of interest. It does not yet identify the problem to investigate.</a:t>
            </a:r>
          </a:p>
        </p:txBody>
      </p:sp>
    </p:spTree>
    <p:extLst>
      <p:ext uri="{BB962C8B-B14F-4D97-AF65-F5344CB8AC3E}">
        <p14:creationId xmlns:p14="http://schemas.microsoft.com/office/powerpoint/2010/main" val="2146005273"/>
      </p:ext>
    </p:extLst>
  </p:cSld>
</p:sld>
</file>

<file path=ppt/slides/slide9.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C75C08-883F-4EF1-82BB-25309B95B640}"/>
              </a:ext>
            </a:extLst>
          </p:cNvPr>
          <p:cNvSpPr>
            <a:spLocks xmlns:a="http://schemas.openxmlformats.org/drawingml/2006/main" noGrp="1"/>
          </p:cNvSpPr>
          <p:nvPr/>
        </p:nvSpPr>
        <p:spPr>
          <a:xfrm xmlns:a="http://schemas.openxmlformats.org/drawingml/2006/main">
            <a:off x="685800" y="6667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ACTIVITY 1 · SMALL GROUPS · 15 MINUTES</a:t>
            </a:r>
          </a:p>
        </p:txBody>
      </p:sp>
      <p:sp>
        <p:nvSpPr>
          <p:cNvPr id="2" name="">
            <a:extLst xmlns:a="http://schemas.openxmlformats.org/drawingml/2006/main">
              <a:ext uri="{FF2B5EF4-FFF2-40B4-BE49-F238E27FC236}">
                <a16:creationId xmlns:a16="http://schemas.microsoft.com/office/drawing/2014/main" id="{30F68A10-FEC1-4455-AC48-99B9D3F01444}"/>
              </a:ext>
            </a:extLst>
          </p:cNvPr>
          <p:cNvSpPr>
            <a:spLocks xmlns:a="http://schemas.openxmlformats.org/drawingml/2006/main" noGrp="1"/>
          </p:cNvSpPr>
          <p:nvPr/>
        </p:nvSpPr>
        <p:spPr>
          <a:xfrm xmlns:a="http://schemas.openxmlformats.org/drawingml/2006/main">
            <a:off x="685800" y="1285875"/>
            <a:ext cx="781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i="0">
                <a:solidFill>
                  <a:srgbClr val="FFFFFF"/>
                </a:solidFill>
              </a:defRPr>
            </a:pPr>
            <a:r>
              <a:rPr sz="4200" b="1" i="0">
                <a:solidFill>
                  <a:srgbClr val="FFFFFF"/>
                </a:solidFill>
              </a:rPr>
              <a:t>What counts as research?</a:t>
            </a:r>
          </a:p>
        </p:txBody>
      </p:sp>
      <p:sp>
        <p:nvSpPr>
          <p:cNvPr id="3" name="">
            <a:extLst xmlns:a="http://schemas.openxmlformats.org/drawingml/2006/main">
              <a:ext uri="{FF2B5EF4-FFF2-40B4-BE49-F238E27FC236}">
                <a16:creationId xmlns:a16="http://schemas.microsoft.com/office/drawing/2014/main" id="{B45B7191-921B-48E9-8014-25E61C970BE7}"/>
              </a:ext>
            </a:extLst>
          </p:cNvPr>
          <p:cNvSpPr>
            <a:spLocks xmlns:a="http://schemas.openxmlformats.org/drawingml/2006/main" noGrp="1"/>
          </p:cNvSpPr>
          <p:nvPr/>
        </p:nvSpPr>
        <p:spPr>
          <a:xfrm xmlns:a="http://schemas.openxmlformats.org/drawingml/2006/main">
            <a:off x="714375" y="2667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i="0">
                <a:solidFill>
                  <a:srgbClr val="DCE8DF"/>
                </a:solidFill>
              </a:defRPr>
            </a:pPr>
            <a:r>
              <a:rPr sz="1800" b="1" i="0">
                <a:solidFill>
                  <a:srgbClr val="DCE8DF"/>
                </a:solidFill>
              </a:rPr>
              <a:t>Classify each case</a:t>
            </a:r>
          </a:p>
        </p:txBody>
      </p:sp>
      <p:sp>
        <p:nvSpPr>
          <p:cNvPr id="4" name="">
            <a:extLst xmlns:a="http://schemas.openxmlformats.org/drawingml/2006/main">
              <a:ext uri="{FF2B5EF4-FFF2-40B4-BE49-F238E27FC236}">
                <a16:creationId xmlns:a16="http://schemas.microsoft.com/office/drawing/2014/main" id="{F1E3BE67-2AA3-41D0-AEB3-2BEC41B3EC8A}"/>
              </a:ext>
            </a:extLst>
          </p:cNvPr>
          <p:cNvSpPr>
            <a:spLocks xmlns:a="http://schemas.openxmlformats.org/drawingml/2006/main" noGrp="1"/>
          </p:cNvSpPr>
          <p:nvPr/>
        </p:nvSpPr>
        <p:spPr>
          <a:xfrm xmlns:a="http://schemas.openxmlformats.org/drawingml/2006/main">
            <a:off x="704850" y="3190875"/>
            <a:ext cx="2857500" cy="876300"/>
          </a:xfrm>
          <a:prstGeom xmlns:a="http://schemas.openxmlformats.org/drawingml/2006/main" prst="roundRect">
            <a:avLst>
              <a:gd name="adj" fmla="val 13043"/>
            </a:avLst>
          </a:prstGeom>
          <a:solidFill xmlns:a="http://schemas.openxmlformats.org/drawingml/2006/main">
            <a:srgbClr val="1D4A30"/>
          </a:solidFill>
          <a:ln xmlns:a="http://schemas.openxmlformats.org/drawingml/2006/main" w="19050">
            <a:solidFill>
              <a:srgbClr val="5C8568"/>
            </a:solidFill>
            <a:prstDash val="solid"/>
          </a:ln>
        </p:spPr>
      </p:sp>
      <p:sp>
        <p:nvSpPr>
          <p:cNvPr id="5" name="">
            <a:extLst xmlns:a="http://schemas.openxmlformats.org/drawingml/2006/main">
              <a:ext uri="{FF2B5EF4-FFF2-40B4-BE49-F238E27FC236}">
                <a16:creationId xmlns:a16="http://schemas.microsoft.com/office/drawing/2014/main" id="{684C64BD-FF2A-401F-B38F-2207E0EF0E47}"/>
              </a:ext>
            </a:extLst>
          </p:cNvPr>
          <p:cNvSpPr>
            <a:spLocks xmlns:a="http://schemas.openxmlformats.org/drawingml/2006/main" noGrp="1"/>
          </p:cNvSpPr>
          <p:nvPr/>
        </p:nvSpPr>
        <p:spPr>
          <a:xfrm xmlns:a="http://schemas.openxmlformats.org/drawingml/2006/main">
            <a:off x="857250" y="346710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FFFFFF"/>
                </a:solidFill>
              </a:defRPr>
            </a:pPr>
            <a:r>
              <a:rPr sz="1875" b="1" i="0">
                <a:solidFill>
                  <a:srgbClr val="FFFFFF"/>
                </a:solidFill>
              </a:rPr>
              <a:t>Research</a:t>
            </a:r>
          </a:p>
        </p:txBody>
      </p:sp>
      <p:sp>
        <p:nvSpPr>
          <p:cNvPr id="6" name="">
            <a:extLst xmlns:a="http://schemas.openxmlformats.org/drawingml/2006/main">
              <a:ext uri="{FF2B5EF4-FFF2-40B4-BE49-F238E27FC236}">
                <a16:creationId xmlns:a16="http://schemas.microsoft.com/office/drawing/2014/main" id="{7AC0CF63-6736-4A88-9025-9F0B5126A417}"/>
              </a:ext>
            </a:extLst>
          </p:cNvPr>
          <p:cNvSpPr>
            <a:spLocks xmlns:a="http://schemas.openxmlformats.org/drawingml/2006/main" noGrp="1"/>
          </p:cNvSpPr>
          <p:nvPr/>
        </p:nvSpPr>
        <p:spPr>
          <a:xfrm xmlns:a="http://schemas.openxmlformats.org/drawingml/2006/main">
            <a:off x="3943350" y="3190875"/>
            <a:ext cx="2857500" cy="876300"/>
          </a:xfrm>
          <a:prstGeom xmlns:a="http://schemas.openxmlformats.org/drawingml/2006/main" prst="roundRect">
            <a:avLst>
              <a:gd name="adj" fmla="val 13043"/>
            </a:avLst>
          </a:prstGeom>
          <a:solidFill xmlns:a="http://schemas.openxmlformats.org/drawingml/2006/main">
            <a:srgbClr val="1D4A30"/>
          </a:solidFill>
          <a:ln xmlns:a="http://schemas.openxmlformats.org/drawingml/2006/main" w="19050">
            <a:solidFill>
              <a:srgbClr val="5C8568"/>
            </a:solidFill>
            <a:prstDash val="solid"/>
          </a:ln>
        </p:spPr>
      </p:sp>
      <p:sp>
        <p:nvSpPr>
          <p:cNvPr id="7" name="">
            <a:extLst xmlns:a="http://schemas.openxmlformats.org/drawingml/2006/main">
              <a:ext uri="{FF2B5EF4-FFF2-40B4-BE49-F238E27FC236}">
                <a16:creationId xmlns:a16="http://schemas.microsoft.com/office/drawing/2014/main" id="{2A1D5336-5FD5-4993-B528-54658530479B}"/>
              </a:ext>
            </a:extLst>
          </p:cNvPr>
          <p:cNvSpPr>
            <a:spLocks xmlns:a="http://schemas.openxmlformats.org/drawingml/2006/main" noGrp="1"/>
          </p:cNvSpPr>
          <p:nvPr/>
        </p:nvSpPr>
        <p:spPr>
          <a:xfrm xmlns:a="http://schemas.openxmlformats.org/drawingml/2006/main">
            <a:off x="4095750" y="346710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FFFFFF"/>
                </a:solidFill>
              </a:defRPr>
            </a:pPr>
            <a:r>
              <a:rPr sz="1875" b="1" i="0">
                <a:solidFill>
                  <a:srgbClr val="FFFFFF"/>
                </a:solidFill>
              </a:rPr>
              <a:t>Not yet research</a:t>
            </a:r>
          </a:p>
        </p:txBody>
      </p:sp>
      <p:sp>
        <p:nvSpPr>
          <p:cNvPr id="8" name="">
            <a:extLst xmlns:a="http://schemas.openxmlformats.org/drawingml/2006/main">
              <a:ext uri="{FF2B5EF4-FFF2-40B4-BE49-F238E27FC236}">
                <a16:creationId xmlns:a16="http://schemas.microsoft.com/office/drawing/2014/main" id="{C201E2EA-6D72-4DBB-A1D5-30347DAF6986}"/>
              </a:ext>
            </a:extLst>
          </p:cNvPr>
          <p:cNvSpPr>
            <a:spLocks xmlns:a="http://schemas.openxmlformats.org/drawingml/2006/main" noGrp="1"/>
          </p:cNvSpPr>
          <p:nvPr/>
        </p:nvSpPr>
        <p:spPr>
          <a:xfrm xmlns:a="http://schemas.openxmlformats.org/drawingml/2006/main">
            <a:off x="7181850" y="3190875"/>
            <a:ext cx="2857500" cy="876300"/>
          </a:xfrm>
          <a:prstGeom xmlns:a="http://schemas.openxmlformats.org/drawingml/2006/main" prst="roundRect">
            <a:avLst>
              <a:gd name="adj" fmla="val 13043"/>
            </a:avLst>
          </a:prstGeom>
          <a:solidFill xmlns:a="http://schemas.openxmlformats.org/drawingml/2006/main">
            <a:srgbClr val="FFDB05"/>
          </a:solidFill>
          <a:ln xmlns:a="http://schemas.openxmlformats.org/drawingml/2006/main" w="19050">
            <a:solidFill>
              <a:srgbClr val="FFDB05"/>
            </a:solidFill>
            <a:prstDash val="solid"/>
          </a:ln>
        </p:spPr>
      </p:sp>
      <p:sp>
        <p:nvSpPr>
          <p:cNvPr id="9" name="">
            <a:extLst xmlns:a="http://schemas.openxmlformats.org/drawingml/2006/main">
              <a:ext uri="{FF2B5EF4-FFF2-40B4-BE49-F238E27FC236}">
                <a16:creationId xmlns:a16="http://schemas.microsoft.com/office/drawing/2014/main" id="{B1EBE3C7-B163-4A0D-8CAD-CFBAD5EF7D56}"/>
              </a:ext>
            </a:extLst>
          </p:cNvPr>
          <p:cNvSpPr>
            <a:spLocks xmlns:a="http://schemas.openxmlformats.org/drawingml/2006/main" noGrp="1"/>
          </p:cNvSpPr>
          <p:nvPr/>
        </p:nvSpPr>
        <p:spPr>
          <a:xfrm xmlns:a="http://schemas.openxmlformats.org/drawingml/2006/main">
            <a:off x="7334250" y="346710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123421"/>
                </a:solidFill>
              </a:defRPr>
            </a:pPr>
            <a:r>
              <a:rPr sz="1875" b="1" i="0">
                <a:solidFill>
                  <a:srgbClr val="123421"/>
                </a:solidFill>
              </a:rPr>
              <a:t>It depends</a:t>
            </a:r>
          </a:p>
        </p:txBody>
      </p:sp>
      <p:sp>
        <p:nvSpPr>
          <p:cNvPr id="10" name="">
            <a:extLst xmlns:a="http://schemas.openxmlformats.org/drawingml/2006/main">
              <a:ext uri="{FF2B5EF4-FFF2-40B4-BE49-F238E27FC236}">
                <a16:creationId xmlns:a16="http://schemas.microsoft.com/office/drawing/2014/main" id="{946EBB51-8E78-41E6-9E07-DC5ECC9E73E1}"/>
              </a:ext>
            </a:extLst>
          </p:cNvPr>
          <p:cNvSpPr>
            <a:spLocks xmlns:a="http://schemas.openxmlformats.org/drawingml/2006/main" noGrp="1"/>
          </p:cNvSpPr>
          <p:nvPr/>
        </p:nvSpPr>
        <p:spPr>
          <a:xfrm xmlns:a="http://schemas.openxmlformats.org/drawingml/2006/main">
            <a:off x="714375" y="471487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FFFFFF"/>
                </a:solidFill>
              </a:defRPr>
            </a:pPr>
            <a:r>
              <a:rPr sz="2100" b="1" i="0">
                <a:solidFill>
                  <a:srgbClr val="FFFFFF"/>
                </a:solidFill>
              </a:rPr>
              <a:t>Your group must defend the reasoning—not simply agree on a label.</a:t>
            </a:r>
          </a:p>
        </p:txBody>
      </p:sp>
      <p:sp>
        <p:nvSpPr>
          <p:cNvPr id="11" name="">
            <a:extLst xmlns:a="http://schemas.openxmlformats.org/drawingml/2006/main">
              <a:ext uri="{FF2B5EF4-FFF2-40B4-BE49-F238E27FC236}">
                <a16:creationId xmlns:a16="http://schemas.microsoft.com/office/drawing/2014/main" id="{ECA802E7-A306-408C-8809-7A98BDE08C06}"/>
              </a:ext>
            </a:extLst>
          </p:cNvPr>
          <p:cNvSpPr>
            <a:spLocks xmlns:a="http://schemas.openxmlformats.org/drawingml/2006/main" noGrp="1"/>
          </p:cNvSpPr>
          <p:nvPr/>
        </p:nvSpPr>
        <p:spPr>
          <a:xfrm xmlns:a="http://schemas.openxmlformats.org/drawingml/2006/main">
            <a:off x="714375" y="54292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i="0">
                <a:solidFill>
                  <a:srgbClr val="DCE8DF"/>
                </a:solidFill>
              </a:defRPr>
            </a:pPr>
            <a:r>
              <a:rPr sz="1650" b="0" i="0">
                <a:solidFill>
                  <a:srgbClr val="DCE8DF"/>
                </a:solidFill>
              </a:rPr>
              <a:t>Use the Session 1 activity site. Reveal the debrief only after your group decides.</a:t>
            </a:r>
          </a:p>
        </p:txBody>
      </p:sp>
      <p:sp>
        <p:nvSpPr>
          <p:cNvPr id="12" name="">
            <a:extLst xmlns:a="http://schemas.openxmlformats.org/drawingml/2006/main">
              <a:ext uri="{FF2B5EF4-FFF2-40B4-BE49-F238E27FC236}">
                <a16:creationId xmlns:a16="http://schemas.microsoft.com/office/drawing/2014/main" id="{19803B5C-580A-4E4F-9A44-D23EA2F38DDE}"/>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13" name="">
            <a:extLst xmlns:a="http://schemas.openxmlformats.org/drawingml/2006/main">
              <a:ext uri="{FF2B5EF4-FFF2-40B4-BE49-F238E27FC236}">
                <a16:creationId xmlns:a16="http://schemas.microsoft.com/office/drawing/2014/main" id="{86D9B36B-47C0-4DBE-8FE5-DB87BF5BF6EA}"/>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09</a:t>
            </a:r>
          </a:p>
        </p:txBody>
      </p:sp>
    </p:spTree>
    <p:extLst>
      <p:ext uri="{BB962C8B-B14F-4D97-AF65-F5344CB8AC3E}">
        <p14:creationId xmlns:p14="http://schemas.microsoft.com/office/powerpoint/2010/main" val="1317146364"/>
      </p:ext>
    </p:extLst>
  </p:cSld>
</p:sld>
</file>

<file path=ppt/slides/slide10.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9548270-4871-4F18-84FE-42FE4A17B37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2DB6AF-C1B0-40F8-B17E-D44A49F49708}"/>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93DD01D-D71B-4EDD-86BB-C4C93093880A}"/>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ACTIVITY 1</a:t>
            </a:r>
          </a:p>
        </p:txBody>
      </p:sp>
      <p:sp>
        <p:nvSpPr>
          <p:cNvPr id="4" name="">
            <a:extLst xmlns:a="http://schemas.openxmlformats.org/drawingml/2006/main">
              <a:ext uri="{FF2B5EF4-FFF2-40B4-BE49-F238E27FC236}">
                <a16:creationId xmlns:a16="http://schemas.microsoft.com/office/drawing/2014/main" id="{385DC2A1-D1BC-4813-A3F0-4279BAE9A341}"/>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Classify the first three cases</a:t>
            </a:r>
          </a:p>
        </p:txBody>
      </p:sp>
      <p:sp>
        <p:nvSpPr>
          <p:cNvPr id="5" name="">
            <a:extLst xmlns:a="http://schemas.openxmlformats.org/drawingml/2006/main">
              <a:ext uri="{FF2B5EF4-FFF2-40B4-BE49-F238E27FC236}">
                <a16:creationId xmlns:a16="http://schemas.microsoft.com/office/drawing/2014/main" id="{46145CCA-36A6-4212-B28B-4032F1FFB4E6}"/>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C353C55E-58E3-4FFB-A890-6CBDF8BF932E}"/>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10</a:t>
            </a:r>
          </a:p>
        </p:txBody>
      </p:sp>
      <p:sp>
        <p:nvSpPr>
          <p:cNvPr id="7" name="">
            <a:extLst xmlns:a="http://schemas.openxmlformats.org/drawingml/2006/main">
              <a:ext uri="{FF2B5EF4-FFF2-40B4-BE49-F238E27FC236}">
                <a16:creationId xmlns:a16="http://schemas.microsoft.com/office/drawing/2014/main" id="{7AA56C3D-2E42-42F6-8072-095F52B0BDF7}"/>
              </a:ext>
            </a:extLst>
          </p:cNvPr>
          <p:cNvSpPr>
            <a:spLocks xmlns:a="http://schemas.openxmlformats.org/drawingml/2006/main" noGrp="1"/>
          </p:cNvSpPr>
          <p:nvPr/>
        </p:nvSpPr>
        <p:spPr>
          <a:xfrm xmlns:a="http://schemas.openxmlformats.org/drawingml/2006/main">
            <a:off x="685800" y="2190750"/>
            <a:ext cx="333375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E5936B70-F3E7-4249-9ED3-283876C117CC}"/>
              </a:ext>
            </a:extLst>
          </p:cNvPr>
          <p:cNvSpPr>
            <a:spLocks xmlns:a="http://schemas.openxmlformats.org/drawingml/2006/main" noGrp="1"/>
          </p:cNvSpPr>
          <p:nvPr/>
        </p:nvSpPr>
        <p:spPr>
          <a:xfrm xmlns:a="http://schemas.openxmlformats.org/drawingml/2006/main">
            <a:off x="876300" y="2324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CASE 1</a:t>
            </a:r>
          </a:p>
        </p:txBody>
      </p:sp>
      <p:sp>
        <p:nvSpPr>
          <p:cNvPr id="9" name="">
            <a:extLst xmlns:a="http://schemas.openxmlformats.org/drawingml/2006/main">
              <a:ext uri="{FF2B5EF4-FFF2-40B4-BE49-F238E27FC236}">
                <a16:creationId xmlns:a16="http://schemas.microsoft.com/office/drawing/2014/main" id="{A6A55D83-569E-446B-B401-7632D1356AFD}"/>
              </a:ext>
            </a:extLst>
          </p:cNvPr>
          <p:cNvSpPr>
            <a:spLocks xmlns:a="http://schemas.openxmlformats.org/drawingml/2006/main" noGrp="1"/>
          </p:cNvSpPr>
          <p:nvPr/>
        </p:nvSpPr>
        <p:spPr>
          <a:xfrm xmlns:a="http://schemas.openxmlformats.org/drawingml/2006/main">
            <a:off x="876300" y="26289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A professor notices that students who sit near the front receive higher grades.</a:t>
            </a:r>
          </a:p>
        </p:txBody>
      </p:sp>
      <p:sp>
        <p:nvSpPr>
          <p:cNvPr id="10" name="">
            <a:extLst xmlns:a="http://schemas.openxmlformats.org/drawingml/2006/main">
              <a:ext uri="{FF2B5EF4-FFF2-40B4-BE49-F238E27FC236}">
                <a16:creationId xmlns:a16="http://schemas.microsoft.com/office/drawing/2014/main" id="{914E4AEC-83F2-4667-935D-990913C54BFA}"/>
              </a:ext>
            </a:extLst>
          </p:cNvPr>
          <p:cNvSpPr>
            <a:spLocks xmlns:a="http://schemas.openxmlformats.org/drawingml/2006/main" noGrp="1"/>
          </p:cNvSpPr>
          <p:nvPr/>
        </p:nvSpPr>
        <p:spPr>
          <a:xfrm xmlns:a="http://schemas.openxmlformats.org/drawingml/2006/main">
            <a:off x="4429125" y="2190750"/>
            <a:ext cx="3333750" cy="2476500"/>
          </a:xfrm>
          <a:prstGeom xmlns:a="http://schemas.openxmlformats.org/drawingml/2006/main" prst="roundRect">
            <a:avLst>
              <a:gd name="adj" fmla="val 4615"/>
            </a:avLst>
          </a:prstGeom>
          <a:solidFill xmlns:a="http://schemas.openxmlformats.org/drawingml/2006/main">
            <a:srgbClr val="E8F1EB"/>
          </a:solidFill>
          <a:ln xmlns:a="http://schemas.openxmlformats.org/drawingml/2006/main" w="9525">
            <a:solidFill>
              <a:srgbClr val="D7DFD9"/>
            </a:solidFill>
            <a:prstDash val="solid"/>
          </a:ln>
        </p:spPr>
      </p:sp>
      <p:sp>
        <p:nvSpPr>
          <p:cNvPr id="11" name="">
            <a:extLst xmlns:a="http://schemas.openxmlformats.org/drawingml/2006/main">
              <a:ext uri="{FF2B5EF4-FFF2-40B4-BE49-F238E27FC236}">
                <a16:creationId xmlns:a16="http://schemas.microsoft.com/office/drawing/2014/main" id="{FE9F814D-3F08-42D7-BF65-6D61CC71CA2A}"/>
              </a:ext>
            </a:extLst>
          </p:cNvPr>
          <p:cNvSpPr>
            <a:spLocks xmlns:a="http://schemas.openxmlformats.org/drawingml/2006/main" noGrp="1"/>
          </p:cNvSpPr>
          <p:nvPr/>
        </p:nvSpPr>
        <p:spPr>
          <a:xfrm xmlns:a="http://schemas.openxmlformats.org/drawingml/2006/main">
            <a:off x="4619625" y="2324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CASE 2</a:t>
            </a:r>
          </a:p>
        </p:txBody>
      </p:sp>
      <p:sp>
        <p:nvSpPr>
          <p:cNvPr id="12" name="">
            <a:extLst xmlns:a="http://schemas.openxmlformats.org/drawingml/2006/main">
              <a:ext uri="{FF2B5EF4-FFF2-40B4-BE49-F238E27FC236}">
                <a16:creationId xmlns:a16="http://schemas.microsoft.com/office/drawing/2014/main" id="{867CA4CB-912A-4868-B57D-842324D3FE8E}"/>
              </a:ext>
            </a:extLst>
          </p:cNvPr>
          <p:cNvSpPr>
            <a:spLocks xmlns:a="http://schemas.openxmlformats.org/drawingml/2006/main" noGrp="1"/>
          </p:cNvSpPr>
          <p:nvPr/>
        </p:nvSpPr>
        <p:spPr>
          <a:xfrm xmlns:a="http://schemas.openxmlformats.org/drawingml/2006/main">
            <a:off x="4619625" y="26289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A researcher interviews 20 first-generation students and systematically analyzes recurring meanings.</a:t>
            </a:r>
          </a:p>
        </p:txBody>
      </p:sp>
      <p:sp>
        <p:nvSpPr>
          <p:cNvPr id="13" name="">
            <a:extLst xmlns:a="http://schemas.openxmlformats.org/drawingml/2006/main">
              <a:ext uri="{FF2B5EF4-FFF2-40B4-BE49-F238E27FC236}">
                <a16:creationId xmlns:a16="http://schemas.microsoft.com/office/drawing/2014/main" id="{4AF80263-B4AF-41E4-BA3C-8C4F4DE2E905}"/>
              </a:ext>
            </a:extLst>
          </p:cNvPr>
          <p:cNvSpPr>
            <a:spLocks xmlns:a="http://schemas.openxmlformats.org/drawingml/2006/main" noGrp="1"/>
          </p:cNvSpPr>
          <p:nvPr/>
        </p:nvSpPr>
        <p:spPr>
          <a:xfrm xmlns:a="http://schemas.openxmlformats.org/drawingml/2006/main">
            <a:off x="8172450" y="2190750"/>
            <a:ext cx="3333750" cy="2476500"/>
          </a:xfrm>
          <a:prstGeom xmlns:a="http://schemas.openxmlformats.org/drawingml/2006/main" prst="roundRect">
            <a:avLst>
              <a:gd name="adj" fmla="val 4615"/>
            </a:avLst>
          </a:prstGeom>
          <a:solidFill xmlns:a="http://schemas.openxmlformats.org/drawingml/2006/main">
            <a:srgbClr val="FFF7BD"/>
          </a:solidFill>
          <a:ln xmlns:a="http://schemas.openxmlformats.org/drawingml/2006/main" w="9525">
            <a:solidFill>
              <a:srgbClr val="D7DFD9"/>
            </a:solidFill>
            <a:prstDash val="solid"/>
          </a:ln>
        </p:spPr>
      </p:sp>
      <p:sp>
        <p:nvSpPr>
          <p:cNvPr id="14" name="">
            <a:extLst xmlns:a="http://schemas.openxmlformats.org/drawingml/2006/main">
              <a:ext uri="{FF2B5EF4-FFF2-40B4-BE49-F238E27FC236}">
                <a16:creationId xmlns:a16="http://schemas.microsoft.com/office/drawing/2014/main" id="{BDCF31E3-0809-4AFE-9533-6E6D156BEAAC}"/>
              </a:ext>
            </a:extLst>
          </p:cNvPr>
          <p:cNvSpPr>
            <a:spLocks xmlns:a="http://schemas.openxmlformats.org/drawingml/2006/main" noGrp="1"/>
          </p:cNvSpPr>
          <p:nvPr/>
        </p:nvSpPr>
        <p:spPr>
          <a:xfrm xmlns:a="http://schemas.openxmlformats.org/drawingml/2006/main">
            <a:off x="8362950" y="2324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CASE 3</a:t>
            </a:r>
          </a:p>
        </p:txBody>
      </p:sp>
      <p:sp>
        <p:nvSpPr>
          <p:cNvPr id="15" name="">
            <a:extLst xmlns:a="http://schemas.openxmlformats.org/drawingml/2006/main">
              <a:ext uri="{FF2B5EF4-FFF2-40B4-BE49-F238E27FC236}">
                <a16:creationId xmlns:a16="http://schemas.microsoft.com/office/drawing/2014/main" id="{7E08F07B-0AAC-4329-B410-888999B0C2F5}"/>
              </a:ext>
            </a:extLst>
          </p:cNvPr>
          <p:cNvSpPr>
            <a:spLocks xmlns:a="http://schemas.openxmlformats.org/drawingml/2006/main" noGrp="1"/>
          </p:cNvSpPr>
          <p:nvPr/>
        </p:nvSpPr>
        <p:spPr>
          <a:xfrm xmlns:a="http://schemas.openxmlformats.org/drawingml/2006/main">
            <a:off x="8362950" y="26289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An instructor asks a generative AI tool why students are disengaged and reports its answer to colleagues.</a:t>
            </a:r>
          </a:p>
        </p:txBody>
      </p:sp>
      <p:sp>
        <p:nvSpPr>
          <p:cNvPr id="16" name="">
            <a:extLst xmlns:a="http://schemas.openxmlformats.org/drawingml/2006/main">
              <a:ext uri="{FF2B5EF4-FFF2-40B4-BE49-F238E27FC236}">
                <a16:creationId xmlns:a16="http://schemas.microsoft.com/office/drawing/2014/main" id="{15602F92-6D6B-4919-B927-9C3D46A97AA9}"/>
              </a:ext>
            </a:extLst>
          </p:cNvPr>
          <p:cNvSpPr>
            <a:spLocks xmlns:a="http://schemas.openxmlformats.org/drawingml/2006/main" noGrp="1"/>
          </p:cNvSpPr>
          <p:nvPr/>
        </p:nvSpPr>
        <p:spPr>
          <a:xfrm xmlns:a="http://schemas.openxmlformats.org/drawingml/2006/main">
            <a:off x="1200150" y="5095875"/>
            <a:ext cx="9763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123421"/>
                </a:solidFill>
              </a:defRPr>
            </a:pPr>
            <a:r>
              <a:rPr sz="1800" b="1" i="0">
                <a:solidFill>
                  <a:srgbClr val="123421"/>
                </a:solidFill>
              </a:rPr>
              <a:t>For each: What evidence exists? What procedure is visible? What claim could be justified?</a:t>
            </a:r>
          </a:p>
        </p:txBody>
      </p:sp>
    </p:spTree>
    <p:extLst>
      <p:ext uri="{BB962C8B-B14F-4D97-AF65-F5344CB8AC3E}">
        <p14:creationId xmlns:p14="http://schemas.microsoft.com/office/powerpoint/2010/main" val="619156010"/>
      </p:ext>
    </p:extLst>
  </p:cSld>
</p:sld>
</file>

<file path=ppt/slides/slide11.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614750-D7EC-41DB-873E-671493A45DD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2124D1-8B01-4CC1-A56A-98544FF240EA}"/>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BD6ECA-A7B2-43AC-8821-E0083EB722C9}"/>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ACTIVITY 1</a:t>
            </a:r>
          </a:p>
        </p:txBody>
      </p:sp>
      <p:sp>
        <p:nvSpPr>
          <p:cNvPr id="4" name="">
            <a:extLst xmlns:a="http://schemas.openxmlformats.org/drawingml/2006/main">
              <a:ext uri="{FF2B5EF4-FFF2-40B4-BE49-F238E27FC236}">
                <a16:creationId xmlns:a16="http://schemas.microsoft.com/office/drawing/2014/main" id="{6D817F5B-2DBE-4B2F-B92F-F4E13FD56418}"/>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Now classify three more cases</a:t>
            </a:r>
          </a:p>
        </p:txBody>
      </p:sp>
      <p:sp>
        <p:nvSpPr>
          <p:cNvPr id="5" name="">
            <a:extLst xmlns:a="http://schemas.openxmlformats.org/drawingml/2006/main">
              <a:ext uri="{FF2B5EF4-FFF2-40B4-BE49-F238E27FC236}">
                <a16:creationId xmlns:a16="http://schemas.microsoft.com/office/drawing/2014/main" id="{8527FFD4-0350-4C54-9FB3-49923BCB2320}"/>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C07A6956-4E8C-4204-824E-A6F3FA8AADAF}"/>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11</a:t>
            </a:r>
          </a:p>
        </p:txBody>
      </p:sp>
      <p:sp>
        <p:nvSpPr>
          <p:cNvPr id="7" name="">
            <a:extLst xmlns:a="http://schemas.openxmlformats.org/drawingml/2006/main">
              <a:ext uri="{FF2B5EF4-FFF2-40B4-BE49-F238E27FC236}">
                <a16:creationId xmlns:a16="http://schemas.microsoft.com/office/drawing/2014/main" id="{5EA2DE07-A02F-4081-AF0E-A8BD5BF6B65D}"/>
              </a:ext>
            </a:extLst>
          </p:cNvPr>
          <p:cNvSpPr>
            <a:spLocks xmlns:a="http://schemas.openxmlformats.org/drawingml/2006/main" noGrp="1"/>
          </p:cNvSpPr>
          <p:nvPr/>
        </p:nvSpPr>
        <p:spPr>
          <a:xfrm xmlns:a="http://schemas.openxmlformats.org/drawingml/2006/main">
            <a:off x="685800" y="2190750"/>
            <a:ext cx="3333750" cy="2476500"/>
          </a:xfrm>
          <a:prstGeom xmlns:a="http://schemas.openxmlformats.org/drawingml/2006/main" prst="roundRect">
            <a:avLst>
              <a:gd name="adj" fmla="val 4615"/>
            </a:avLst>
          </a:prstGeom>
          <a:solidFill xmlns:a="http://schemas.openxmlformats.org/drawingml/2006/main">
            <a:srgbClr val="E8F1EB"/>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AC503E7F-3D5B-4197-9742-81303F92E1B8}"/>
              </a:ext>
            </a:extLst>
          </p:cNvPr>
          <p:cNvSpPr>
            <a:spLocks xmlns:a="http://schemas.openxmlformats.org/drawingml/2006/main" noGrp="1"/>
          </p:cNvSpPr>
          <p:nvPr/>
        </p:nvSpPr>
        <p:spPr>
          <a:xfrm xmlns:a="http://schemas.openxmlformats.org/drawingml/2006/main">
            <a:off x="876300" y="2324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CASE 4</a:t>
            </a:r>
          </a:p>
        </p:txBody>
      </p:sp>
      <p:sp>
        <p:nvSpPr>
          <p:cNvPr id="9" name="">
            <a:extLst xmlns:a="http://schemas.openxmlformats.org/drawingml/2006/main">
              <a:ext uri="{FF2B5EF4-FFF2-40B4-BE49-F238E27FC236}">
                <a16:creationId xmlns:a16="http://schemas.microsoft.com/office/drawing/2014/main" id="{CABDC766-8A39-4538-A610-61DD78675AA8}"/>
              </a:ext>
            </a:extLst>
          </p:cNvPr>
          <p:cNvSpPr>
            <a:spLocks xmlns:a="http://schemas.openxmlformats.org/drawingml/2006/main" noGrp="1"/>
          </p:cNvSpPr>
          <p:nvPr/>
        </p:nvSpPr>
        <p:spPr>
          <a:xfrm xmlns:a="http://schemas.openxmlformats.org/drawingml/2006/main">
            <a:off x="876300" y="26289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Researchers administer a validated belonging scale to 500 students and examine predictors of belonging.</a:t>
            </a:r>
          </a:p>
        </p:txBody>
      </p:sp>
      <p:sp>
        <p:nvSpPr>
          <p:cNvPr id="10" name="">
            <a:extLst xmlns:a="http://schemas.openxmlformats.org/drawingml/2006/main">
              <a:ext uri="{FF2B5EF4-FFF2-40B4-BE49-F238E27FC236}">
                <a16:creationId xmlns:a16="http://schemas.microsoft.com/office/drawing/2014/main" id="{F6E642F7-B451-4E7C-8F8E-E25BFA11030D}"/>
              </a:ext>
            </a:extLst>
          </p:cNvPr>
          <p:cNvSpPr>
            <a:spLocks xmlns:a="http://schemas.openxmlformats.org/drawingml/2006/main" noGrp="1"/>
          </p:cNvSpPr>
          <p:nvPr/>
        </p:nvSpPr>
        <p:spPr>
          <a:xfrm xmlns:a="http://schemas.openxmlformats.org/drawingml/2006/main">
            <a:off x="4429125" y="2190750"/>
            <a:ext cx="333375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D7DFD9"/>
            </a:solidFill>
            <a:prstDash val="solid"/>
          </a:ln>
        </p:spPr>
      </p:sp>
      <p:sp>
        <p:nvSpPr>
          <p:cNvPr id="11" name="">
            <a:extLst xmlns:a="http://schemas.openxmlformats.org/drawingml/2006/main">
              <a:ext uri="{FF2B5EF4-FFF2-40B4-BE49-F238E27FC236}">
                <a16:creationId xmlns:a16="http://schemas.microsoft.com/office/drawing/2014/main" id="{6BD93B7F-A61D-4786-AEF7-DB83D2B2273C}"/>
              </a:ext>
            </a:extLst>
          </p:cNvPr>
          <p:cNvSpPr>
            <a:spLocks xmlns:a="http://schemas.openxmlformats.org/drawingml/2006/main" noGrp="1"/>
          </p:cNvSpPr>
          <p:nvPr/>
        </p:nvSpPr>
        <p:spPr>
          <a:xfrm xmlns:a="http://schemas.openxmlformats.org/drawingml/2006/main">
            <a:off x="4619625" y="2324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CASE 5</a:t>
            </a:r>
          </a:p>
        </p:txBody>
      </p:sp>
      <p:sp>
        <p:nvSpPr>
          <p:cNvPr id="12" name="">
            <a:extLst xmlns:a="http://schemas.openxmlformats.org/drawingml/2006/main">
              <a:ext uri="{FF2B5EF4-FFF2-40B4-BE49-F238E27FC236}">
                <a16:creationId xmlns:a16="http://schemas.microsoft.com/office/drawing/2014/main" id="{F75AC131-92AE-4042-9637-31055B9CA5DD}"/>
              </a:ext>
            </a:extLst>
          </p:cNvPr>
          <p:cNvSpPr>
            <a:spLocks xmlns:a="http://schemas.openxmlformats.org/drawingml/2006/main" noGrp="1"/>
          </p:cNvSpPr>
          <p:nvPr/>
        </p:nvSpPr>
        <p:spPr>
          <a:xfrm xmlns:a="http://schemas.openxmlformats.org/drawingml/2006/main">
            <a:off x="4619625" y="26289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A faculty member compares grades before and after changing a course assessment.</a:t>
            </a:r>
          </a:p>
        </p:txBody>
      </p:sp>
      <p:sp>
        <p:nvSpPr>
          <p:cNvPr id="13" name="">
            <a:extLst xmlns:a="http://schemas.openxmlformats.org/drawingml/2006/main">
              <a:ext uri="{FF2B5EF4-FFF2-40B4-BE49-F238E27FC236}">
                <a16:creationId xmlns:a16="http://schemas.microsoft.com/office/drawing/2014/main" id="{E1C9FC65-E066-409C-BBF9-E285C70FCA77}"/>
              </a:ext>
            </a:extLst>
          </p:cNvPr>
          <p:cNvSpPr>
            <a:spLocks xmlns:a="http://schemas.openxmlformats.org/drawingml/2006/main" noGrp="1"/>
          </p:cNvSpPr>
          <p:nvPr/>
        </p:nvSpPr>
        <p:spPr>
          <a:xfrm xmlns:a="http://schemas.openxmlformats.org/drawingml/2006/main">
            <a:off x="8172450" y="2190750"/>
            <a:ext cx="3333750" cy="2476500"/>
          </a:xfrm>
          <a:prstGeom xmlns:a="http://schemas.openxmlformats.org/drawingml/2006/main" prst="roundRect">
            <a:avLst>
              <a:gd name="adj" fmla="val 4615"/>
            </a:avLst>
          </a:prstGeom>
          <a:solidFill xmlns:a="http://schemas.openxmlformats.org/drawingml/2006/main">
            <a:srgbClr val="FFF7BD"/>
          </a:solidFill>
          <a:ln xmlns:a="http://schemas.openxmlformats.org/drawingml/2006/main" w="9525">
            <a:solidFill>
              <a:srgbClr val="D7DFD9"/>
            </a:solidFill>
            <a:prstDash val="solid"/>
          </a:ln>
        </p:spPr>
      </p:sp>
      <p:sp>
        <p:nvSpPr>
          <p:cNvPr id="14" name="">
            <a:extLst xmlns:a="http://schemas.openxmlformats.org/drawingml/2006/main">
              <a:ext uri="{FF2B5EF4-FFF2-40B4-BE49-F238E27FC236}">
                <a16:creationId xmlns:a16="http://schemas.microsoft.com/office/drawing/2014/main" id="{99744EC3-41E5-4D53-9E07-16D0E56F0720}"/>
              </a:ext>
            </a:extLst>
          </p:cNvPr>
          <p:cNvSpPr>
            <a:spLocks xmlns:a="http://schemas.openxmlformats.org/drawingml/2006/main" noGrp="1"/>
          </p:cNvSpPr>
          <p:nvPr/>
        </p:nvSpPr>
        <p:spPr>
          <a:xfrm xmlns:a="http://schemas.openxmlformats.org/drawingml/2006/main">
            <a:off x="8362950" y="23241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CASE 6</a:t>
            </a:r>
          </a:p>
        </p:txBody>
      </p:sp>
      <p:sp>
        <p:nvSpPr>
          <p:cNvPr id="15" name="">
            <a:extLst xmlns:a="http://schemas.openxmlformats.org/drawingml/2006/main">
              <a:ext uri="{FF2B5EF4-FFF2-40B4-BE49-F238E27FC236}">
                <a16:creationId xmlns:a16="http://schemas.microsoft.com/office/drawing/2014/main" id="{99C51262-1A32-4DC7-9299-A578B0DFB086}"/>
              </a:ext>
            </a:extLst>
          </p:cNvPr>
          <p:cNvSpPr>
            <a:spLocks xmlns:a="http://schemas.openxmlformats.org/drawingml/2006/main" noGrp="1"/>
          </p:cNvSpPr>
          <p:nvPr/>
        </p:nvSpPr>
        <p:spPr>
          <a:xfrm xmlns:a="http://schemas.openxmlformats.org/drawingml/2006/main">
            <a:off x="8362950" y="26289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A graduate student reads 12 studies about feedback and writes a transparent, critical synthesis.</a:t>
            </a:r>
          </a:p>
        </p:txBody>
      </p:sp>
      <p:sp>
        <p:nvSpPr>
          <p:cNvPr id="16" name="">
            <a:extLst xmlns:a="http://schemas.openxmlformats.org/drawingml/2006/main">
              <a:ext uri="{FF2B5EF4-FFF2-40B4-BE49-F238E27FC236}">
                <a16:creationId xmlns:a16="http://schemas.microsoft.com/office/drawing/2014/main" id="{60B97533-C3A3-4D7D-AD2D-EC1CF0587CE9}"/>
              </a:ext>
            </a:extLst>
          </p:cNvPr>
          <p:cNvSpPr>
            <a:spLocks xmlns:a="http://schemas.openxmlformats.org/drawingml/2006/main" noGrp="1"/>
          </p:cNvSpPr>
          <p:nvPr/>
        </p:nvSpPr>
        <p:spPr>
          <a:xfrm xmlns:a="http://schemas.openxmlformats.org/drawingml/2006/main">
            <a:off x="2000250" y="5095875"/>
            <a:ext cx="819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123421"/>
                </a:solidFill>
              </a:defRPr>
            </a:pPr>
            <a:r>
              <a:rPr sz="2100" b="1" i="0">
                <a:solidFill>
                  <a:srgbClr val="123421"/>
                </a:solidFill>
              </a:rPr>
              <a:t>A familiar method can still support an overconfident claim.</a:t>
            </a:r>
          </a:p>
        </p:txBody>
      </p:sp>
    </p:spTree>
    <p:extLst>
      <p:ext uri="{BB962C8B-B14F-4D97-AF65-F5344CB8AC3E}">
        <p14:creationId xmlns:p14="http://schemas.microsoft.com/office/powerpoint/2010/main" val="1753937669"/>
      </p:ext>
    </p:extLst>
  </p:cSld>
</p:sld>
</file>

<file path=ppt/slides/slide12.xml><?xml version="1.0" encoding="utf-8"?>
<p:sld xmlns:p="http://schemas.openxmlformats.org/presentationml/2006/main">
  <p:cSld>
    <p:bg>
      <p:bgPr>
        <a:solidFill xmlns:a="http://schemas.openxmlformats.org/drawingml/2006/main">
          <a:srgbClr val="FFDB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416D14-BC20-4B58-A9D9-F799512B86A9}"/>
              </a:ext>
            </a:extLst>
          </p:cNvPr>
          <p:cNvSpPr>
            <a:spLocks xmlns:a="http://schemas.openxmlformats.org/drawingml/2006/main" noGrp="1"/>
          </p:cNvSpPr>
          <p:nvPr/>
        </p:nvSpPr>
        <p:spPr>
          <a:xfrm xmlns:a="http://schemas.openxmlformats.org/drawingml/2006/main">
            <a:off x="685800" y="7429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123421"/>
                </a:solidFill>
              </a:defRPr>
            </a:pPr>
            <a:r>
              <a:rPr sz="1275" b="1" i="0">
                <a:solidFill>
                  <a:srgbClr val="123421"/>
                </a:solidFill>
              </a:rPr>
              <a:t>ACTIVITY 1 · DEBRIEF</a:t>
            </a:r>
          </a:p>
        </p:txBody>
      </p:sp>
      <p:sp>
        <p:nvSpPr>
          <p:cNvPr id="2" name="">
            <a:extLst xmlns:a="http://schemas.openxmlformats.org/drawingml/2006/main">
              <a:ext uri="{FF2B5EF4-FFF2-40B4-BE49-F238E27FC236}">
                <a16:creationId xmlns:a16="http://schemas.microsoft.com/office/drawing/2014/main" id="{F5BCC4E0-6771-4900-B0C4-FCD75385FCC7}"/>
              </a:ext>
            </a:extLst>
          </p:cNvPr>
          <p:cNvSpPr>
            <a:spLocks xmlns:a="http://schemas.openxmlformats.org/drawingml/2006/main" noGrp="1"/>
          </p:cNvSpPr>
          <p:nvPr/>
        </p:nvSpPr>
        <p:spPr>
          <a:xfrm xmlns:a="http://schemas.openxmlformats.org/drawingml/2006/main">
            <a:off x="685800" y="1619250"/>
            <a:ext cx="1000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i="0">
                <a:solidFill>
                  <a:srgbClr val="123421"/>
                </a:solidFill>
              </a:defRPr>
            </a:pPr>
            <a:r>
              <a:rPr sz="4050" b="1" i="0">
                <a:solidFill>
                  <a:srgbClr val="123421"/>
                </a:solidFill>
              </a:rPr>
              <a:t>A method does not make a study rigorous.</a:t>
            </a:r>
          </a:p>
        </p:txBody>
      </p:sp>
      <p:sp>
        <p:nvSpPr>
          <p:cNvPr id="3" name="">
            <a:extLst xmlns:a="http://schemas.openxmlformats.org/drawingml/2006/main">
              <a:ext uri="{FF2B5EF4-FFF2-40B4-BE49-F238E27FC236}">
                <a16:creationId xmlns:a16="http://schemas.microsoft.com/office/drawing/2014/main" id="{28ED6579-CACD-447A-B50D-E42D62E753A1}"/>
              </a:ext>
            </a:extLst>
          </p:cNvPr>
          <p:cNvSpPr>
            <a:spLocks xmlns:a="http://schemas.openxmlformats.org/drawingml/2006/main" noGrp="1"/>
          </p:cNvSpPr>
          <p:nvPr/>
        </p:nvSpPr>
        <p:spPr>
          <a:xfrm xmlns:a="http://schemas.openxmlformats.org/drawingml/2006/main">
            <a:off x="685800" y="3143250"/>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0" i="0">
                <a:solidFill>
                  <a:srgbClr val="123421"/>
                </a:solidFill>
              </a:defRPr>
            </a:pPr>
            <a:r>
              <a:rPr sz="2850" b="0" i="0">
                <a:solidFill>
                  <a:srgbClr val="123421"/>
                </a:solidFill>
              </a:rPr>
              <a:t>Rigor comes from the relationship among the question, evidence, method, analysis, and claim.</a:t>
            </a:r>
          </a:p>
        </p:txBody>
      </p:sp>
      <p:sp>
        <p:nvSpPr>
          <p:cNvPr id="4" name="">
            <a:extLst xmlns:a="http://schemas.openxmlformats.org/drawingml/2006/main">
              <a:ext uri="{FF2B5EF4-FFF2-40B4-BE49-F238E27FC236}">
                <a16:creationId xmlns:a16="http://schemas.microsoft.com/office/drawing/2014/main" id="{C8EF76A0-5795-46D9-A08F-7C0DF5945DBB}"/>
              </a:ext>
            </a:extLst>
          </p:cNvPr>
          <p:cNvSpPr>
            <a:spLocks xmlns:a="http://schemas.openxmlformats.org/drawingml/2006/main" noGrp="1"/>
          </p:cNvSpPr>
          <p:nvPr/>
        </p:nvSpPr>
        <p:spPr>
          <a:xfrm xmlns:a="http://schemas.openxmlformats.org/drawingml/2006/main">
            <a:off x="685800" y="5286375"/>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1D4A30"/>
                </a:solidFill>
              </a:defRPr>
            </a:pPr>
            <a:r>
              <a:rPr sz="1950" b="1" i="0">
                <a:solidFill>
                  <a:srgbClr val="1D4A30"/>
                </a:solidFill>
              </a:rPr>
              <a:t>Ask: What can this evidence support—and what can it not support?</a:t>
            </a:r>
          </a:p>
        </p:txBody>
      </p:sp>
      <p:sp>
        <p:nvSpPr>
          <p:cNvPr id="5" name="">
            <a:extLst xmlns:a="http://schemas.openxmlformats.org/drawingml/2006/main">
              <a:ext uri="{FF2B5EF4-FFF2-40B4-BE49-F238E27FC236}">
                <a16:creationId xmlns:a16="http://schemas.microsoft.com/office/drawing/2014/main" id="{90183C2A-6DFC-48D2-B0EB-C10AAFD49011}"/>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6A13C491-CC60-4451-BF0A-04D95275F57B}"/>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12</a:t>
            </a:r>
          </a:p>
        </p:txBody>
      </p:sp>
    </p:spTree>
    <p:extLst>
      <p:ext uri="{BB962C8B-B14F-4D97-AF65-F5344CB8AC3E}">
        <p14:creationId xmlns:p14="http://schemas.microsoft.com/office/powerpoint/2010/main" val="883496689"/>
      </p:ext>
    </p:extLst>
  </p:cSld>
</p:sld>
</file>

<file path=ppt/slides/slide13.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75DF7E-9B96-4198-968F-90C266A13B8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F64D74-176D-4E38-8D4D-E1B2D1FB81DD}"/>
              </a:ext>
            </a:extLst>
          </p:cNvPr>
          <p:cNvSpPr>
            <a:spLocks xmlns:a="http://schemas.openxmlformats.org/drawingml/2006/main" noGrp="1"/>
          </p:cNvSpPr>
          <p:nvPr/>
        </p:nvSpPr>
        <p:spPr>
          <a:xfrm xmlns:a="http://schemas.openxmlformats.org/drawingml/2006/main">
            <a:off x="685800" y="1600200"/>
            <a:ext cx="628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defRPr>
            </a:pPr>
            <a:r>
              <a:rPr sz="4350" b="1" i="0">
                <a:solidFill>
                  <a:srgbClr val="FFFFFF"/>
                </a:solidFill>
              </a:rPr>
              <a:t>10-MINUTE BREAK</a:t>
            </a:r>
          </a:p>
        </p:txBody>
      </p:sp>
      <p:sp>
        <p:nvSpPr>
          <p:cNvPr id="3" name="">
            <a:extLst xmlns:a="http://schemas.openxmlformats.org/drawingml/2006/main">
              <a:ext uri="{FF2B5EF4-FFF2-40B4-BE49-F238E27FC236}">
                <a16:creationId xmlns:a16="http://schemas.microsoft.com/office/drawing/2014/main" id="{7EF9857A-527E-45AE-93F5-FCAD9449D896}"/>
              </a:ext>
            </a:extLst>
          </p:cNvPr>
          <p:cNvSpPr>
            <a:spLocks xmlns:a="http://schemas.openxmlformats.org/drawingml/2006/main" noGrp="1"/>
          </p:cNvSpPr>
          <p:nvPr/>
        </p:nvSpPr>
        <p:spPr>
          <a:xfrm xmlns:a="http://schemas.openxmlformats.org/drawingml/2006/main">
            <a:off x="685800" y="2952750"/>
            <a:ext cx="914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0" i="0">
                <a:solidFill>
                  <a:srgbClr val="DCE8DF"/>
                </a:solidFill>
              </a:defRPr>
            </a:pPr>
            <a:r>
              <a:rPr sz="2325" b="0" i="0">
                <a:solidFill>
                  <a:srgbClr val="DCE8DF"/>
                </a:solidFill>
              </a:rPr>
              <a:t>When we return: one educational problem, three different studies.</a:t>
            </a:r>
          </a:p>
        </p:txBody>
      </p:sp>
      <p:sp>
        <p:nvSpPr>
          <p:cNvPr id="4" name="">
            <a:extLst xmlns:a="http://schemas.openxmlformats.org/drawingml/2006/main">
              <a:ext uri="{FF2B5EF4-FFF2-40B4-BE49-F238E27FC236}">
                <a16:creationId xmlns:a16="http://schemas.microsoft.com/office/drawing/2014/main" id="{1D61A4B0-CFFC-45B5-B0E9-5F0188983EBD}"/>
              </a:ext>
            </a:extLst>
          </p:cNvPr>
          <p:cNvSpPr>
            <a:spLocks xmlns:a="http://schemas.openxmlformats.org/drawingml/2006/main" noGrp="1"/>
          </p:cNvSpPr>
          <p:nvPr/>
        </p:nvSpPr>
        <p:spPr>
          <a:xfrm xmlns:a="http://schemas.openxmlformats.org/drawingml/2006/main">
            <a:off x="685800" y="49530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FFDB05"/>
                </a:solidFill>
              </a:defRPr>
            </a:pPr>
            <a:r>
              <a:rPr sz="2025" b="1" i="0">
                <a:solidFill>
                  <a:srgbClr val="FFDB05"/>
                </a:solidFill>
              </a:rPr>
              <a:t>Return at: __________</a:t>
            </a:r>
          </a:p>
        </p:txBody>
      </p:sp>
      <p:sp>
        <p:nvSpPr>
          <p:cNvPr id="5" name="">
            <a:extLst xmlns:a="http://schemas.openxmlformats.org/drawingml/2006/main">
              <a:ext uri="{FF2B5EF4-FFF2-40B4-BE49-F238E27FC236}">
                <a16:creationId xmlns:a16="http://schemas.microsoft.com/office/drawing/2014/main" id="{D9E5A515-217C-4448-8908-15E08D78C1C4}"/>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6" name="">
            <a:extLst xmlns:a="http://schemas.openxmlformats.org/drawingml/2006/main">
              <a:ext uri="{FF2B5EF4-FFF2-40B4-BE49-F238E27FC236}">
                <a16:creationId xmlns:a16="http://schemas.microsoft.com/office/drawing/2014/main" id="{9AAAB0F0-93D5-4926-8E4A-02844D2AFA25}"/>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13</a:t>
            </a:r>
          </a:p>
        </p:txBody>
      </p:sp>
    </p:spTree>
    <p:extLst>
      <p:ext uri="{BB962C8B-B14F-4D97-AF65-F5344CB8AC3E}">
        <p14:creationId xmlns:p14="http://schemas.microsoft.com/office/powerpoint/2010/main" val="1505541130"/>
      </p:ext>
    </p:extLst>
  </p:cSld>
</p:sld>
</file>

<file path=ppt/slides/slide14.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B7B9A8-6A6B-491E-B8D5-656D3A8DFD9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862948-5304-44C6-B8F0-6968D82C195C}"/>
              </a:ext>
            </a:extLst>
          </p:cNvPr>
          <p:cNvSpPr>
            <a:spLocks xmlns:a="http://schemas.openxmlformats.org/drawingml/2006/main" noGrp="1"/>
          </p:cNvSpPr>
          <p:nvPr/>
        </p:nvSpPr>
        <p:spPr>
          <a:xfrm xmlns:a="http://schemas.openxmlformats.org/drawingml/2006/main">
            <a:off x="685800" y="8763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PART II · BROAD RESEARCH APPROACHES</a:t>
            </a:r>
          </a:p>
        </p:txBody>
      </p:sp>
      <p:sp>
        <p:nvSpPr>
          <p:cNvPr id="3" name="">
            <a:extLst xmlns:a="http://schemas.openxmlformats.org/drawingml/2006/main">
              <a:ext uri="{FF2B5EF4-FFF2-40B4-BE49-F238E27FC236}">
                <a16:creationId xmlns:a16="http://schemas.microsoft.com/office/drawing/2014/main" id="{5683AC9A-88DF-456B-982E-CEAA131F3A6D}"/>
              </a:ext>
            </a:extLst>
          </p:cNvPr>
          <p:cNvSpPr>
            <a:spLocks xmlns:a="http://schemas.openxmlformats.org/drawingml/2006/main" noGrp="1"/>
          </p:cNvSpPr>
          <p:nvPr/>
        </p:nvSpPr>
        <p:spPr>
          <a:xfrm xmlns:a="http://schemas.openxmlformats.org/drawingml/2006/main">
            <a:off x="685800" y="160020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defRPr>
            </a:pPr>
            <a:r>
              <a:rPr sz="4350" b="1" i="0">
                <a:solidFill>
                  <a:srgbClr val="FFFFFF"/>
                </a:solidFill>
              </a:rPr>
              <a:t>Three approaches change the kind of question we ask</a:t>
            </a:r>
          </a:p>
        </p:txBody>
      </p:sp>
      <p:sp>
        <p:nvSpPr>
          <p:cNvPr id="4" name="">
            <a:extLst xmlns:a="http://schemas.openxmlformats.org/drawingml/2006/main">
              <a:ext uri="{FF2B5EF4-FFF2-40B4-BE49-F238E27FC236}">
                <a16:creationId xmlns:a16="http://schemas.microsoft.com/office/drawing/2014/main" id="{81139DAC-1E3C-4D0F-A330-62A28953375E}"/>
              </a:ext>
            </a:extLst>
          </p:cNvPr>
          <p:cNvSpPr>
            <a:spLocks xmlns:a="http://schemas.openxmlformats.org/drawingml/2006/main" noGrp="1"/>
          </p:cNvSpPr>
          <p:nvPr/>
        </p:nvSpPr>
        <p:spPr>
          <a:xfrm xmlns:a="http://schemas.openxmlformats.org/drawingml/2006/main">
            <a:off x="685800" y="4333875"/>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i="0">
                <a:solidFill>
                  <a:srgbClr val="DCE8DF"/>
                </a:solidFill>
              </a:defRPr>
            </a:pPr>
            <a:r>
              <a:rPr sz="1950" b="0" i="0">
                <a:solidFill>
                  <a:srgbClr val="DCE8DF"/>
                </a:solidFill>
              </a:rPr>
              <a:t>Quantitative, qualitative, and mixed methods do not merely collect different data; they enable different forms of understanding.</a:t>
            </a:r>
          </a:p>
        </p:txBody>
      </p:sp>
      <p:sp>
        <p:nvSpPr>
          <p:cNvPr id="5" name="">
            <a:extLst xmlns:a="http://schemas.openxmlformats.org/drawingml/2006/main">
              <a:ext uri="{FF2B5EF4-FFF2-40B4-BE49-F238E27FC236}">
                <a16:creationId xmlns:a16="http://schemas.microsoft.com/office/drawing/2014/main" id="{82813026-58A4-4144-AEB5-C5E8F841D780}"/>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6" name="">
            <a:extLst xmlns:a="http://schemas.openxmlformats.org/drawingml/2006/main">
              <a:ext uri="{FF2B5EF4-FFF2-40B4-BE49-F238E27FC236}">
                <a16:creationId xmlns:a16="http://schemas.microsoft.com/office/drawing/2014/main" id="{F456464C-111A-4EA2-886B-E00F007B9185}"/>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14</a:t>
            </a:r>
          </a:p>
        </p:txBody>
      </p:sp>
    </p:spTree>
    <p:extLst>
      <p:ext uri="{BB962C8B-B14F-4D97-AF65-F5344CB8AC3E}">
        <p14:creationId xmlns:p14="http://schemas.microsoft.com/office/powerpoint/2010/main" val="1416828018"/>
      </p:ext>
    </p:extLst>
  </p:cSld>
</p:sld>
</file>

<file path=ppt/slides/slide15.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18A6CDC-5D66-4D88-B384-4B075090750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EAE37A-7811-4EF9-B59D-D22C7444BC08}"/>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F832DE-AFD2-416E-9261-D9843D610F5D}"/>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QUANTITATIVE</a:t>
            </a:r>
          </a:p>
        </p:txBody>
      </p:sp>
      <p:sp>
        <p:nvSpPr>
          <p:cNvPr id="4" name="">
            <a:extLst xmlns:a="http://schemas.openxmlformats.org/drawingml/2006/main">
              <a:ext uri="{FF2B5EF4-FFF2-40B4-BE49-F238E27FC236}">
                <a16:creationId xmlns:a16="http://schemas.microsoft.com/office/drawing/2014/main" id="{C4CB8CE2-B87B-40DC-A80E-2BCF7C36E585}"/>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Quantitative studies examine patterns, differences, and relationships</a:t>
            </a:r>
          </a:p>
        </p:txBody>
      </p:sp>
      <p:sp>
        <p:nvSpPr>
          <p:cNvPr id="5" name="">
            <a:extLst xmlns:a="http://schemas.openxmlformats.org/drawingml/2006/main">
              <a:ext uri="{FF2B5EF4-FFF2-40B4-BE49-F238E27FC236}">
                <a16:creationId xmlns:a16="http://schemas.microsoft.com/office/drawing/2014/main" id="{8BA9604D-94D9-475F-A52B-B1199E4EDCAF}"/>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FD799ED8-5883-4601-A52D-E2430B487CE9}"/>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15</a:t>
            </a:r>
          </a:p>
        </p:txBody>
      </p:sp>
      <p:sp>
        <p:nvSpPr>
          <p:cNvPr id="7" name="">
            <a:extLst xmlns:a="http://schemas.openxmlformats.org/drawingml/2006/main">
              <a:ext uri="{FF2B5EF4-FFF2-40B4-BE49-F238E27FC236}">
                <a16:creationId xmlns:a16="http://schemas.microsoft.com/office/drawing/2014/main" id="{9D63E8EF-D7E8-4C1E-B81A-E4A3650BCA1F}"/>
              </a:ext>
            </a:extLst>
          </p:cNvPr>
          <p:cNvSpPr>
            <a:spLocks xmlns:a="http://schemas.openxmlformats.org/drawingml/2006/main" noGrp="1"/>
          </p:cNvSpPr>
          <p:nvPr/>
        </p:nvSpPr>
        <p:spPr>
          <a:xfrm xmlns:a="http://schemas.openxmlformats.org/drawingml/2006/main">
            <a:off x="723900" y="2143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275D38"/>
                </a:solidFill>
              </a:defRPr>
            </a:pPr>
            <a:r>
              <a:rPr sz="1350" b="1" i="0">
                <a:solidFill>
                  <a:srgbClr val="275D38"/>
                </a:solidFill>
              </a:rPr>
              <a:t>Typical questions</a:t>
            </a:r>
          </a:p>
        </p:txBody>
      </p:sp>
      <p:sp>
        <p:nvSpPr>
          <p:cNvPr id="8" name="">
            <a:extLst xmlns:a="http://schemas.openxmlformats.org/drawingml/2006/main">
              <a:ext uri="{FF2B5EF4-FFF2-40B4-BE49-F238E27FC236}">
                <a16:creationId xmlns:a16="http://schemas.microsoft.com/office/drawing/2014/main" id="{DF98FEB1-3C46-4279-ABF0-BA10B65F4680}"/>
              </a:ext>
            </a:extLst>
          </p:cNvPr>
          <p:cNvSpPr>
            <a:spLocks xmlns:a="http://schemas.openxmlformats.org/drawingml/2006/main" noGrp="1"/>
          </p:cNvSpPr>
          <p:nvPr/>
        </p:nvSpPr>
        <p:spPr>
          <a:xfrm xmlns:a="http://schemas.openxmlformats.org/drawingml/2006/main">
            <a:off x="723900" y="25717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23421"/>
                </a:solidFill>
              </a:defRPr>
            </a:pPr>
            <a:r>
              <a:rPr sz="2325" b="1" i="0">
                <a:solidFill>
                  <a:srgbClr val="123421"/>
                </a:solidFill>
              </a:rPr>
              <a:t>How much? How often? What predicts what? Does X relate to—or affect—Y?</a:t>
            </a:r>
          </a:p>
        </p:txBody>
      </p:sp>
      <p:sp>
        <p:nvSpPr>
          <p:cNvPr id="9" name="">
            <a:extLst xmlns:a="http://schemas.openxmlformats.org/drawingml/2006/main">
              <a:ext uri="{FF2B5EF4-FFF2-40B4-BE49-F238E27FC236}">
                <a16:creationId xmlns:a16="http://schemas.microsoft.com/office/drawing/2014/main" id="{BBC785A2-04C4-4EB0-9AC6-6E7E937755BE}"/>
              </a:ext>
            </a:extLst>
          </p:cNvPr>
          <p:cNvSpPr>
            <a:spLocks xmlns:a="http://schemas.openxmlformats.org/drawingml/2006/main" noGrp="1"/>
          </p:cNvSpPr>
          <p:nvPr/>
        </p:nvSpPr>
        <p:spPr>
          <a:xfrm xmlns:a="http://schemas.openxmlformats.org/drawingml/2006/main">
            <a:off x="6429375" y="2143125"/>
            <a:ext cx="4762500" cy="1809750"/>
          </a:xfrm>
          <a:prstGeom xmlns:a="http://schemas.openxmlformats.org/drawingml/2006/main" prst="roundRect">
            <a:avLst>
              <a:gd name="adj" fmla="val 6316"/>
            </a:avLst>
          </a:prstGeom>
          <a:solidFill xmlns:a="http://schemas.openxmlformats.org/drawingml/2006/main">
            <a:srgbClr val="E8F1EB"/>
          </a:solidFill>
          <a:ln xmlns:a="http://schemas.openxmlformats.org/drawingml/2006/main" w="19050">
            <a:solidFill>
              <a:srgbClr val="275D38"/>
            </a:solidFill>
            <a:prstDash val="solid"/>
          </a:ln>
        </p:spPr>
      </p:sp>
      <p:sp>
        <p:nvSpPr>
          <p:cNvPr id="10" name="">
            <a:extLst xmlns:a="http://schemas.openxmlformats.org/drawingml/2006/main">
              <a:ext uri="{FF2B5EF4-FFF2-40B4-BE49-F238E27FC236}">
                <a16:creationId xmlns:a16="http://schemas.microsoft.com/office/drawing/2014/main" id="{67BD91B0-A019-4751-BFDD-D3B4FBB11008}"/>
              </a:ext>
            </a:extLst>
          </p:cNvPr>
          <p:cNvSpPr>
            <a:spLocks xmlns:a="http://schemas.openxmlformats.org/drawingml/2006/main" noGrp="1"/>
          </p:cNvSpPr>
          <p:nvPr/>
        </p:nvSpPr>
        <p:spPr>
          <a:xfrm xmlns:a="http://schemas.openxmlformats.org/drawingml/2006/main">
            <a:off x="6619875" y="227647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EXAMPLE</a:t>
            </a:r>
          </a:p>
        </p:txBody>
      </p:sp>
      <p:sp>
        <p:nvSpPr>
          <p:cNvPr id="11" name="">
            <a:extLst xmlns:a="http://schemas.openxmlformats.org/drawingml/2006/main">
              <a:ext uri="{FF2B5EF4-FFF2-40B4-BE49-F238E27FC236}">
                <a16:creationId xmlns:a16="http://schemas.microsoft.com/office/drawing/2014/main" id="{C98291D2-02ED-4AA8-835F-C990BAF6421E}"/>
              </a:ext>
            </a:extLst>
          </p:cNvPr>
          <p:cNvSpPr>
            <a:spLocks xmlns:a="http://schemas.openxmlformats.org/drawingml/2006/main" noGrp="1"/>
          </p:cNvSpPr>
          <p:nvPr/>
        </p:nvSpPr>
        <p:spPr>
          <a:xfrm xmlns:a="http://schemas.openxmlformats.org/drawingml/2006/main">
            <a:off x="6619875" y="2581275"/>
            <a:ext cx="43815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Is frequency of generative-AI use associated with graduate students’ research-methods self-efficacy?</a:t>
            </a:r>
          </a:p>
        </p:txBody>
      </p:sp>
      <p:sp>
        <p:nvSpPr>
          <p:cNvPr id="12" name="">
            <a:extLst xmlns:a="http://schemas.openxmlformats.org/drawingml/2006/main">
              <a:ext uri="{FF2B5EF4-FFF2-40B4-BE49-F238E27FC236}">
                <a16:creationId xmlns:a16="http://schemas.microsoft.com/office/drawing/2014/main" id="{54E41C8B-A50E-4AB8-856D-04F6037F5800}"/>
              </a:ext>
            </a:extLst>
          </p:cNvPr>
          <p:cNvSpPr>
            <a:spLocks xmlns:a="http://schemas.openxmlformats.org/drawingml/2006/main" noGrp="1"/>
          </p:cNvSpPr>
          <p:nvPr/>
        </p:nvSpPr>
        <p:spPr>
          <a:xfrm xmlns:a="http://schemas.openxmlformats.org/drawingml/2006/main">
            <a:off x="904875" y="4762500"/>
            <a:ext cx="157162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13" name="">
            <a:extLst xmlns:a="http://schemas.openxmlformats.org/drawingml/2006/main">
              <a:ext uri="{FF2B5EF4-FFF2-40B4-BE49-F238E27FC236}">
                <a16:creationId xmlns:a16="http://schemas.microsoft.com/office/drawing/2014/main" id="{6D158BEA-18DA-469C-9C14-9E87B2F71BDE}"/>
              </a:ext>
            </a:extLst>
          </p:cNvPr>
          <p:cNvSpPr>
            <a:spLocks xmlns:a="http://schemas.openxmlformats.org/drawingml/2006/main" noGrp="1"/>
          </p:cNvSpPr>
          <p:nvPr/>
        </p:nvSpPr>
        <p:spPr>
          <a:xfrm xmlns:a="http://schemas.openxmlformats.org/drawingml/2006/main">
            <a:off x="981075" y="4943475"/>
            <a:ext cx="14192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Variables</a:t>
            </a:r>
          </a:p>
        </p:txBody>
      </p:sp>
      <p:sp>
        <p:nvSpPr>
          <p:cNvPr id="14" name="">
            <a:extLst xmlns:a="http://schemas.openxmlformats.org/drawingml/2006/main">
              <a:ext uri="{FF2B5EF4-FFF2-40B4-BE49-F238E27FC236}">
                <a16:creationId xmlns:a16="http://schemas.microsoft.com/office/drawing/2014/main" id="{28AE3282-1C2C-4EB4-B956-C37856EEBDC3}"/>
              </a:ext>
            </a:extLst>
          </p:cNvPr>
          <p:cNvSpPr>
            <a:spLocks xmlns:a="http://schemas.openxmlformats.org/drawingml/2006/main" noGrp="1"/>
          </p:cNvSpPr>
          <p:nvPr/>
        </p:nvSpPr>
        <p:spPr>
          <a:xfrm xmlns:a="http://schemas.openxmlformats.org/drawingml/2006/main">
            <a:off x="2524125"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15" name="">
            <a:extLst xmlns:a="http://schemas.openxmlformats.org/drawingml/2006/main">
              <a:ext uri="{FF2B5EF4-FFF2-40B4-BE49-F238E27FC236}">
                <a16:creationId xmlns:a16="http://schemas.microsoft.com/office/drawing/2014/main" id="{E1BB47B0-F7F0-42BB-AD1F-3A88B407A898}"/>
              </a:ext>
            </a:extLst>
          </p:cNvPr>
          <p:cNvSpPr>
            <a:spLocks xmlns:a="http://schemas.openxmlformats.org/drawingml/2006/main" noGrp="1"/>
          </p:cNvSpPr>
          <p:nvPr/>
        </p:nvSpPr>
        <p:spPr>
          <a:xfrm xmlns:a="http://schemas.openxmlformats.org/drawingml/2006/main">
            <a:off x="3000375" y="4762500"/>
            <a:ext cx="157162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16" name="">
            <a:extLst xmlns:a="http://schemas.openxmlformats.org/drawingml/2006/main">
              <a:ext uri="{FF2B5EF4-FFF2-40B4-BE49-F238E27FC236}">
                <a16:creationId xmlns:a16="http://schemas.microsoft.com/office/drawing/2014/main" id="{75E04993-2ECA-4DDF-A026-7D511FB2737A}"/>
              </a:ext>
            </a:extLst>
          </p:cNvPr>
          <p:cNvSpPr>
            <a:spLocks xmlns:a="http://schemas.openxmlformats.org/drawingml/2006/main" noGrp="1"/>
          </p:cNvSpPr>
          <p:nvPr/>
        </p:nvSpPr>
        <p:spPr>
          <a:xfrm xmlns:a="http://schemas.openxmlformats.org/drawingml/2006/main">
            <a:off x="3076575" y="4943475"/>
            <a:ext cx="14192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Measures</a:t>
            </a:r>
          </a:p>
        </p:txBody>
      </p:sp>
      <p:sp>
        <p:nvSpPr>
          <p:cNvPr id="17" name="">
            <a:extLst xmlns:a="http://schemas.openxmlformats.org/drawingml/2006/main">
              <a:ext uri="{FF2B5EF4-FFF2-40B4-BE49-F238E27FC236}">
                <a16:creationId xmlns:a16="http://schemas.microsoft.com/office/drawing/2014/main" id="{8EBCB9AA-B41C-427C-9200-DDE904E18EC9}"/>
              </a:ext>
            </a:extLst>
          </p:cNvPr>
          <p:cNvSpPr>
            <a:spLocks xmlns:a="http://schemas.openxmlformats.org/drawingml/2006/main" noGrp="1"/>
          </p:cNvSpPr>
          <p:nvPr/>
        </p:nvSpPr>
        <p:spPr>
          <a:xfrm xmlns:a="http://schemas.openxmlformats.org/drawingml/2006/main">
            <a:off x="4619625"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18" name="">
            <a:extLst xmlns:a="http://schemas.openxmlformats.org/drawingml/2006/main">
              <a:ext uri="{FF2B5EF4-FFF2-40B4-BE49-F238E27FC236}">
                <a16:creationId xmlns:a16="http://schemas.microsoft.com/office/drawing/2014/main" id="{98580C5B-920D-44F4-BCC8-44B767565CAB}"/>
              </a:ext>
            </a:extLst>
          </p:cNvPr>
          <p:cNvSpPr>
            <a:spLocks xmlns:a="http://schemas.openxmlformats.org/drawingml/2006/main" noGrp="1"/>
          </p:cNvSpPr>
          <p:nvPr/>
        </p:nvSpPr>
        <p:spPr>
          <a:xfrm xmlns:a="http://schemas.openxmlformats.org/drawingml/2006/main">
            <a:off x="5095875" y="4762500"/>
            <a:ext cx="157162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19" name="">
            <a:extLst xmlns:a="http://schemas.openxmlformats.org/drawingml/2006/main">
              <a:ext uri="{FF2B5EF4-FFF2-40B4-BE49-F238E27FC236}">
                <a16:creationId xmlns:a16="http://schemas.microsoft.com/office/drawing/2014/main" id="{AC0F86A6-A85C-449B-95A1-DAF068B0905B}"/>
              </a:ext>
            </a:extLst>
          </p:cNvPr>
          <p:cNvSpPr>
            <a:spLocks xmlns:a="http://schemas.openxmlformats.org/drawingml/2006/main" noGrp="1"/>
          </p:cNvSpPr>
          <p:nvPr/>
        </p:nvSpPr>
        <p:spPr>
          <a:xfrm xmlns:a="http://schemas.openxmlformats.org/drawingml/2006/main">
            <a:off x="5172075" y="4943475"/>
            <a:ext cx="14192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Numbers</a:t>
            </a:r>
          </a:p>
        </p:txBody>
      </p:sp>
      <p:sp>
        <p:nvSpPr>
          <p:cNvPr id="20" name="">
            <a:extLst xmlns:a="http://schemas.openxmlformats.org/drawingml/2006/main">
              <a:ext uri="{FF2B5EF4-FFF2-40B4-BE49-F238E27FC236}">
                <a16:creationId xmlns:a16="http://schemas.microsoft.com/office/drawing/2014/main" id="{5BC09A85-A030-4925-AF39-1A327AB4D269}"/>
              </a:ext>
            </a:extLst>
          </p:cNvPr>
          <p:cNvSpPr>
            <a:spLocks xmlns:a="http://schemas.openxmlformats.org/drawingml/2006/main" noGrp="1"/>
          </p:cNvSpPr>
          <p:nvPr/>
        </p:nvSpPr>
        <p:spPr>
          <a:xfrm xmlns:a="http://schemas.openxmlformats.org/drawingml/2006/main">
            <a:off x="6715125"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21" name="">
            <a:extLst xmlns:a="http://schemas.openxmlformats.org/drawingml/2006/main">
              <a:ext uri="{FF2B5EF4-FFF2-40B4-BE49-F238E27FC236}">
                <a16:creationId xmlns:a16="http://schemas.microsoft.com/office/drawing/2014/main" id="{523AA553-C6F9-47F2-A8BF-64031750D7A5}"/>
              </a:ext>
            </a:extLst>
          </p:cNvPr>
          <p:cNvSpPr>
            <a:spLocks xmlns:a="http://schemas.openxmlformats.org/drawingml/2006/main" noGrp="1"/>
          </p:cNvSpPr>
          <p:nvPr/>
        </p:nvSpPr>
        <p:spPr>
          <a:xfrm xmlns:a="http://schemas.openxmlformats.org/drawingml/2006/main">
            <a:off x="7191375" y="4762500"/>
            <a:ext cx="157162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22" name="">
            <a:extLst xmlns:a="http://schemas.openxmlformats.org/drawingml/2006/main">
              <a:ext uri="{FF2B5EF4-FFF2-40B4-BE49-F238E27FC236}">
                <a16:creationId xmlns:a16="http://schemas.microsoft.com/office/drawing/2014/main" id="{F60817A6-373B-46A6-8858-044A50D8898B}"/>
              </a:ext>
            </a:extLst>
          </p:cNvPr>
          <p:cNvSpPr>
            <a:spLocks xmlns:a="http://schemas.openxmlformats.org/drawingml/2006/main" noGrp="1"/>
          </p:cNvSpPr>
          <p:nvPr/>
        </p:nvSpPr>
        <p:spPr>
          <a:xfrm xmlns:a="http://schemas.openxmlformats.org/drawingml/2006/main">
            <a:off x="7267575" y="4943475"/>
            <a:ext cx="14192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Statistics</a:t>
            </a:r>
          </a:p>
        </p:txBody>
      </p:sp>
      <p:sp>
        <p:nvSpPr>
          <p:cNvPr id="23" name="">
            <a:extLst xmlns:a="http://schemas.openxmlformats.org/drawingml/2006/main">
              <a:ext uri="{FF2B5EF4-FFF2-40B4-BE49-F238E27FC236}">
                <a16:creationId xmlns:a16="http://schemas.microsoft.com/office/drawing/2014/main" id="{922181A1-F7B7-43B1-9D2B-BBA949DCC87A}"/>
              </a:ext>
            </a:extLst>
          </p:cNvPr>
          <p:cNvSpPr>
            <a:spLocks xmlns:a="http://schemas.openxmlformats.org/drawingml/2006/main" noGrp="1"/>
          </p:cNvSpPr>
          <p:nvPr/>
        </p:nvSpPr>
        <p:spPr>
          <a:xfrm xmlns:a="http://schemas.openxmlformats.org/drawingml/2006/main">
            <a:off x="8810625"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24" name="">
            <a:extLst xmlns:a="http://schemas.openxmlformats.org/drawingml/2006/main">
              <a:ext uri="{FF2B5EF4-FFF2-40B4-BE49-F238E27FC236}">
                <a16:creationId xmlns:a16="http://schemas.microsoft.com/office/drawing/2014/main" id="{3DEBE1A4-48FA-4746-A7FD-4D9B4DBABE4E}"/>
              </a:ext>
            </a:extLst>
          </p:cNvPr>
          <p:cNvSpPr>
            <a:spLocks xmlns:a="http://schemas.openxmlformats.org/drawingml/2006/main" noGrp="1"/>
          </p:cNvSpPr>
          <p:nvPr/>
        </p:nvSpPr>
        <p:spPr>
          <a:xfrm xmlns:a="http://schemas.openxmlformats.org/drawingml/2006/main">
            <a:off x="9286875" y="4762500"/>
            <a:ext cx="1571625" cy="609600"/>
          </a:xfrm>
          <a:prstGeom xmlns:a="http://schemas.openxmlformats.org/drawingml/2006/main" prst="roundRect">
            <a:avLst>
              <a:gd name="adj" fmla="val 12500"/>
            </a:avLst>
          </a:prstGeom>
          <a:solidFill xmlns:a="http://schemas.openxmlformats.org/drawingml/2006/main">
            <a:srgbClr val="FFDB05"/>
          </a:solidFill>
          <a:ln xmlns:a="http://schemas.openxmlformats.org/drawingml/2006/main" w="14288">
            <a:solidFill>
              <a:srgbClr val="275D38"/>
            </a:solidFill>
            <a:prstDash val="solid"/>
          </a:ln>
        </p:spPr>
      </p:sp>
      <p:sp>
        <p:nvSpPr>
          <p:cNvPr id="25" name="">
            <a:extLst xmlns:a="http://schemas.openxmlformats.org/drawingml/2006/main">
              <a:ext uri="{FF2B5EF4-FFF2-40B4-BE49-F238E27FC236}">
                <a16:creationId xmlns:a16="http://schemas.microsoft.com/office/drawing/2014/main" id="{F9B58EE9-D359-4352-A6CF-7D33BD37F6B9}"/>
              </a:ext>
            </a:extLst>
          </p:cNvPr>
          <p:cNvSpPr>
            <a:spLocks xmlns:a="http://schemas.openxmlformats.org/drawingml/2006/main" noGrp="1"/>
          </p:cNvSpPr>
          <p:nvPr/>
        </p:nvSpPr>
        <p:spPr>
          <a:xfrm xmlns:a="http://schemas.openxmlformats.org/drawingml/2006/main">
            <a:off x="9363075" y="4943475"/>
            <a:ext cx="14192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i="0">
                <a:solidFill>
                  <a:srgbClr val="123421"/>
                </a:solidFill>
              </a:defRPr>
            </a:pPr>
            <a:r>
              <a:rPr sz="1425" b="1" i="0">
                <a:solidFill>
                  <a:srgbClr val="123421"/>
                </a:solidFill>
              </a:rPr>
              <a:t>Inference</a:t>
            </a:r>
          </a:p>
        </p:txBody>
      </p:sp>
    </p:spTree>
    <p:extLst>
      <p:ext uri="{BB962C8B-B14F-4D97-AF65-F5344CB8AC3E}">
        <p14:creationId xmlns:p14="http://schemas.microsoft.com/office/powerpoint/2010/main" val="332281147"/>
      </p:ext>
    </p:extLst>
  </p:cSld>
</p:sld>
</file>

<file path=ppt/slides/slide16.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2A80480-E7D0-4CDB-81AA-0B193879463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7B623E-B5D1-4EA2-9E74-498CF6139E9D}"/>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B3E14E4-5F69-4389-B1BC-65B6BC90F6ED}"/>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QUALITATIVE</a:t>
            </a:r>
          </a:p>
        </p:txBody>
      </p:sp>
      <p:sp>
        <p:nvSpPr>
          <p:cNvPr id="4" name="">
            <a:extLst xmlns:a="http://schemas.openxmlformats.org/drawingml/2006/main">
              <a:ext uri="{FF2B5EF4-FFF2-40B4-BE49-F238E27FC236}">
                <a16:creationId xmlns:a16="http://schemas.microsoft.com/office/drawing/2014/main" id="{3A2D387A-41C8-42ED-907B-6020C956CA10}"/>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Qualitative studies examine meaning,</a:t>
            </a:r>
          </a:p>
          <a:p xmlns:a="http://schemas.openxmlformats.org/drawingml/2006/main">
            <a:pPr algn="l">
              <a:defRPr sz="3000" b="1" i="0">
                <a:solidFill>
                  <a:srgbClr val="123421"/>
                </a:solidFill>
              </a:defRPr>
            </a:pPr>
            <a:r>
              <a:rPr sz="3000" b="1" i="0">
                <a:solidFill>
                  <a:srgbClr val="123421"/>
                </a:solidFill>
              </a:rPr>
              <a:t>experience, and context</a:t>
            </a:r>
          </a:p>
        </p:txBody>
      </p:sp>
      <p:sp>
        <p:nvSpPr>
          <p:cNvPr id="5" name="">
            <a:extLst xmlns:a="http://schemas.openxmlformats.org/drawingml/2006/main">
              <a:ext uri="{FF2B5EF4-FFF2-40B4-BE49-F238E27FC236}">
                <a16:creationId xmlns:a16="http://schemas.microsoft.com/office/drawing/2014/main" id="{C38B46D8-F53D-45CA-8364-696F2929462B}"/>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2155ACB0-52CE-42AF-98C4-9FB17C0D1705}"/>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16</a:t>
            </a:r>
          </a:p>
        </p:txBody>
      </p:sp>
      <p:sp>
        <p:nvSpPr>
          <p:cNvPr id="7" name="">
            <a:extLst xmlns:a="http://schemas.openxmlformats.org/drawingml/2006/main">
              <a:ext uri="{FF2B5EF4-FFF2-40B4-BE49-F238E27FC236}">
                <a16:creationId xmlns:a16="http://schemas.microsoft.com/office/drawing/2014/main" id="{B9521D7E-18FF-46BD-BA74-A2A697B0B2C5}"/>
              </a:ext>
            </a:extLst>
          </p:cNvPr>
          <p:cNvSpPr>
            <a:spLocks xmlns:a="http://schemas.openxmlformats.org/drawingml/2006/main" noGrp="1"/>
          </p:cNvSpPr>
          <p:nvPr/>
        </p:nvSpPr>
        <p:spPr>
          <a:xfrm xmlns:a="http://schemas.openxmlformats.org/drawingml/2006/main">
            <a:off x="723900" y="21431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275D38"/>
                </a:solidFill>
              </a:defRPr>
            </a:pPr>
            <a:r>
              <a:rPr sz="1350" b="1" i="0">
                <a:solidFill>
                  <a:srgbClr val="275D38"/>
                </a:solidFill>
              </a:rPr>
              <a:t>Typical questions</a:t>
            </a:r>
          </a:p>
        </p:txBody>
      </p:sp>
      <p:sp>
        <p:nvSpPr>
          <p:cNvPr id="8" name="">
            <a:extLst xmlns:a="http://schemas.openxmlformats.org/drawingml/2006/main">
              <a:ext uri="{FF2B5EF4-FFF2-40B4-BE49-F238E27FC236}">
                <a16:creationId xmlns:a16="http://schemas.microsoft.com/office/drawing/2014/main" id="{95FC5145-5B3B-4C60-B334-E76D57591D16}"/>
              </a:ext>
            </a:extLst>
          </p:cNvPr>
          <p:cNvSpPr>
            <a:spLocks xmlns:a="http://schemas.openxmlformats.org/drawingml/2006/main" noGrp="1"/>
          </p:cNvSpPr>
          <p:nvPr/>
        </p:nvSpPr>
        <p:spPr>
          <a:xfrm xmlns:a="http://schemas.openxmlformats.org/drawingml/2006/main">
            <a:off x="723900" y="257175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23421"/>
                </a:solidFill>
              </a:defRPr>
            </a:pPr>
            <a:r>
              <a:rPr sz="2325" b="1" i="0">
                <a:solidFill>
                  <a:srgbClr val="123421"/>
                </a:solidFill>
              </a:rPr>
              <a:t>How do people experience, interpret, or make meaning of a phenomenon?</a:t>
            </a:r>
          </a:p>
        </p:txBody>
      </p:sp>
      <p:sp>
        <p:nvSpPr>
          <p:cNvPr id="9" name="">
            <a:extLst xmlns:a="http://schemas.openxmlformats.org/drawingml/2006/main">
              <a:ext uri="{FF2B5EF4-FFF2-40B4-BE49-F238E27FC236}">
                <a16:creationId xmlns:a16="http://schemas.microsoft.com/office/drawing/2014/main" id="{FAE9D263-2598-4ACE-A051-61BCEC832C58}"/>
              </a:ext>
            </a:extLst>
          </p:cNvPr>
          <p:cNvSpPr>
            <a:spLocks xmlns:a="http://schemas.openxmlformats.org/drawingml/2006/main" noGrp="1"/>
          </p:cNvSpPr>
          <p:nvPr/>
        </p:nvSpPr>
        <p:spPr>
          <a:xfrm xmlns:a="http://schemas.openxmlformats.org/drawingml/2006/main">
            <a:off x="6429375" y="2143125"/>
            <a:ext cx="4762500" cy="1809750"/>
          </a:xfrm>
          <a:prstGeom xmlns:a="http://schemas.openxmlformats.org/drawingml/2006/main" prst="roundRect">
            <a:avLst>
              <a:gd name="adj" fmla="val 6316"/>
            </a:avLst>
          </a:prstGeom>
          <a:solidFill xmlns:a="http://schemas.openxmlformats.org/drawingml/2006/main">
            <a:srgbClr val="FFF7BD"/>
          </a:solidFill>
          <a:ln xmlns:a="http://schemas.openxmlformats.org/drawingml/2006/main" w="19050">
            <a:solidFill>
              <a:srgbClr val="FFDB05"/>
            </a:solidFill>
            <a:prstDash val="solid"/>
          </a:ln>
        </p:spPr>
      </p:sp>
      <p:sp>
        <p:nvSpPr>
          <p:cNvPr id="10" name="">
            <a:extLst xmlns:a="http://schemas.openxmlformats.org/drawingml/2006/main">
              <a:ext uri="{FF2B5EF4-FFF2-40B4-BE49-F238E27FC236}">
                <a16:creationId xmlns:a16="http://schemas.microsoft.com/office/drawing/2014/main" id="{C55698FE-51B0-4C1E-82CB-358554E04142}"/>
              </a:ext>
            </a:extLst>
          </p:cNvPr>
          <p:cNvSpPr>
            <a:spLocks xmlns:a="http://schemas.openxmlformats.org/drawingml/2006/main" noGrp="1"/>
          </p:cNvSpPr>
          <p:nvPr/>
        </p:nvSpPr>
        <p:spPr>
          <a:xfrm xmlns:a="http://schemas.openxmlformats.org/drawingml/2006/main">
            <a:off x="6619875" y="2276475"/>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EXAMPLE</a:t>
            </a:r>
          </a:p>
        </p:txBody>
      </p:sp>
      <p:sp>
        <p:nvSpPr>
          <p:cNvPr id="11" name="">
            <a:extLst xmlns:a="http://schemas.openxmlformats.org/drawingml/2006/main">
              <a:ext uri="{FF2B5EF4-FFF2-40B4-BE49-F238E27FC236}">
                <a16:creationId xmlns:a16="http://schemas.microsoft.com/office/drawing/2014/main" id="{68DA1BDE-5E3B-40C0-8417-D1EFD92E6A43}"/>
              </a:ext>
            </a:extLst>
          </p:cNvPr>
          <p:cNvSpPr>
            <a:spLocks xmlns:a="http://schemas.openxmlformats.org/drawingml/2006/main" noGrp="1"/>
          </p:cNvSpPr>
          <p:nvPr/>
        </p:nvSpPr>
        <p:spPr>
          <a:xfrm xmlns:a="http://schemas.openxmlformats.org/drawingml/2006/main">
            <a:off x="6619875" y="2581275"/>
            <a:ext cx="43815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How do graduate students describe their experiences using generative AI while learning research methods?</a:t>
            </a:r>
          </a:p>
        </p:txBody>
      </p:sp>
      <p:sp>
        <p:nvSpPr>
          <p:cNvPr id="12" name="">
            <a:extLst xmlns:a="http://schemas.openxmlformats.org/drawingml/2006/main">
              <a:ext uri="{FF2B5EF4-FFF2-40B4-BE49-F238E27FC236}">
                <a16:creationId xmlns:a16="http://schemas.microsoft.com/office/drawing/2014/main" id="{6587F12F-5CAA-43B1-A65E-653B0CDB955E}"/>
              </a:ext>
            </a:extLst>
          </p:cNvPr>
          <p:cNvSpPr>
            <a:spLocks xmlns:a="http://schemas.openxmlformats.org/drawingml/2006/main" noGrp="1"/>
          </p:cNvSpPr>
          <p:nvPr/>
        </p:nvSpPr>
        <p:spPr>
          <a:xfrm xmlns:a="http://schemas.openxmlformats.org/drawingml/2006/main">
            <a:off x="704850" y="4762500"/>
            <a:ext cx="166687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13" name="">
            <a:extLst xmlns:a="http://schemas.openxmlformats.org/drawingml/2006/main">
              <a:ext uri="{FF2B5EF4-FFF2-40B4-BE49-F238E27FC236}">
                <a16:creationId xmlns:a16="http://schemas.microsoft.com/office/drawing/2014/main" id="{CA33FF02-2E2C-4265-B3D5-73441D370C92}"/>
              </a:ext>
            </a:extLst>
          </p:cNvPr>
          <p:cNvSpPr>
            <a:spLocks xmlns:a="http://schemas.openxmlformats.org/drawingml/2006/main" noGrp="1"/>
          </p:cNvSpPr>
          <p:nvPr/>
        </p:nvSpPr>
        <p:spPr>
          <a:xfrm xmlns:a="http://schemas.openxmlformats.org/drawingml/2006/main">
            <a:off x="781050" y="4876800"/>
            <a:ext cx="1514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23421"/>
                </a:solidFill>
              </a:defRPr>
            </a:pPr>
            <a:r>
              <a:rPr sz="1350" b="1" i="0">
                <a:solidFill>
                  <a:srgbClr val="123421"/>
                </a:solidFill>
              </a:rPr>
              <a:t>Experience</a:t>
            </a:r>
          </a:p>
        </p:txBody>
      </p:sp>
      <p:sp>
        <p:nvSpPr>
          <p:cNvPr id="14" name="">
            <a:extLst xmlns:a="http://schemas.openxmlformats.org/drawingml/2006/main">
              <a:ext uri="{FF2B5EF4-FFF2-40B4-BE49-F238E27FC236}">
                <a16:creationId xmlns:a16="http://schemas.microsoft.com/office/drawing/2014/main" id="{6D865CCE-20CB-42E3-9EF0-1430F6359DA3}"/>
              </a:ext>
            </a:extLst>
          </p:cNvPr>
          <p:cNvSpPr>
            <a:spLocks xmlns:a="http://schemas.openxmlformats.org/drawingml/2006/main" noGrp="1"/>
          </p:cNvSpPr>
          <p:nvPr/>
        </p:nvSpPr>
        <p:spPr>
          <a:xfrm xmlns:a="http://schemas.openxmlformats.org/drawingml/2006/main">
            <a:off x="2409825"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15" name="">
            <a:extLst xmlns:a="http://schemas.openxmlformats.org/drawingml/2006/main">
              <a:ext uri="{FF2B5EF4-FFF2-40B4-BE49-F238E27FC236}">
                <a16:creationId xmlns:a16="http://schemas.microsoft.com/office/drawing/2014/main" id="{D03FD9E5-D6AF-42C7-9D5A-9149347061CE}"/>
              </a:ext>
            </a:extLst>
          </p:cNvPr>
          <p:cNvSpPr>
            <a:spLocks xmlns:a="http://schemas.openxmlformats.org/drawingml/2006/main" noGrp="1"/>
          </p:cNvSpPr>
          <p:nvPr/>
        </p:nvSpPr>
        <p:spPr>
          <a:xfrm xmlns:a="http://schemas.openxmlformats.org/drawingml/2006/main">
            <a:off x="2886075" y="4762500"/>
            <a:ext cx="166687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16" name="">
            <a:extLst xmlns:a="http://schemas.openxmlformats.org/drawingml/2006/main">
              <a:ext uri="{FF2B5EF4-FFF2-40B4-BE49-F238E27FC236}">
                <a16:creationId xmlns:a16="http://schemas.microsoft.com/office/drawing/2014/main" id="{12F4DE6F-A1FF-4723-9AB5-CB601C876D14}"/>
              </a:ext>
            </a:extLst>
          </p:cNvPr>
          <p:cNvSpPr>
            <a:spLocks xmlns:a="http://schemas.openxmlformats.org/drawingml/2006/main" noGrp="1"/>
          </p:cNvSpPr>
          <p:nvPr/>
        </p:nvSpPr>
        <p:spPr>
          <a:xfrm xmlns:a="http://schemas.openxmlformats.org/drawingml/2006/main">
            <a:off x="2962275" y="4876800"/>
            <a:ext cx="1514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23421"/>
                </a:solidFill>
              </a:defRPr>
            </a:pPr>
            <a:r>
              <a:rPr sz="1350" b="1" i="0">
                <a:solidFill>
                  <a:srgbClr val="123421"/>
                </a:solidFill>
              </a:rPr>
              <a:t>Context</a:t>
            </a:r>
          </a:p>
        </p:txBody>
      </p:sp>
      <p:sp>
        <p:nvSpPr>
          <p:cNvPr id="17" name="">
            <a:extLst xmlns:a="http://schemas.openxmlformats.org/drawingml/2006/main">
              <a:ext uri="{FF2B5EF4-FFF2-40B4-BE49-F238E27FC236}">
                <a16:creationId xmlns:a16="http://schemas.microsoft.com/office/drawing/2014/main" id="{47B2D97E-024B-47A2-8C7B-4980A07CA8C0}"/>
              </a:ext>
            </a:extLst>
          </p:cNvPr>
          <p:cNvSpPr>
            <a:spLocks xmlns:a="http://schemas.openxmlformats.org/drawingml/2006/main" noGrp="1"/>
          </p:cNvSpPr>
          <p:nvPr/>
        </p:nvSpPr>
        <p:spPr>
          <a:xfrm xmlns:a="http://schemas.openxmlformats.org/drawingml/2006/main">
            <a:off x="4591050"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18" name="">
            <a:extLst xmlns:a="http://schemas.openxmlformats.org/drawingml/2006/main">
              <a:ext uri="{FF2B5EF4-FFF2-40B4-BE49-F238E27FC236}">
                <a16:creationId xmlns:a16="http://schemas.microsoft.com/office/drawing/2014/main" id="{F8B2030C-2B92-41E2-BDFE-229BC40B1172}"/>
              </a:ext>
            </a:extLst>
          </p:cNvPr>
          <p:cNvSpPr>
            <a:spLocks xmlns:a="http://schemas.openxmlformats.org/drawingml/2006/main" noGrp="1"/>
          </p:cNvSpPr>
          <p:nvPr/>
        </p:nvSpPr>
        <p:spPr>
          <a:xfrm xmlns:a="http://schemas.openxmlformats.org/drawingml/2006/main">
            <a:off x="5067300" y="4762500"/>
            <a:ext cx="166687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19" name="">
            <a:extLst xmlns:a="http://schemas.openxmlformats.org/drawingml/2006/main">
              <a:ext uri="{FF2B5EF4-FFF2-40B4-BE49-F238E27FC236}">
                <a16:creationId xmlns:a16="http://schemas.microsoft.com/office/drawing/2014/main" id="{029C6B9D-29A6-4F29-9A33-8DDC3E1E1088}"/>
              </a:ext>
            </a:extLst>
          </p:cNvPr>
          <p:cNvSpPr>
            <a:spLocks xmlns:a="http://schemas.openxmlformats.org/drawingml/2006/main" noGrp="1"/>
          </p:cNvSpPr>
          <p:nvPr/>
        </p:nvSpPr>
        <p:spPr>
          <a:xfrm xmlns:a="http://schemas.openxmlformats.org/drawingml/2006/main">
            <a:off x="5143500" y="4876800"/>
            <a:ext cx="1514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23421"/>
                </a:solidFill>
              </a:defRPr>
            </a:pPr>
            <a:r>
              <a:rPr sz="1350" b="1" i="0">
                <a:solidFill>
                  <a:srgbClr val="123421"/>
                </a:solidFill>
              </a:rPr>
              <a:t>Words / observations</a:t>
            </a:r>
          </a:p>
        </p:txBody>
      </p:sp>
      <p:sp>
        <p:nvSpPr>
          <p:cNvPr id="20" name="">
            <a:extLst xmlns:a="http://schemas.openxmlformats.org/drawingml/2006/main">
              <a:ext uri="{FF2B5EF4-FFF2-40B4-BE49-F238E27FC236}">
                <a16:creationId xmlns:a16="http://schemas.microsoft.com/office/drawing/2014/main" id="{9ED8B79D-D0FD-4F0D-9B8C-0019D950201A}"/>
              </a:ext>
            </a:extLst>
          </p:cNvPr>
          <p:cNvSpPr>
            <a:spLocks xmlns:a="http://schemas.openxmlformats.org/drawingml/2006/main" noGrp="1"/>
          </p:cNvSpPr>
          <p:nvPr/>
        </p:nvSpPr>
        <p:spPr>
          <a:xfrm xmlns:a="http://schemas.openxmlformats.org/drawingml/2006/main">
            <a:off x="6772275"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21" name="">
            <a:extLst xmlns:a="http://schemas.openxmlformats.org/drawingml/2006/main">
              <a:ext uri="{FF2B5EF4-FFF2-40B4-BE49-F238E27FC236}">
                <a16:creationId xmlns:a16="http://schemas.microsoft.com/office/drawing/2014/main" id="{1A07D512-3AF7-485A-A66D-B7A197F48AF4}"/>
              </a:ext>
            </a:extLst>
          </p:cNvPr>
          <p:cNvSpPr>
            <a:spLocks xmlns:a="http://schemas.openxmlformats.org/drawingml/2006/main" noGrp="1"/>
          </p:cNvSpPr>
          <p:nvPr/>
        </p:nvSpPr>
        <p:spPr>
          <a:xfrm xmlns:a="http://schemas.openxmlformats.org/drawingml/2006/main">
            <a:off x="7248525" y="4762500"/>
            <a:ext cx="1666875"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4288">
            <a:solidFill>
              <a:srgbClr val="275D38"/>
            </a:solidFill>
            <a:prstDash val="solid"/>
          </a:ln>
        </p:spPr>
      </p:sp>
      <p:sp>
        <p:nvSpPr>
          <p:cNvPr id="22" name="">
            <a:extLst xmlns:a="http://schemas.openxmlformats.org/drawingml/2006/main">
              <a:ext uri="{FF2B5EF4-FFF2-40B4-BE49-F238E27FC236}">
                <a16:creationId xmlns:a16="http://schemas.microsoft.com/office/drawing/2014/main" id="{5D219195-4BFF-4303-9137-1FFB2DD1E4E3}"/>
              </a:ext>
            </a:extLst>
          </p:cNvPr>
          <p:cNvSpPr>
            <a:spLocks xmlns:a="http://schemas.openxmlformats.org/drawingml/2006/main" noGrp="1"/>
          </p:cNvSpPr>
          <p:nvPr/>
        </p:nvSpPr>
        <p:spPr>
          <a:xfrm xmlns:a="http://schemas.openxmlformats.org/drawingml/2006/main">
            <a:off x="7324725" y="4876800"/>
            <a:ext cx="1514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23421"/>
                </a:solidFill>
              </a:defRPr>
            </a:pPr>
            <a:r>
              <a:rPr sz="1350" b="1" i="0">
                <a:solidFill>
                  <a:srgbClr val="123421"/>
                </a:solidFill>
              </a:rPr>
              <a:t>Interpretation</a:t>
            </a:r>
          </a:p>
        </p:txBody>
      </p:sp>
      <p:sp>
        <p:nvSpPr>
          <p:cNvPr id="23" name="">
            <a:extLst xmlns:a="http://schemas.openxmlformats.org/drawingml/2006/main">
              <a:ext uri="{FF2B5EF4-FFF2-40B4-BE49-F238E27FC236}">
                <a16:creationId xmlns:a16="http://schemas.microsoft.com/office/drawing/2014/main" id="{87B72393-1149-4130-9EB0-D7B65FBFC705}"/>
              </a:ext>
            </a:extLst>
          </p:cNvPr>
          <p:cNvSpPr>
            <a:spLocks xmlns:a="http://schemas.openxmlformats.org/drawingml/2006/main" noGrp="1"/>
          </p:cNvSpPr>
          <p:nvPr/>
        </p:nvSpPr>
        <p:spPr>
          <a:xfrm xmlns:a="http://schemas.openxmlformats.org/drawingml/2006/main">
            <a:off x="8953500" y="4848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i="0">
                <a:solidFill>
                  <a:srgbClr val="275D38"/>
                </a:solidFill>
              </a:defRPr>
            </a:pPr>
            <a:r>
              <a:rPr sz="1950" b="1" i="0">
                <a:solidFill>
                  <a:srgbClr val="275D38"/>
                </a:solidFill>
              </a:rPr>
              <a:t>→</a:t>
            </a:r>
          </a:p>
        </p:txBody>
      </p:sp>
      <p:sp>
        <p:nvSpPr>
          <p:cNvPr id="24" name="">
            <a:extLst xmlns:a="http://schemas.openxmlformats.org/drawingml/2006/main">
              <a:ext uri="{FF2B5EF4-FFF2-40B4-BE49-F238E27FC236}">
                <a16:creationId xmlns:a16="http://schemas.microsoft.com/office/drawing/2014/main" id="{1820D4AC-43A0-4A22-B162-E78EB2036479}"/>
              </a:ext>
            </a:extLst>
          </p:cNvPr>
          <p:cNvSpPr>
            <a:spLocks xmlns:a="http://schemas.openxmlformats.org/drawingml/2006/main" noGrp="1"/>
          </p:cNvSpPr>
          <p:nvPr/>
        </p:nvSpPr>
        <p:spPr>
          <a:xfrm xmlns:a="http://schemas.openxmlformats.org/drawingml/2006/main">
            <a:off x="9429750" y="4762500"/>
            <a:ext cx="1666875" cy="609600"/>
          </a:xfrm>
          <a:prstGeom xmlns:a="http://schemas.openxmlformats.org/drawingml/2006/main" prst="roundRect">
            <a:avLst>
              <a:gd name="adj" fmla="val 12500"/>
            </a:avLst>
          </a:prstGeom>
          <a:solidFill xmlns:a="http://schemas.openxmlformats.org/drawingml/2006/main">
            <a:srgbClr val="FFDB05"/>
          </a:solidFill>
          <a:ln xmlns:a="http://schemas.openxmlformats.org/drawingml/2006/main" w="14288">
            <a:solidFill>
              <a:srgbClr val="275D38"/>
            </a:solidFill>
            <a:prstDash val="solid"/>
          </a:ln>
        </p:spPr>
      </p:sp>
      <p:sp>
        <p:nvSpPr>
          <p:cNvPr id="25" name="">
            <a:extLst xmlns:a="http://schemas.openxmlformats.org/drawingml/2006/main">
              <a:ext uri="{FF2B5EF4-FFF2-40B4-BE49-F238E27FC236}">
                <a16:creationId xmlns:a16="http://schemas.microsoft.com/office/drawing/2014/main" id="{1F5FDDA4-DE4A-477E-BBC8-A136605D6F28}"/>
              </a:ext>
            </a:extLst>
          </p:cNvPr>
          <p:cNvSpPr>
            <a:spLocks xmlns:a="http://schemas.openxmlformats.org/drawingml/2006/main" noGrp="1"/>
          </p:cNvSpPr>
          <p:nvPr/>
        </p:nvSpPr>
        <p:spPr>
          <a:xfrm xmlns:a="http://schemas.openxmlformats.org/drawingml/2006/main">
            <a:off x="9505950" y="4876800"/>
            <a:ext cx="15144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123421"/>
                </a:solidFill>
              </a:defRPr>
            </a:pPr>
            <a:r>
              <a:rPr sz="1350" b="1" i="0">
                <a:solidFill>
                  <a:srgbClr val="123421"/>
                </a:solidFill>
              </a:rPr>
              <a:t>Meaning</a:t>
            </a:r>
          </a:p>
        </p:txBody>
      </p:sp>
    </p:spTree>
    <p:extLst>
      <p:ext uri="{BB962C8B-B14F-4D97-AF65-F5344CB8AC3E}">
        <p14:creationId xmlns:p14="http://schemas.microsoft.com/office/powerpoint/2010/main" val="1184268179"/>
      </p:ext>
    </p:extLst>
  </p:cSld>
</p:sld>
</file>

<file path=ppt/slides/slide17.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ECB30D-41F5-433E-BE20-B12A8E1C4AC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50668D-D9A9-4183-9476-10D18642DF94}"/>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4859FCA-CDE0-4C1E-850E-A90A1DBEA002}"/>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MIXED METHODS</a:t>
            </a:r>
          </a:p>
        </p:txBody>
      </p:sp>
      <p:sp>
        <p:nvSpPr>
          <p:cNvPr id="4" name="">
            <a:extLst xmlns:a="http://schemas.openxmlformats.org/drawingml/2006/main">
              <a:ext uri="{FF2B5EF4-FFF2-40B4-BE49-F238E27FC236}">
                <a16:creationId xmlns:a16="http://schemas.microsoft.com/office/drawing/2014/main" id="{3986D46C-BA19-478D-8BC3-63DF0E7BE7B3}"/>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Mixed methods uses integration to create added understanding</a:t>
            </a:r>
          </a:p>
        </p:txBody>
      </p:sp>
      <p:sp>
        <p:nvSpPr>
          <p:cNvPr id="5" name="">
            <a:extLst xmlns:a="http://schemas.openxmlformats.org/drawingml/2006/main">
              <a:ext uri="{FF2B5EF4-FFF2-40B4-BE49-F238E27FC236}">
                <a16:creationId xmlns:a16="http://schemas.microsoft.com/office/drawing/2014/main" id="{A65E1113-63FC-4644-BDD8-C8F12DB305F3}"/>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D7481F2D-34FC-444C-B366-B6F16054D7FA}"/>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17</a:t>
            </a:r>
          </a:p>
        </p:txBody>
      </p:sp>
      <p:sp>
        <p:nvSpPr>
          <p:cNvPr id="7" name="">
            <a:extLst xmlns:a="http://schemas.openxmlformats.org/drawingml/2006/main">
              <a:ext uri="{FF2B5EF4-FFF2-40B4-BE49-F238E27FC236}">
                <a16:creationId xmlns:a16="http://schemas.microsoft.com/office/drawing/2014/main" id="{5CC29F1A-90C7-4C2B-A663-CF4E7FCD301C}"/>
              </a:ext>
            </a:extLst>
          </p:cNvPr>
          <p:cNvSpPr>
            <a:spLocks xmlns:a="http://schemas.openxmlformats.org/drawingml/2006/main" noGrp="1"/>
          </p:cNvSpPr>
          <p:nvPr/>
        </p:nvSpPr>
        <p:spPr>
          <a:xfrm xmlns:a="http://schemas.openxmlformats.org/drawingml/2006/main">
            <a:off x="781050" y="2286000"/>
            <a:ext cx="3143250" cy="1809750"/>
          </a:xfrm>
          <a:prstGeom xmlns:a="http://schemas.openxmlformats.org/drawingml/2006/main" prst="roundRect">
            <a:avLst>
              <a:gd name="adj" fmla="val 6316"/>
            </a:avLst>
          </a:prstGeom>
          <a:solidFill xmlns:a="http://schemas.openxmlformats.org/drawingml/2006/main">
            <a:srgbClr val="E8F1EB"/>
          </a:solidFill>
          <a:ln xmlns:a="http://schemas.openxmlformats.org/drawingml/2006/main" w="19050">
            <a:solidFill>
              <a:srgbClr val="275D38"/>
            </a:solidFill>
            <a:prstDash val="solid"/>
          </a:ln>
        </p:spPr>
      </p:sp>
      <p:sp>
        <p:nvSpPr>
          <p:cNvPr id="8" name="">
            <a:extLst xmlns:a="http://schemas.openxmlformats.org/drawingml/2006/main">
              <a:ext uri="{FF2B5EF4-FFF2-40B4-BE49-F238E27FC236}">
                <a16:creationId xmlns:a16="http://schemas.microsoft.com/office/drawing/2014/main" id="{4AAE3A6A-A40B-4FF0-97BF-084D5680046B}"/>
              </a:ext>
            </a:extLst>
          </p:cNvPr>
          <p:cNvSpPr>
            <a:spLocks xmlns:a="http://schemas.openxmlformats.org/drawingml/2006/main" noGrp="1"/>
          </p:cNvSpPr>
          <p:nvPr/>
        </p:nvSpPr>
        <p:spPr>
          <a:xfrm xmlns:a="http://schemas.openxmlformats.org/drawingml/2006/main">
            <a:off x="971550" y="24193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QUANTITATIVE STRAND</a:t>
            </a:r>
          </a:p>
        </p:txBody>
      </p:sp>
      <p:sp>
        <p:nvSpPr>
          <p:cNvPr id="9" name="">
            <a:extLst xmlns:a="http://schemas.openxmlformats.org/drawingml/2006/main">
              <a:ext uri="{FF2B5EF4-FFF2-40B4-BE49-F238E27FC236}">
                <a16:creationId xmlns:a16="http://schemas.microsoft.com/office/drawing/2014/main" id="{24A65E91-3EF7-494E-86FD-CCE3F5E9B246}"/>
              </a:ext>
            </a:extLst>
          </p:cNvPr>
          <p:cNvSpPr>
            <a:spLocks xmlns:a="http://schemas.openxmlformats.org/drawingml/2006/main" noGrp="1"/>
          </p:cNvSpPr>
          <p:nvPr/>
        </p:nvSpPr>
        <p:spPr>
          <a:xfrm xmlns:a="http://schemas.openxmlformats.org/drawingml/2006/main">
            <a:off x="971550" y="2724150"/>
            <a:ext cx="27622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Which students use AI most frequently—and for what purposes?</a:t>
            </a:r>
          </a:p>
        </p:txBody>
      </p:sp>
      <p:sp>
        <p:nvSpPr>
          <p:cNvPr id="10" name="">
            <a:extLst xmlns:a="http://schemas.openxmlformats.org/drawingml/2006/main">
              <a:ext uri="{FF2B5EF4-FFF2-40B4-BE49-F238E27FC236}">
                <a16:creationId xmlns:a16="http://schemas.microsoft.com/office/drawing/2014/main" id="{C10C7CAE-E99B-4C35-B3F1-682098587C77}"/>
              </a:ext>
            </a:extLst>
          </p:cNvPr>
          <p:cNvSpPr>
            <a:spLocks xmlns:a="http://schemas.openxmlformats.org/drawingml/2006/main" noGrp="1"/>
          </p:cNvSpPr>
          <p:nvPr/>
        </p:nvSpPr>
        <p:spPr>
          <a:xfrm xmlns:a="http://schemas.openxmlformats.org/drawingml/2006/main">
            <a:off x="4048125" y="2943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i="0">
                <a:solidFill>
                  <a:srgbClr val="275D38"/>
                </a:solidFill>
              </a:defRPr>
            </a:pPr>
            <a:r>
              <a:rPr sz="3150" b="1" i="0">
                <a:solidFill>
                  <a:srgbClr val="275D38"/>
                </a:solidFill>
              </a:rPr>
              <a:t>→</a:t>
            </a:r>
          </a:p>
        </p:txBody>
      </p:sp>
      <p:sp>
        <p:nvSpPr>
          <p:cNvPr id="11" name="">
            <a:extLst xmlns:a="http://schemas.openxmlformats.org/drawingml/2006/main">
              <a:ext uri="{FF2B5EF4-FFF2-40B4-BE49-F238E27FC236}">
                <a16:creationId xmlns:a16="http://schemas.microsoft.com/office/drawing/2014/main" id="{851D2651-7643-43E5-962B-5946FE804D3F}"/>
              </a:ext>
            </a:extLst>
          </p:cNvPr>
          <p:cNvSpPr>
            <a:spLocks xmlns:a="http://schemas.openxmlformats.org/drawingml/2006/main" noGrp="1"/>
          </p:cNvSpPr>
          <p:nvPr/>
        </p:nvSpPr>
        <p:spPr>
          <a:xfrm xmlns:a="http://schemas.openxmlformats.org/drawingml/2006/main">
            <a:off x="4524375" y="2286000"/>
            <a:ext cx="31432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7DFD9"/>
            </a:solidFill>
            <a:prstDash val="solid"/>
          </a:ln>
        </p:spPr>
      </p:sp>
      <p:sp>
        <p:nvSpPr>
          <p:cNvPr id="12" name="">
            <a:extLst xmlns:a="http://schemas.openxmlformats.org/drawingml/2006/main">
              <a:ext uri="{FF2B5EF4-FFF2-40B4-BE49-F238E27FC236}">
                <a16:creationId xmlns:a16="http://schemas.microsoft.com/office/drawing/2014/main" id="{242C9D6E-C654-48F1-9024-C38160E0A0AF}"/>
              </a:ext>
            </a:extLst>
          </p:cNvPr>
          <p:cNvSpPr>
            <a:spLocks xmlns:a="http://schemas.openxmlformats.org/drawingml/2006/main" noGrp="1"/>
          </p:cNvSpPr>
          <p:nvPr/>
        </p:nvSpPr>
        <p:spPr>
          <a:xfrm xmlns:a="http://schemas.openxmlformats.org/drawingml/2006/main">
            <a:off x="4714875" y="24193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QUALITATIVE STRAND</a:t>
            </a:r>
          </a:p>
        </p:txBody>
      </p:sp>
      <p:sp>
        <p:nvSpPr>
          <p:cNvPr id="13" name="">
            <a:extLst xmlns:a="http://schemas.openxmlformats.org/drawingml/2006/main">
              <a:ext uri="{FF2B5EF4-FFF2-40B4-BE49-F238E27FC236}">
                <a16:creationId xmlns:a16="http://schemas.microsoft.com/office/drawing/2014/main" id="{46D8B4E1-EDFF-4185-9B0E-D423C1C4B3B2}"/>
              </a:ext>
            </a:extLst>
          </p:cNvPr>
          <p:cNvSpPr>
            <a:spLocks xmlns:a="http://schemas.openxmlformats.org/drawingml/2006/main" noGrp="1"/>
          </p:cNvSpPr>
          <p:nvPr/>
        </p:nvSpPr>
        <p:spPr>
          <a:xfrm xmlns:a="http://schemas.openxmlformats.org/drawingml/2006/main">
            <a:off x="4714875" y="2724150"/>
            <a:ext cx="27622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Why do particular use patterns exist, and how do students make decisions?</a:t>
            </a:r>
          </a:p>
        </p:txBody>
      </p:sp>
      <p:sp>
        <p:nvSpPr>
          <p:cNvPr id="14" name="">
            <a:extLst xmlns:a="http://schemas.openxmlformats.org/drawingml/2006/main">
              <a:ext uri="{FF2B5EF4-FFF2-40B4-BE49-F238E27FC236}">
                <a16:creationId xmlns:a16="http://schemas.microsoft.com/office/drawing/2014/main" id="{2205B48D-87A1-4DAD-80AA-40D820792A36}"/>
              </a:ext>
            </a:extLst>
          </p:cNvPr>
          <p:cNvSpPr>
            <a:spLocks xmlns:a="http://schemas.openxmlformats.org/drawingml/2006/main" noGrp="1"/>
          </p:cNvSpPr>
          <p:nvPr/>
        </p:nvSpPr>
        <p:spPr>
          <a:xfrm xmlns:a="http://schemas.openxmlformats.org/drawingml/2006/main">
            <a:off x="7810500" y="29432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i="0">
                <a:solidFill>
                  <a:srgbClr val="275D38"/>
                </a:solidFill>
              </a:defRPr>
            </a:pPr>
            <a:r>
              <a:rPr sz="3150" b="1" i="0">
                <a:solidFill>
                  <a:srgbClr val="275D38"/>
                </a:solidFill>
              </a:rPr>
              <a:t>→</a:t>
            </a:r>
          </a:p>
        </p:txBody>
      </p:sp>
      <p:sp>
        <p:nvSpPr>
          <p:cNvPr id="15" name="">
            <a:extLst xmlns:a="http://schemas.openxmlformats.org/drawingml/2006/main">
              <a:ext uri="{FF2B5EF4-FFF2-40B4-BE49-F238E27FC236}">
                <a16:creationId xmlns:a16="http://schemas.microsoft.com/office/drawing/2014/main" id="{C63420FB-1DA0-445A-8113-316DAC2F256F}"/>
              </a:ext>
            </a:extLst>
          </p:cNvPr>
          <p:cNvSpPr>
            <a:spLocks xmlns:a="http://schemas.openxmlformats.org/drawingml/2006/main" noGrp="1"/>
          </p:cNvSpPr>
          <p:nvPr/>
        </p:nvSpPr>
        <p:spPr>
          <a:xfrm xmlns:a="http://schemas.openxmlformats.org/drawingml/2006/main">
            <a:off x="8286750" y="2143125"/>
            <a:ext cx="3143250" cy="2095500"/>
          </a:xfrm>
          <a:prstGeom xmlns:a="http://schemas.openxmlformats.org/drawingml/2006/main" prst="roundRect">
            <a:avLst>
              <a:gd name="adj" fmla="val 5455"/>
            </a:avLst>
          </a:prstGeom>
          <a:solidFill xmlns:a="http://schemas.openxmlformats.org/drawingml/2006/main">
            <a:srgbClr val="FFF7BD"/>
          </a:solidFill>
          <a:ln xmlns:a="http://schemas.openxmlformats.org/drawingml/2006/main" w="19050">
            <a:solidFill>
              <a:srgbClr val="FFDB05"/>
            </a:solidFill>
            <a:prstDash val="solid"/>
          </a:ln>
        </p:spPr>
      </p:sp>
      <p:sp>
        <p:nvSpPr>
          <p:cNvPr id="16" name="">
            <a:extLst xmlns:a="http://schemas.openxmlformats.org/drawingml/2006/main">
              <a:ext uri="{FF2B5EF4-FFF2-40B4-BE49-F238E27FC236}">
                <a16:creationId xmlns:a16="http://schemas.microsoft.com/office/drawing/2014/main" id="{CD11248B-46BE-4DD1-9065-03AE8B2F6108}"/>
              </a:ext>
            </a:extLst>
          </p:cNvPr>
          <p:cNvSpPr>
            <a:spLocks xmlns:a="http://schemas.openxmlformats.org/drawingml/2006/main" noGrp="1"/>
          </p:cNvSpPr>
          <p:nvPr/>
        </p:nvSpPr>
        <p:spPr>
          <a:xfrm xmlns:a="http://schemas.openxmlformats.org/drawingml/2006/main">
            <a:off x="8477250" y="227647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INTEGRATION</a:t>
            </a:r>
          </a:p>
        </p:txBody>
      </p:sp>
      <p:sp>
        <p:nvSpPr>
          <p:cNvPr id="17" name="">
            <a:extLst xmlns:a="http://schemas.openxmlformats.org/drawingml/2006/main">
              <a:ext uri="{FF2B5EF4-FFF2-40B4-BE49-F238E27FC236}">
                <a16:creationId xmlns:a16="http://schemas.microsoft.com/office/drawing/2014/main" id="{D7C771DA-1131-4709-8C8A-AE6ECE6A4490}"/>
              </a:ext>
            </a:extLst>
          </p:cNvPr>
          <p:cNvSpPr>
            <a:spLocks xmlns:a="http://schemas.openxmlformats.org/drawingml/2006/main" noGrp="1"/>
          </p:cNvSpPr>
          <p:nvPr/>
        </p:nvSpPr>
        <p:spPr>
          <a:xfrm xmlns:a="http://schemas.openxmlformats.org/drawingml/2006/main">
            <a:off x="8477250" y="2581275"/>
            <a:ext cx="27622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What do both forms of evidence explain together that either alone would miss?</a:t>
            </a:r>
          </a:p>
        </p:txBody>
      </p:sp>
      <p:sp>
        <p:nvSpPr>
          <p:cNvPr id="18" name="">
            <a:extLst xmlns:a="http://schemas.openxmlformats.org/drawingml/2006/main">
              <a:ext uri="{FF2B5EF4-FFF2-40B4-BE49-F238E27FC236}">
                <a16:creationId xmlns:a16="http://schemas.microsoft.com/office/drawing/2014/main" id="{01499B2E-EAA2-4DD3-B485-83211056AF09}"/>
              </a:ext>
            </a:extLst>
          </p:cNvPr>
          <p:cNvSpPr>
            <a:spLocks xmlns:a="http://schemas.openxmlformats.org/drawingml/2006/main" noGrp="1"/>
          </p:cNvSpPr>
          <p:nvPr/>
        </p:nvSpPr>
        <p:spPr>
          <a:xfrm xmlns:a="http://schemas.openxmlformats.org/drawingml/2006/main">
            <a:off x="1428750" y="4905375"/>
            <a:ext cx="933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i="0">
                <a:solidFill>
                  <a:srgbClr val="123421"/>
                </a:solidFill>
              </a:defRPr>
            </a:pPr>
            <a:r>
              <a:rPr sz="2100" b="1" i="0">
                <a:solidFill>
                  <a:srgbClr val="123421"/>
                </a:solidFill>
              </a:rPr>
              <a:t>The defining feature is deliberate integration—not simply collecting two kinds of data.</a:t>
            </a:r>
          </a:p>
        </p:txBody>
      </p:sp>
    </p:spTree>
    <p:extLst>
      <p:ext uri="{BB962C8B-B14F-4D97-AF65-F5344CB8AC3E}">
        <p14:creationId xmlns:p14="http://schemas.microsoft.com/office/powerpoint/2010/main" val="2083266338"/>
      </p:ext>
    </p:extLst>
  </p:cSld>
</p:sld>
</file>

<file path=ppt/slides/slide18.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FD27839-0B30-4FCC-A1D1-922FA453DEE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92883B-270F-4904-B719-03F166A294BC}"/>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F34D6F-831D-403A-BE42-B59F6DD2AF61}"/>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MIXED METHODS</a:t>
            </a:r>
          </a:p>
        </p:txBody>
      </p:sp>
      <p:sp>
        <p:nvSpPr>
          <p:cNvPr id="4" name="">
            <a:extLst xmlns:a="http://schemas.openxmlformats.org/drawingml/2006/main">
              <a:ext uri="{FF2B5EF4-FFF2-40B4-BE49-F238E27FC236}">
                <a16:creationId xmlns:a16="http://schemas.microsoft.com/office/drawing/2014/main" id="{2530EC56-1CD2-4666-B789-E62CE7E03D55}"/>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Mixed methods is more than</a:t>
            </a:r>
          </a:p>
          <a:p xmlns:a="http://schemas.openxmlformats.org/drawingml/2006/main">
            <a:pPr algn="l">
              <a:defRPr sz="3000" b="1" i="0">
                <a:solidFill>
                  <a:srgbClr val="123421"/>
                </a:solidFill>
              </a:defRPr>
            </a:pPr>
            <a:r>
              <a:rPr sz="3000" b="1" i="0">
                <a:solidFill>
                  <a:srgbClr val="123421"/>
                </a:solidFill>
              </a:rPr>
              <a:t>two forms of data</a:t>
            </a:r>
          </a:p>
        </p:txBody>
      </p:sp>
      <p:sp>
        <p:nvSpPr>
          <p:cNvPr id="5" name="">
            <a:extLst xmlns:a="http://schemas.openxmlformats.org/drawingml/2006/main">
              <a:ext uri="{FF2B5EF4-FFF2-40B4-BE49-F238E27FC236}">
                <a16:creationId xmlns:a16="http://schemas.microsoft.com/office/drawing/2014/main" id="{6BAF1D58-2456-4AB8-9DC8-53A2E94C2CFE}"/>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A005E3CF-DE96-4047-A7CC-F4199D4E3BFC}"/>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18</a:t>
            </a:r>
          </a:p>
        </p:txBody>
      </p:sp>
      <p:sp>
        <p:nvSpPr>
          <p:cNvPr id="7" name="">
            <a:extLst xmlns:a="http://schemas.openxmlformats.org/drawingml/2006/main">
              <a:ext uri="{FF2B5EF4-FFF2-40B4-BE49-F238E27FC236}">
                <a16:creationId xmlns:a16="http://schemas.microsoft.com/office/drawing/2014/main" id="{791BDE65-068A-4A1D-B82E-07BC1060F443}"/>
              </a:ext>
            </a:extLst>
          </p:cNvPr>
          <p:cNvSpPr>
            <a:spLocks xmlns:a="http://schemas.openxmlformats.org/drawingml/2006/main" noGrp="1"/>
          </p:cNvSpPr>
          <p:nvPr/>
        </p:nvSpPr>
        <p:spPr>
          <a:xfrm xmlns:a="http://schemas.openxmlformats.org/drawingml/2006/main">
            <a:off x="809625" y="2238375"/>
            <a:ext cx="45720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190EFC52-EAC5-4AE5-B011-56429118981E}"/>
              </a:ext>
            </a:extLst>
          </p:cNvPr>
          <p:cNvSpPr>
            <a:spLocks xmlns:a="http://schemas.openxmlformats.org/drawingml/2006/main" noGrp="1"/>
          </p:cNvSpPr>
          <p:nvPr/>
        </p:nvSpPr>
        <p:spPr>
          <a:xfrm xmlns:a="http://schemas.openxmlformats.org/drawingml/2006/main">
            <a:off x="1000125" y="2371725"/>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A54F2B"/>
                </a:solidFill>
              </a:defRPr>
            </a:pPr>
            <a:r>
              <a:rPr sz="1200" b="1" i="0">
                <a:solidFill>
                  <a:srgbClr val="A54F2B"/>
                </a:solidFill>
              </a:rPr>
              <a:t>TWO PARALLEL ACTIVITIES</a:t>
            </a:r>
          </a:p>
        </p:txBody>
      </p:sp>
      <p:sp>
        <p:nvSpPr>
          <p:cNvPr id="9" name="">
            <a:extLst xmlns:a="http://schemas.openxmlformats.org/drawingml/2006/main">
              <a:ext uri="{FF2B5EF4-FFF2-40B4-BE49-F238E27FC236}">
                <a16:creationId xmlns:a16="http://schemas.microsoft.com/office/drawing/2014/main" id="{B9276493-900C-4A52-9B10-08ED27C3119E}"/>
              </a:ext>
            </a:extLst>
          </p:cNvPr>
          <p:cNvSpPr>
            <a:spLocks xmlns:a="http://schemas.openxmlformats.org/drawingml/2006/main" noGrp="1"/>
          </p:cNvSpPr>
          <p:nvPr/>
        </p:nvSpPr>
        <p:spPr>
          <a:xfrm xmlns:a="http://schemas.openxmlformats.org/drawingml/2006/main">
            <a:off x="1000125" y="2676525"/>
            <a:ext cx="41910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Survey results are reported.</a:t>
            </a:r>
          </a:p>
          <a:p xmlns:a="http://schemas.openxmlformats.org/drawingml/2006/main">
            <a:r>
              <a:t/>
            </a:r>
          </a:p>
          <a:p xmlns:a="http://schemas.openxmlformats.org/drawingml/2006/main">
            <a:pPr algn="l">
              <a:defRPr sz="1800" b="0" i="0">
                <a:solidFill>
                  <a:srgbClr val="17211B"/>
                </a:solidFill>
              </a:defRPr>
            </a:pPr>
            <a:r>
              <a:rPr sz="1800" b="0" i="0">
                <a:solidFill>
                  <a:srgbClr val="17211B"/>
                </a:solidFill>
              </a:rPr>
              <a:t>Interview themes are reported.</a:t>
            </a:r>
          </a:p>
          <a:p xmlns:a="http://schemas.openxmlformats.org/drawingml/2006/main">
            <a:r>
              <a:t/>
            </a:r>
          </a:p>
          <a:p xmlns:a="http://schemas.openxmlformats.org/drawingml/2006/main">
            <a:pPr algn="l">
              <a:defRPr sz="1800" b="0" i="0">
                <a:solidFill>
                  <a:srgbClr val="17211B"/>
                </a:solidFill>
              </a:defRPr>
            </a:pPr>
            <a:r>
              <a:rPr sz="1800" b="0" i="0">
                <a:solidFill>
                  <a:srgbClr val="17211B"/>
                </a:solidFill>
              </a:rPr>
              <a:t>The two accounts never inform or challenge one another.</a:t>
            </a:r>
          </a:p>
        </p:txBody>
      </p:sp>
      <p:sp>
        <p:nvSpPr>
          <p:cNvPr id="10" name="">
            <a:extLst xmlns:a="http://schemas.openxmlformats.org/drawingml/2006/main">
              <a:ext uri="{FF2B5EF4-FFF2-40B4-BE49-F238E27FC236}">
                <a16:creationId xmlns:a16="http://schemas.microsoft.com/office/drawing/2014/main" id="{8054C7CE-005E-4195-9384-1EFD0BAE3753}"/>
              </a:ext>
            </a:extLst>
          </p:cNvPr>
          <p:cNvSpPr>
            <a:spLocks xmlns:a="http://schemas.openxmlformats.org/drawingml/2006/main" noGrp="1"/>
          </p:cNvSpPr>
          <p:nvPr/>
        </p:nvSpPr>
        <p:spPr>
          <a:xfrm xmlns:a="http://schemas.openxmlformats.org/drawingml/2006/main">
            <a:off x="5667375" y="31432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900" b="1" i="0">
                <a:solidFill>
                  <a:srgbClr val="A54F2B"/>
                </a:solidFill>
              </a:defRPr>
            </a:pPr>
            <a:r>
              <a:rPr sz="3900" b="1" i="0">
                <a:solidFill>
                  <a:srgbClr val="A54F2B"/>
                </a:solidFill>
              </a:rPr>
              <a:t>≠</a:t>
            </a:r>
          </a:p>
        </p:txBody>
      </p:sp>
      <p:sp>
        <p:nvSpPr>
          <p:cNvPr id="11" name="">
            <a:extLst xmlns:a="http://schemas.openxmlformats.org/drawingml/2006/main">
              <a:ext uri="{FF2B5EF4-FFF2-40B4-BE49-F238E27FC236}">
                <a16:creationId xmlns:a16="http://schemas.microsoft.com/office/drawing/2014/main" id="{C8E3F237-A68B-4103-ABC9-FF2CD953E347}"/>
              </a:ext>
            </a:extLst>
          </p:cNvPr>
          <p:cNvSpPr>
            <a:spLocks xmlns:a="http://schemas.openxmlformats.org/drawingml/2006/main" noGrp="1"/>
          </p:cNvSpPr>
          <p:nvPr/>
        </p:nvSpPr>
        <p:spPr>
          <a:xfrm xmlns:a="http://schemas.openxmlformats.org/drawingml/2006/main">
            <a:off x="6762750" y="2238375"/>
            <a:ext cx="4572000" cy="2952750"/>
          </a:xfrm>
          <a:prstGeom xmlns:a="http://schemas.openxmlformats.org/drawingml/2006/main" prst="roundRect">
            <a:avLst>
              <a:gd name="adj" fmla="val 3871"/>
            </a:avLst>
          </a:prstGeom>
          <a:solidFill xmlns:a="http://schemas.openxmlformats.org/drawingml/2006/main">
            <a:srgbClr val="E8F1EB"/>
          </a:solidFill>
          <a:ln xmlns:a="http://schemas.openxmlformats.org/drawingml/2006/main" w="19050">
            <a:solidFill>
              <a:srgbClr val="275D38"/>
            </a:solidFill>
            <a:prstDash val="solid"/>
          </a:ln>
        </p:spPr>
      </p:sp>
      <p:sp>
        <p:nvSpPr>
          <p:cNvPr id="12" name="">
            <a:extLst xmlns:a="http://schemas.openxmlformats.org/drawingml/2006/main">
              <a:ext uri="{FF2B5EF4-FFF2-40B4-BE49-F238E27FC236}">
                <a16:creationId xmlns:a16="http://schemas.microsoft.com/office/drawing/2014/main" id="{3D71992D-53FA-4E9B-BF3F-4D84CC82A7B4}"/>
              </a:ext>
            </a:extLst>
          </p:cNvPr>
          <p:cNvSpPr>
            <a:spLocks xmlns:a="http://schemas.openxmlformats.org/drawingml/2006/main" noGrp="1"/>
          </p:cNvSpPr>
          <p:nvPr/>
        </p:nvSpPr>
        <p:spPr>
          <a:xfrm xmlns:a="http://schemas.openxmlformats.org/drawingml/2006/main">
            <a:off x="6953250" y="2371725"/>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INTEGRATED INFERENCE</a:t>
            </a:r>
          </a:p>
        </p:txBody>
      </p:sp>
      <p:sp>
        <p:nvSpPr>
          <p:cNvPr id="13" name="">
            <a:extLst xmlns:a="http://schemas.openxmlformats.org/drawingml/2006/main">
              <a:ext uri="{FF2B5EF4-FFF2-40B4-BE49-F238E27FC236}">
                <a16:creationId xmlns:a16="http://schemas.microsoft.com/office/drawing/2014/main" id="{7932AFFC-A4E6-439E-A658-03D6399B545C}"/>
              </a:ext>
            </a:extLst>
          </p:cNvPr>
          <p:cNvSpPr>
            <a:spLocks xmlns:a="http://schemas.openxmlformats.org/drawingml/2006/main" noGrp="1"/>
          </p:cNvSpPr>
          <p:nvPr/>
        </p:nvSpPr>
        <p:spPr>
          <a:xfrm xmlns:a="http://schemas.openxmlformats.org/drawingml/2006/main">
            <a:off x="6953250" y="2676525"/>
            <a:ext cx="41910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One strand shapes the other, findings are compared or combined, and the final interpretation explains what is learned from their relationship.</a:t>
            </a:r>
          </a:p>
        </p:txBody>
      </p:sp>
    </p:spTree>
    <p:extLst>
      <p:ext uri="{BB962C8B-B14F-4D97-AF65-F5344CB8AC3E}">
        <p14:creationId xmlns:p14="http://schemas.microsoft.com/office/powerpoint/2010/main" val="1622628531"/>
      </p:ext>
    </p:extLst>
  </p:cSld>
</p:sld>
</file>

<file path=ppt/slides/slide19.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973DC1-0EC8-4582-A2AA-115545F50B09}"/>
              </a:ext>
            </a:extLst>
          </p:cNvPr>
          <p:cNvSpPr>
            <a:spLocks xmlns:a="http://schemas.openxmlformats.org/drawingml/2006/main" noGrp="1"/>
          </p:cNvSpPr>
          <p:nvPr/>
        </p:nvSpPr>
        <p:spPr>
          <a:xfrm xmlns:a="http://schemas.openxmlformats.org/drawingml/2006/main">
            <a:off x="685800" y="609600"/>
            <a:ext cx="600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ACTIVITY 2 · SMALL GROUPS · 20 MINUTES</a:t>
            </a:r>
          </a:p>
        </p:txBody>
      </p:sp>
      <p:sp>
        <p:nvSpPr>
          <p:cNvPr id="2" name="">
            <a:extLst xmlns:a="http://schemas.openxmlformats.org/drawingml/2006/main">
              <a:ext uri="{FF2B5EF4-FFF2-40B4-BE49-F238E27FC236}">
                <a16:creationId xmlns:a16="http://schemas.microsoft.com/office/drawing/2014/main" id="{660D2F6F-4F17-481E-8162-A1716A973C66}"/>
              </a:ext>
            </a:extLst>
          </p:cNvPr>
          <p:cNvSpPr>
            <a:spLocks xmlns:a="http://schemas.openxmlformats.org/drawingml/2006/main" noGrp="1"/>
          </p:cNvSpPr>
          <p:nvPr/>
        </p:nvSpPr>
        <p:spPr>
          <a:xfrm xmlns:a="http://schemas.openxmlformats.org/drawingml/2006/main">
            <a:off x="685800" y="1190625"/>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i="0">
                <a:solidFill>
                  <a:srgbClr val="FFFFFF"/>
                </a:solidFill>
              </a:defRPr>
            </a:pPr>
            <a:r>
              <a:rPr sz="3900" b="1" i="0">
                <a:solidFill>
                  <a:srgbClr val="FFFFFF"/>
                </a:solidFill>
              </a:rPr>
              <a:t>One problem, three possible studies</a:t>
            </a:r>
          </a:p>
        </p:txBody>
      </p:sp>
      <p:sp>
        <p:nvSpPr>
          <p:cNvPr id="3" name="">
            <a:extLst xmlns:a="http://schemas.openxmlformats.org/drawingml/2006/main">
              <a:ext uri="{FF2B5EF4-FFF2-40B4-BE49-F238E27FC236}">
                <a16:creationId xmlns:a16="http://schemas.microsoft.com/office/drawing/2014/main" id="{E0126D2C-69A4-4A34-8446-9FDB8A7C9870}"/>
              </a:ext>
            </a:extLst>
          </p:cNvPr>
          <p:cNvSpPr>
            <a:spLocks xmlns:a="http://schemas.openxmlformats.org/drawingml/2006/main" noGrp="1"/>
          </p:cNvSpPr>
          <p:nvPr/>
        </p:nvSpPr>
        <p:spPr>
          <a:xfrm xmlns:a="http://schemas.openxmlformats.org/drawingml/2006/main">
            <a:off x="685800" y="2619375"/>
            <a:ext cx="10096500" cy="1428750"/>
          </a:xfrm>
          <a:prstGeom xmlns:a="http://schemas.openxmlformats.org/drawingml/2006/main" prst="roundRect">
            <a:avLst>
              <a:gd name="adj" fmla="val 8000"/>
            </a:avLst>
          </a:prstGeom>
          <a:solidFill xmlns:a="http://schemas.openxmlformats.org/drawingml/2006/main">
            <a:srgbClr val="1D4A30"/>
          </a:solidFill>
          <a:ln xmlns:a="http://schemas.openxmlformats.org/drawingml/2006/main" w="9525">
            <a:solidFill>
              <a:srgbClr val="5C8568"/>
            </a:solidFill>
            <a:prstDash val="solid"/>
          </a:ln>
        </p:spPr>
      </p:sp>
      <p:sp>
        <p:nvSpPr>
          <p:cNvPr id="4" name="">
            <a:extLst xmlns:a="http://schemas.openxmlformats.org/drawingml/2006/main">
              <a:ext uri="{FF2B5EF4-FFF2-40B4-BE49-F238E27FC236}">
                <a16:creationId xmlns:a16="http://schemas.microsoft.com/office/drawing/2014/main" id="{A123A156-8E96-4C52-AEA6-0926C80550B9}"/>
              </a:ext>
            </a:extLst>
          </p:cNvPr>
          <p:cNvSpPr>
            <a:spLocks xmlns:a="http://schemas.openxmlformats.org/drawingml/2006/main" noGrp="1"/>
          </p:cNvSpPr>
          <p:nvPr/>
        </p:nvSpPr>
        <p:spPr>
          <a:xfrm xmlns:a="http://schemas.openxmlformats.org/drawingml/2006/main">
            <a:off x="876300" y="2752725"/>
            <a:ext cx="971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FDB05"/>
                </a:solidFill>
              </a:defRPr>
            </a:pPr>
            <a:r>
              <a:rPr sz="1200" b="1" i="0">
                <a:solidFill>
                  <a:srgbClr val="FFDB05"/>
                </a:solidFill>
              </a:rPr>
              <a:t>EDUCATIONAL PROBLEM</a:t>
            </a:r>
          </a:p>
        </p:txBody>
      </p:sp>
      <p:sp>
        <p:nvSpPr>
          <p:cNvPr id="5" name="">
            <a:extLst xmlns:a="http://schemas.openxmlformats.org/drawingml/2006/main">
              <a:ext uri="{FF2B5EF4-FFF2-40B4-BE49-F238E27FC236}">
                <a16:creationId xmlns:a16="http://schemas.microsoft.com/office/drawing/2014/main" id="{AAA8C915-919F-4FF3-90E3-27A26C2F2137}"/>
              </a:ext>
            </a:extLst>
          </p:cNvPr>
          <p:cNvSpPr>
            <a:spLocks xmlns:a="http://schemas.openxmlformats.org/drawingml/2006/main" noGrp="1"/>
          </p:cNvSpPr>
          <p:nvPr/>
        </p:nvSpPr>
        <p:spPr>
          <a:xfrm xmlns:a="http://schemas.openxmlformats.org/drawingml/2006/main">
            <a:off x="876300" y="3057525"/>
            <a:ext cx="9715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0" i="0">
                <a:solidFill>
                  <a:srgbClr val="FFFFFF"/>
                </a:solidFill>
              </a:defRPr>
            </a:pPr>
            <a:r>
              <a:rPr sz="2175" b="0" i="0">
                <a:solidFill>
                  <a:srgbClr val="FFFFFF"/>
                </a:solidFill>
              </a:rPr>
              <a:t>Many first-year graduate students report anxiety about taking research-methods courses.</a:t>
            </a:r>
          </a:p>
        </p:txBody>
      </p:sp>
      <p:sp>
        <p:nvSpPr>
          <p:cNvPr id="6" name="">
            <a:extLst xmlns:a="http://schemas.openxmlformats.org/drawingml/2006/main">
              <a:ext uri="{FF2B5EF4-FFF2-40B4-BE49-F238E27FC236}">
                <a16:creationId xmlns:a16="http://schemas.microsoft.com/office/drawing/2014/main" id="{E0346D95-70DD-44EF-9634-3DA4B0ADD1B9}"/>
              </a:ext>
            </a:extLst>
          </p:cNvPr>
          <p:cNvSpPr>
            <a:spLocks xmlns:a="http://schemas.openxmlformats.org/drawingml/2006/main" noGrp="1"/>
          </p:cNvSpPr>
          <p:nvPr/>
        </p:nvSpPr>
        <p:spPr>
          <a:xfrm xmlns:a="http://schemas.openxmlformats.org/drawingml/2006/main">
            <a:off x="714375" y="4762500"/>
            <a:ext cx="9906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E4EFE7"/>
                </a:solidFill>
              </a:defRPr>
            </a:pPr>
            <a:r>
              <a:rPr sz="2100" b="1" i="0">
                <a:solidFill>
                  <a:srgbClr val="E4EFE7"/>
                </a:solidFill>
              </a:rPr>
              <a:t>Design a quantitative, qualitative, or mixed-methods study—and be ready to name one conclusion it could not justify.</a:t>
            </a:r>
          </a:p>
        </p:txBody>
      </p:sp>
      <p:sp>
        <p:nvSpPr>
          <p:cNvPr id="7" name="">
            <a:extLst xmlns:a="http://schemas.openxmlformats.org/drawingml/2006/main">
              <a:ext uri="{FF2B5EF4-FFF2-40B4-BE49-F238E27FC236}">
                <a16:creationId xmlns:a16="http://schemas.microsoft.com/office/drawing/2014/main" id="{34E4C88C-5F81-42C1-AC2C-E64316F073F0}"/>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8" name="">
            <a:extLst xmlns:a="http://schemas.openxmlformats.org/drawingml/2006/main">
              <a:ext uri="{FF2B5EF4-FFF2-40B4-BE49-F238E27FC236}">
                <a16:creationId xmlns:a16="http://schemas.microsoft.com/office/drawing/2014/main" id="{73017DB3-138D-4A01-9056-BAE790B840C9}"/>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19</a:t>
            </a:r>
          </a:p>
        </p:txBody>
      </p:sp>
    </p:spTree>
    <p:extLst>
      <p:ext uri="{BB962C8B-B14F-4D97-AF65-F5344CB8AC3E}">
        <p14:creationId xmlns:p14="http://schemas.microsoft.com/office/powerpoint/2010/main" val="305079069"/>
      </p:ext>
    </p:extLst>
  </p:cSld>
</p:sld>
</file>

<file path=ppt/slides/slide20.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E428AAF-4ADC-4180-80A5-348BA040DC3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9B3070-80D1-4EB8-8FF3-EF4ED3A5C245}"/>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3EFC8D-974E-4C6F-8BAF-EE0A9DAB68CA}"/>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ACTIVITY 2</a:t>
            </a:r>
          </a:p>
        </p:txBody>
      </p:sp>
      <p:sp>
        <p:nvSpPr>
          <p:cNvPr id="4" name="">
            <a:extLst xmlns:a="http://schemas.openxmlformats.org/drawingml/2006/main">
              <a:ext uri="{FF2B5EF4-FFF2-40B4-BE49-F238E27FC236}">
                <a16:creationId xmlns:a16="http://schemas.microsoft.com/office/drawing/2014/main" id="{21078866-1DC9-4BC9-AF75-76483C2BEB42}"/>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Build the study from the question outward</a:t>
            </a:r>
          </a:p>
        </p:txBody>
      </p:sp>
      <p:sp>
        <p:nvSpPr>
          <p:cNvPr id="5" name="">
            <a:extLst xmlns:a="http://schemas.openxmlformats.org/drawingml/2006/main">
              <a:ext uri="{FF2B5EF4-FFF2-40B4-BE49-F238E27FC236}">
                <a16:creationId xmlns:a16="http://schemas.microsoft.com/office/drawing/2014/main" id="{D2414727-1D00-4129-9B7B-D4F9AA93A1AF}"/>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06002AB2-2C08-47E0-AB4E-8D5C13321793}"/>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20</a:t>
            </a:r>
          </a:p>
        </p:txBody>
      </p:sp>
      <p:sp>
        <p:nvSpPr>
          <p:cNvPr id="7" name="">
            <a:extLst xmlns:a="http://schemas.openxmlformats.org/drawingml/2006/main">
              <a:ext uri="{FF2B5EF4-FFF2-40B4-BE49-F238E27FC236}">
                <a16:creationId xmlns:a16="http://schemas.microsoft.com/office/drawing/2014/main" id="{9FDD6A47-4FBF-4057-83B3-B10B5B2951B8}"/>
              </a:ext>
            </a:extLst>
          </p:cNvPr>
          <p:cNvSpPr>
            <a:spLocks xmlns:a="http://schemas.openxmlformats.org/drawingml/2006/main" noGrp="1"/>
          </p:cNvSpPr>
          <p:nvPr/>
        </p:nvSpPr>
        <p:spPr>
          <a:xfrm xmlns:a="http://schemas.openxmlformats.org/drawingml/2006/main">
            <a:off x="704850" y="2333625"/>
            <a:ext cx="1952625" cy="247650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29357533-E14F-4507-899C-A0E4DA9B4ABE}"/>
              </a:ext>
            </a:extLst>
          </p:cNvPr>
          <p:cNvSpPr>
            <a:spLocks xmlns:a="http://schemas.openxmlformats.org/drawingml/2006/main" noGrp="1"/>
          </p:cNvSpPr>
          <p:nvPr/>
        </p:nvSpPr>
        <p:spPr>
          <a:xfrm xmlns:a="http://schemas.openxmlformats.org/drawingml/2006/main">
            <a:off x="895350" y="24669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1 · PURPOSE</a:t>
            </a:r>
          </a:p>
        </p:txBody>
      </p:sp>
      <p:sp>
        <p:nvSpPr>
          <p:cNvPr id="9" name="">
            <a:extLst xmlns:a="http://schemas.openxmlformats.org/drawingml/2006/main">
              <a:ext uri="{FF2B5EF4-FFF2-40B4-BE49-F238E27FC236}">
                <a16:creationId xmlns:a16="http://schemas.microsoft.com/office/drawing/2014/main" id="{2000412C-C393-40E1-B749-D0B35B76D650}"/>
              </a:ext>
            </a:extLst>
          </p:cNvPr>
          <p:cNvSpPr>
            <a:spLocks xmlns:a="http://schemas.openxmlformats.org/drawingml/2006/main" noGrp="1"/>
          </p:cNvSpPr>
          <p:nvPr/>
        </p:nvSpPr>
        <p:spPr>
          <a:xfrm xmlns:a="http://schemas.openxmlformats.org/drawingml/2006/main">
            <a:off x="895350" y="2771775"/>
            <a:ext cx="1571625"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What would the study seek to understand, describe, explain, predict, or evaluate?</a:t>
            </a:r>
          </a:p>
        </p:txBody>
      </p:sp>
      <p:sp>
        <p:nvSpPr>
          <p:cNvPr id="10" name="">
            <a:extLst xmlns:a="http://schemas.openxmlformats.org/drawingml/2006/main">
              <a:ext uri="{FF2B5EF4-FFF2-40B4-BE49-F238E27FC236}">
                <a16:creationId xmlns:a16="http://schemas.microsoft.com/office/drawing/2014/main" id="{70938E1E-C353-48CF-AC73-CBA409C7ADD7}"/>
              </a:ext>
            </a:extLst>
          </p:cNvPr>
          <p:cNvSpPr>
            <a:spLocks xmlns:a="http://schemas.openxmlformats.org/drawingml/2006/main" noGrp="1"/>
          </p:cNvSpPr>
          <p:nvPr/>
        </p:nvSpPr>
        <p:spPr>
          <a:xfrm xmlns:a="http://schemas.openxmlformats.org/drawingml/2006/main">
            <a:off x="2628900" y="3286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275D38"/>
                </a:solidFill>
              </a:defRPr>
            </a:pPr>
            <a:r>
              <a:rPr sz="1800" b="1" i="0">
                <a:solidFill>
                  <a:srgbClr val="275D38"/>
                </a:solidFill>
              </a:rPr>
              <a:t>→</a:t>
            </a:r>
          </a:p>
        </p:txBody>
      </p:sp>
      <p:sp>
        <p:nvSpPr>
          <p:cNvPr id="11" name="">
            <a:extLst xmlns:a="http://schemas.openxmlformats.org/drawingml/2006/main">
              <a:ext uri="{FF2B5EF4-FFF2-40B4-BE49-F238E27FC236}">
                <a16:creationId xmlns:a16="http://schemas.microsoft.com/office/drawing/2014/main" id="{A1597F14-D502-45FF-8BA0-4F02F5644D3B}"/>
              </a:ext>
            </a:extLst>
          </p:cNvPr>
          <p:cNvSpPr>
            <a:spLocks xmlns:a="http://schemas.openxmlformats.org/drawingml/2006/main" noGrp="1"/>
          </p:cNvSpPr>
          <p:nvPr/>
        </p:nvSpPr>
        <p:spPr>
          <a:xfrm xmlns:a="http://schemas.openxmlformats.org/drawingml/2006/main">
            <a:off x="2914650" y="2333625"/>
            <a:ext cx="1952625" cy="2476500"/>
          </a:xfrm>
          <a:prstGeom xmlns:a="http://schemas.openxmlformats.org/drawingml/2006/main" prst="roundRect">
            <a:avLst>
              <a:gd name="adj" fmla="val 5854"/>
            </a:avLst>
          </a:prstGeom>
          <a:solidFill xmlns:a="http://schemas.openxmlformats.org/drawingml/2006/main">
            <a:srgbClr val="E8F1EB"/>
          </a:solidFill>
          <a:ln xmlns:a="http://schemas.openxmlformats.org/drawingml/2006/main" w="9525">
            <a:solidFill>
              <a:srgbClr val="D7DFD9"/>
            </a:solidFill>
            <a:prstDash val="solid"/>
          </a:ln>
        </p:spPr>
      </p:sp>
      <p:sp>
        <p:nvSpPr>
          <p:cNvPr id="12" name="">
            <a:extLst xmlns:a="http://schemas.openxmlformats.org/drawingml/2006/main">
              <a:ext uri="{FF2B5EF4-FFF2-40B4-BE49-F238E27FC236}">
                <a16:creationId xmlns:a16="http://schemas.microsoft.com/office/drawing/2014/main" id="{8A872650-DB52-4C10-B41F-78A7F521314C}"/>
              </a:ext>
            </a:extLst>
          </p:cNvPr>
          <p:cNvSpPr>
            <a:spLocks xmlns:a="http://schemas.openxmlformats.org/drawingml/2006/main" noGrp="1"/>
          </p:cNvSpPr>
          <p:nvPr/>
        </p:nvSpPr>
        <p:spPr>
          <a:xfrm xmlns:a="http://schemas.openxmlformats.org/drawingml/2006/main">
            <a:off x="3105150" y="24669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2 · QUESTION</a:t>
            </a:r>
          </a:p>
        </p:txBody>
      </p:sp>
      <p:sp>
        <p:nvSpPr>
          <p:cNvPr id="13" name="">
            <a:extLst xmlns:a="http://schemas.openxmlformats.org/drawingml/2006/main">
              <a:ext uri="{FF2B5EF4-FFF2-40B4-BE49-F238E27FC236}">
                <a16:creationId xmlns:a16="http://schemas.microsoft.com/office/drawing/2014/main" id="{51FA6F11-A48D-41A8-8DAE-70B6701E287D}"/>
              </a:ext>
            </a:extLst>
          </p:cNvPr>
          <p:cNvSpPr>
            <a:spLocks xmlns:a="http://schemas.openxmlformats.org/drawingml/2006/main" noGrp="1"/>
          </p:cNvSpPr>
          <p:nvPr/>
        </p:nvSpPr>
        <p:spPr>
          <a:xfrm xmlns:a="http://schemas.openxmlformats.org/drawingml/2006/main">
            <a:off x="3105150" y="2771775"/>
            <a:ext cx="1571625"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Write one research question that fits the assigned approach.</a:t>
            </a:r>
          </a:p>
        </p:txBody>
      </p:sp>
      <p:sp>
        <p:nvSpPr>
          <p:cNvPr id="14" name="">
            <a:extLst xmlns:a="http://schemas.openxmlformats.org/drawingml/2006/main">
              <a:ext uri="{FF2B5EF4-FFF2-40B4-BE49-F238E27FC236}">
                <a16:creationId xmlns:a16="http://schemas.microsoft.com/office/drawing/2014/main" id="{F3F6A7BE-2F5D-4B6D-AD64-B2843D08A475}"/>
              </a:ext>
            </a:extLst>
          </p:cNvPr>
          <p:cNvSpPr>
            <a:spLocks xmlns:a="http://schemas.openxmlformats.org/drawingml/2006/main" noGrp="1"/>
          </p:cNvSpPr>
          <p:nvPr/>
        </p:nvSpPr>
        <p:spPr>
          <a:xfrm xmlns:a="http://schemas.openxmlformats.org/drawingml/2006/main">
            <a:off x="4838700" y="3286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275D38"/>
                </a:solidFill>
              </a:defRPr>
            </a:pPr>
            <a:r>
              <a:rPr sz="1800" b="1" i="0">
                <a:solidFill>
                  <a:srgbClr val="275D38"/>
                </a:solidFill>
              </a:rPr>
              <a:t>→</a:t>
            </a:r>
          </a:p>
        </p:txBody>
      </p:sp>
      <p:sp>
        <p:nvSpPr>
          <p:cNvPr id="15" name="">
            <a:extLst xmlns:a="http://schemas.openxmlformats.org/drawingml/2006/main">
              <a:ext uri="{FF2B5EF4-FFF2-40B4-BE49-F238E27FC236}">
                <a16:creationId xmlns:a16="http://schemas.microsoft.com/office/drawing/2014/main" id="{D654F207-4958-428D-B743-782D58C96B3D}"/>
              </a:ext>
            </a:extLst>
          </p:cNvPr>
          <p:cNvSpPr>
            <a:spLocks xmlns:a="http://schemas.openxmlformats.org/drawingml/2006/main" noGrp="1"/>
          </p:cNvSpPr>
          <p:nvPr/>
        </p:nvSpPr>
        <p:spPr>
          <a:xfrm xmlns:a="http://schemas.openxmlformats.org/drawingml/2006/main">
            <a:off x="5124450" y="2333625"/>
            <a:ext cx="1952625" cy="247650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7DFD9"/>
            </a:solidFill>
            <a:prstDash val="solid"/>
          </a:ln>
        </p:spPr>
      </p:sp>
      <p:sp>
        <p:nvSpPr>
          <p:cNvPr id="16" name="">
            <a:extLst xmlns:a="http://schemas.openxmlformats.org/drawingml/2006/main">
              <a:ext uri="{FF2B5EF4-FFF2-40B4-BE49-F238E27FC236}">
                <a16:creationId xmlns:a16="http://schemas.microsoft.com/office/drawing/2014/main" id="{01E48489-4D86-4624-9557-863919AE44EB}"/>
              </a:ext>
            </a:extLst>
          </p:cNvPr>
          <p:cNvSpPr>
            <a:spLocks xmlns:a="http://schemas.openxmlformats.org/drawingml/2006/main" noGrp="1"/>
          </p:cNvSpPr>
          <p:nvPr/>
        </p:nvSpPr>
        <p:spPr>
          <a:xfrm xmlns:a="http://schemas.openxmlformats.org/drawingml/2006/main">
            <a:off x="5314950" y="24669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3 · EVIDENCE</a:t>
            </a:r>
          </a:p>
        </p:txBody>
      </p:sp>
      <p:sp>
        <p:nvSpPr>
          <p:cNvPr id="17" name="">
            <a:extLst xmlns:a="http://schemas.openxmlformats.org/drawingml/2006/main">
              <a:ext uri="{FF2B5EF4-FFF2-40B4-BE49-F238E27FC236}">
                <a16:creationId xmlns:a16="http://schemas.microsoft.com/office/drawing/2014/main" id="{76455E8F-4A49-4E56-B74C-A1BB8E6B4A8C}"/>
              </a:ext>
            </a:extLst>
          </p:cNvPr>
          <p:cNvSpPr>
            <a:spLocks xmlns:a="http://schemas.openxmlformats.org/drawingml/2006/main" noGrp="1"/>
          </p:cNvSpPr>
          <p:nvPr/>
        </p:nvSpPr>
        <p:spPr>
          <a:xfrm xmlns:a="http://schemas.openxmlformats.org/drawingml/2006/main">
            <a:off x="5314950" y="2771775"/>
            <a:ext cx="1571625"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Who or what would provide data—and what form would the data take?</a:t>
            </a:r>
          </a:p>
        </p:txBody>
      </p:sp>
      <p:sp>
        <p:nvSpPr>
          <p:cNvPr id="18" name="">
            <a:extLst xmlns:a="http://schemas.openxmlformats.org/drawingml/2006/main">
              <a:ext uri="{FF2B5EF4-FFF2-40B4-BE49-F238E27FC236}">
                <a16:creationId xmlns:a16="http://schemas.microsoft.com/office/drawing/2014/main" id="{3F4B8998-D74B-40C3-A92C-2944B420EE41}"/>
              </a:ext>
            </a:extLst>
          </p:cNvPr>
          <p:cNvSpPr>
            <a:spLocks xmlns:a="http://schemas.openxmlformats.org/drawingml/2006/main" noGrp="1"/>
          </p:cNvSpPr>
          <p:nvPr/>
        </p:nvSpPr>
        <p:spPr>
          <a:xfrm xmlns:a="http://schemas.openxmlformats.org/drawingml/2006/main">
            <a:off x="7048500" y="3286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275D38"/>
                </a:solidFill>
              </a:defRPr>
            </a:pPr>
            <a:r>
              <a:rPr sz="1800" b="1" i="0">
                <a:solidFill>
                  <a:srgbClr val="275D38"/>
                </a:solidFill>
              </a:rPr>
              <a:t>→</a:t>
            </a:r>
          </a:p>
        </p:txBody>
      </p:sp>
      <p:sp>
        <p:nvSpPr>
          <p:cNvPr id="19" name="">
            <a:extLst xmlns:a="http://schemas.openxmlformats.org/drawingml/2006/main">
              <a:ext uri="{FF2B5EF4-FFF2-40B4-BE49-F238E27FC236}">
                <a16:creationId xmlns:a16="http://schemas.microsoft.com/office/drawing/2014/main" id="{0969F93E-F4C3-4827-B2FC-42AF49B79BDD}"/>
              </a:ext>
            </a:extLst>
          </p:cNvPr>
          <p:cNvSpPr>
            <a:spLocks xmlns:a="http://schemas.openxmlformats.org/drawingml/2006/main" noGrp="1"/>
          </p:cNvSpPr>
          <p:nvPr/>
        </p:nvSpPr>
        <p:spPr>
          <a:xfrm xmlns:a="http://schemas.openxmlformats.org/drawingml/2006/main">
            <a:off x="7334250" y="2333625"/>
            <a:ext cx="1952625" cy="2476500"/>
          </a:xfrm>
          <a:prstGeom xmlns:a="http://schemas.openxmlformats.org/drawingml/2006/main" prst="roundRect">
            <a:avLst>
              <a:gd name="adj" fmla="val 5854"/>
            </a:avLst>
          </a:prstGeom>
          <a:solidFill xmlns:a="http://schemas.openxmlformats.org/drawingml/2006/main">
            <a:srgbClr val="E8F1EB"/>
          </a:solidFill>
          <a:ln xmlns:a="http://schemas.openxmlformats.org/drawingml/2006/main" w="9525">
            <a:solidFill>
              <a:srgbClr val="D7DFD9"/>
            </a:solidFill>
            <a:prstDash val="solid"/>
          </a:ln>
        </p:spPr>
      </p:sp>
      <p:sp>
        <p:nvSpPr>
          <p:cNvPr id="20" name="">
            <a:extLst xmlns:a="http://schemas.openxmlformats.org/drawingml/2006/main">
              <a:ext uri="{FF2B5EF4-FFF2-40B4-BE49-F238E27FC236}">
                <a16:creationId xmlns:a16="http://schemas.microsoft.com/office/drawing/2014/main" id="{E79B7C2B-1CF0-487A-BA22-F54BFA5F0B36}"/>
              </a:ext>
            </a:extLst>
          </p:cNvPr>
          <p:cNvSpPr>
            <a:spLocks xmlns:a="http://schemas.openxmlformats.org/drawingml/2006/main" noGrp="1"/>
          </p:cNvSpPr>
          <p:nvPr/>
        </p:nvSpPr>
        <p:spPr>
          <a:xfrm xmlns:a="http://schemas.openxmlformats.org/drawingml/2006/main">
            <a:off x="7524750" y="24669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4 · ANALYSIS</a:t>
            </a:r>
          </a:p>
        </p:txBody>
      </p:sp>
      <p:sp>
        <p:nvSpPr>
          <p:cNvPr id="21" name="">
            <a:extLst xmlns:a="http://schemas.openxmlformats.org/drawingml/2006/main">
              <a:ext uri="{FF2B5EF4-FFF2-40B4-BE49-F238E27FC236}">
                <a16:creationId xmlns:a16="http://schemas.microsoft.com/office/drawing/2014/main" id="{E1123F96-9F82-4CD3-84E1-941226930CF2}"/>
              </a:ext>
            </a:extLst>
          </p:cNvPr>
          <p:cNvSpPr>
            <a:spLocks xmlns:a="http://schemas.openxmlformats.org/drawingml/2006/main" noGrp="1"/>
          </p:cNvSpPr>
          <p:nvPr/>
        </p:nvSpPr>
        <p:spPr>
          <a:xfrm xmlns:a="http://schemas.openxmlformats.org/drawingml/2006/main">
            <a:off x="7524750" y="2771775"/>
            <a:ext cx="1571625"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What would you do with the data to answer the question?</a:t>
            </a:r>
          </a:p>
        </p:txBody>
      </p:sp>
      <p:sp>
        <p:nvSpPr>
          <p:cNvPr id="22" name="">
            <a:extLst xmlns:a="http://schemas.openxmlformats.org/drawingml/2006/main">
              <a:ext uri="{FF2B5EF4-FFF2-40B4-BE49-F238E27FC236}">
                <a16:creationId xmlns:a16="http://schemas.microsoft.com/office/drawing/2014/main" id="{87F7F379-B57C-47EB-8E6F-D1BB506AEA1F}"/>
              </a:ext>
            </a:extLst>
          </p:cNvPr>
          <p:cNvSpPr>
            <a:spLocks xmlns:a="http://schemas.openxmlformats.org/drawingml/2006/main" noGrp="1"/>
          </p:cNvSpPr>
          <p:nvPr/>
        </p:nvSpPr>
        <p:spPr>
          <a:xfrm xmlns:a="http://schemas.openxmlformats.org/drawingml/2006/main">
            <a:off x="9258300" y="3286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275D38"/>
                </a:solidFill>
              </a:defRPr>
            </a:pPr>
            <a:r>
              <a:rPr sz="1800" b="1" i="0">
                <a:solidFill>
                  <a:srgbClr val="275D38"/>
                </a:solidFill>
              </a:rPr>
              <a:t>→</a:t>
            </a:r>
          </a:p>
        </p:txBody>
      </p:sp>
      <p:sp>
        <p:nvSpPr>
          <p:cNvPr id="23" name="">
            <a:extLst xmlns:a="http://schemas.openxmlformats.org/drawingml/2006/main">
              <a:ext uri="{FF2B5EF4-FFF2-40B4-BE49-F238E27FC236}">
                <a16:creationId xmlns:a16="http://schemas.microsoft.com/office/drawing/2014/main" id="{A03853B4-3E0C-402B-8815-B5AFCEB7D148}"/>
              </a:ext>
            </a:extLst>
          </p:cNvPr>
          <p:cNvSpPr>
            <a:spLocks xmlns:a="http://schemas.openxmlformats.org/drawingml/2006/main" noGrp="1"/>
          </p:cNvSpPr>
          <p:nvPr/>
        </p:nvSpPr>
        <p:spPr>
          <a:xfrm xmlns:a="http://schemas.openxmlformats.org/drawingml/2006/main">
            <a:off x="9544050" y="2333625"/>
            <a:ext cx="1952625" cy="2476500"/>
          </a:xfrm>
          <a:prstGeom xmlns:a="http://schemas.openxmlformats.org/drawingml/2006/main" prst="roundRect">
            <a:avLst>
              <a:gd name="adj" fmla="val 5854"/>
            </a:avLst>
          </a:prstGeom>
          <a:solidFill xmlns:a="http://schemas.openxmlformats.org/drawingml/2006/main">
            <a:srgbClr val="FFF7BD"/>
          </a:solidFill>
          <a:ln xmlns:a="http://schemas.openxmlformats.org/drawingml/2006/main" w="19050">
            <a:solidFill>
              <a:srgbClr val="FFDB05"/>
            </a:solidFill>
            <a:prstDash val="solid"/>
          </a:ln>
        </p:spPr>
      </p:sp>
      <p:sp>
        <p:nvSpPr>
          <p:cNvPr id="24" name="">
            <a:extLst xmlns:a="http://schemas.openxmlformats.org/drawingml/2006/main">
              <a:ext uri="{FF2B5EF4-FFF2-40B4-BE49-F238E27FC236}">
                <a16:creationId xmlns:a16="http://schemas.microsoft.com/office/drawing/2014/main" id="{99A74695-0BDA-415B-BD08-A617C8148B3F}"/>
              </a:ext>
            </a:extLst>
          </p:cNvPr>
          <p:cNvSpPr>
            <a:spLocks xmlns:a="http://schemas.openxmlformats.org/drawingml/2006/main" noGrp="1"/>
          </p:cNvSpPr>
          <p:nvPr/>
        </p:nvSpPr>
        <p:spPr>
          <a:xfrm xmlns:a="http://schemas.openxmlformats.org/drawingml/2006/main">
            <a:off x="9734550" y="24669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5 · BOUNDARY</a:t>
            </a:r>
          </a:p>
        </p:txBody>
      </p:sp>
      <p:sp>
        <p:nvSpPr>
          <p:cNvPr id="25" name="">
            <a:extLst xmlns:a="http://schemas.openxmlformats.org/drawingml/2006/main">
              <a:ext uri="{FF2B5EF4-FFF2-40B4-BE49-F238E27FC236}">
                <a16:creationId xmlns:a16="http://schemas.microsoft.com/office/drawing/2014/main" id="{5D24E1D1-159A-4BC7-965B-DF6D6443E15E}"/>
              </a:ext>
            </a:extLst>
          </p:cNvPr>
          <p:cNvSpPr>
            <a:spLocks xmlns:a="http://schemas.openxmlformats.org/drawingml/2006/main" noGrp="1"/>
          </p:cNvSpPr>
          <p:nvPr/>
        </p:nvSpPr>
        <p:spPr>
          <a:xfrm xmlns:a="http://schemas.openxmlformats.org/drawingml/2006/main">
            <a:off x="9734550" y="2771775"/>
            <a:ext cx="1571625"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What important conclusion would the design not justify?</a:t>
            </a:r>
          </a:p>
        </p:txBody>
      </p:sp>
      <p:sp>
        <p:nvSpPr>
          <p:cNvPr id="26" name="">
            <a:extLst xmlns:a="http://schemas.openxmlformats.org/drawingml/2006/main">
              <a:ext uri="{FF2B5EF4-FFF2-40B4-BE49-F238E27FC236}">
                <a16:creationId xmlns:a16="http://schemas.microsoft.com/office/drawing/2014/main" id="{05656DE2-6C98-4AC6-B3D3-FAB0D5AACFDB}"/>
              </a:ext>
            </a:extLst>
          </p:cNvPr>
          <p:cNvSpPr>
            <a:spLocks xmlns:a="http://schemas.openxmlformats.org/drawingml/2006/main" noGrp="1"/>
          </p:cNvSpPr>
          <p:nvPr/>
        </p:nvSpPr>
        <p:spPr>
          <a:xfrm xmlns:a="http://schemas.openxmlformats.org/drawingml/2006/main">
            <a:off x="1857375" y="5334000"/>
            <a:ext cx="847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123421"/>
                </a:solidFill>
              </a:defRPr>
            </a:pPr>
            <a:r>
              <a:rPr sz="1875" b="1" i="0">
                <a:solidFill>
                  <a:srgbClr val="123421"/>
                </a:solidFill>
              </a:rPr>
              <a:t>Prepare a two-minute explanation of how the five decisions align.</a:t>
            </a:r>
          </a:p>
        </p:txBody>
      </p:sp>
    </p:spTree>
    <p:extLst>
      <p:ext uri="{BB962C8B-B14F-4D97-AF65-F5344CB8AC3E}">
        <p14:creationId xmlns:p14="http://schemas.microsoft.com/office/powerpoint/2010/main" val="1207447914"/>
      </p:ext>
    </p:extLst>
  </p:cSld>
</p:sld>
</file>

<file path=ppt/slides/slide21.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ACDD9D2-CD04-43FC-84A0-4F8DC179D00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C175B6-6B84-4744-BA31-C630B8CC2BEB}"/>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1E9532-8710-411C-BDAB-2327D7944AD0}"/>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ACTIVITY 2</a:t>
            </a:r>
          </a:p>
        </p:txBody>
      </p:sp>
      <p:sp>
        <p:nvSpPr>
          <p:cNvPr id="4" name="">
            <a:extLst xmlns:a="http://schemas.openxmlformats.org/drawingml/2006/main">
              <a:ext uri="{FF2B5EF4-FFF2-40B4-BE49-F238E27FC236}">
                <a16:creationId xmlns:a16="http://schemas.microsoft.com/office/drawing/2014/main" id="{FECA5FC6-DC59-4B24-8853-E67351325811}"/>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Compare the questions before comparing the methods</a:t>
            </a:r>
          </a:p>
        </p:txBody>
      </p:sp>
      <p:sp>
        <p:nvSpPr>
          <p:cNvPr id="5" name="">
            <a:extLst xmlns:a="http://schemas.openxmlformats.org/drawingml/2006/main">
              <a:ext uri="{FF2B5EF4-FFF2-40B4-BE49-F238E27FC236}">
                <a16:creationId xmlns:a16="http://schemas.microsoft.com/office/drawing/2014/main" id="{2571DF8B-95BF-4C6E-A046-43225DE06262}"/>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070A1A90-9223-446B-9EB5-EAE16FFB8AA3}"/>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21</a:t>
            </a:r>
          </a:p>
        </p:txBody>
      </p:sp>
      <p:sp>
        <p:nvSpPr>
          <p:cNvPr id="7" name="">
            <a:extLst xmlns:a="http://schemas.openxmlformats.org/drawingml/2006/main">
              <a:ext uri="{FF2B5EF4-FFF2-40B4-BE49-F238E27FC236}">
                <a16:creationId xmlns:a16="http://schemas.microsoft.com/office/drawing/2014/main" id="{9A2CFE88-B3FF-440B-99F9-A76DB667C193}"/>
              </a:ext>
            </a:extLst>
          </p:cNvPr>
          <p:cNvSpPr>
            <a:spLocks xmlns:a="http://schemas.openxmlformats.org/drawingml/2006/main" noGrp="1"/>
          </p:cNvSpPr>
          <p:nvPr/>
        </p:nvSpPr>
        <p:spPr>
          <a:xfrm xmlns:a="http://schemas.openxmlformats.org/drawingml/2006/main">
            <a:off x="685800" y="2333625"/>
            <a:ext cx="3333750" cy="2571750"/>
          </a:xfrm>
          <a:prstGeom xmlns:a="http://schemas.openxmlformats.org/drawingml/2006/main" prst="roundRect">
            <a:avLst>
              <a:gd name="adj" fmla="val 4444"/>
            </a:avLst>
          </a:prstGeom>
          <a:solidFill xmlns:a="http://schemas.openxmlformats.org/drawingml/2006/main">
            <a:srgbClr val="E8F1EB"/>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9F991597-9B61-49E2-9A83-ADD80FE62C61}"/>
              </a:ext>
            </a:extLst>
          </p:cNvPr>
          <p:cNvSpPr>
            <a:spLocks xmlns:a="http://schemas.openxmlformats.org/drawingml/2006/main" noGrp="1"/>
          </p:cNvSpPr>
          <p:nvPr/>
        </p:nvSpPr>
        <p:spPr>
          <a:xfrm xmlns:a="http://schemas.openxmlformats.org/drawingml/2006/main">
            <a:off x="876300" y="24669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QUANTITATIVE</a:t>
            </a:r>
          </a:p>
        </p:txBody>
      </p:sp>
      <p:sp>
        <p:nvSpPr>
          <p:cNvPr id="9" name="">
            <a:extLst xmlns:a="http://schemas.openxmlformats.org/drawingml/2006/main">
              <a:ext uri="{FF2B5EF4-FFF2-40B4-BE49-F238E27FC236}">
                <a16:creationId xmlns:a16="http://schemas.microsoft.com/office/drawing/2014/main" id="{3793F344-66DB-4DAA-A4CB-2CD2BE015EC3}"/>
              </a:ext>
            </a:extLst>
          </p:cNvPr>
          <p:cNvSpPr>
            <a:spLocks xmlns:a="http://schemas.openxmlformats.org/drawingml/2006/main" noGrp="1"/>
          </p:cNvSpPr>
          <p:nvPr/>
        </p:nvSpPr>
        <p:spPr>
          <a:xfrm xmlns:a="http://schemas.openxmlformats.org/drawingml/2006/main">
            <a:off x="876300" y="2771775"/>
            <a:ext cx="2952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Which patterns, differences, associations, or effects become visible?</a:t>
            </a:r>
          </a:p>
          <a:p xmlns:a="http://schemas.openxmlformats.org/drawingml/2006/main">
            <a:r>
              <a:t/>
            </a:r>
          </a:p>
          <a:p xmlns:a="http://schemas.openxmlformats.org/drawingml/2006/main">
            <a:pPr algn="l">
              <a:defRPr sz="1725" b="0" i="0">
                <a:solidFill>
                  <a:srgbClr val="17211B"/>
                </a:solidFill>
              </a:defRPr>
            </a:pPr>
            <a:r>
              <a:rPr sz="1725" b="0" i="0">
                <a:solidFill>
                  <a:srgbClr val="17211B"/>
                </a:solidFill>
              </a:rPr>
              <a:t>What remains unexplained?</a:t>
            </a:r>
          </a:p>
        </p:txBody>
      </p:sp>
      <p:sp>
        <p:nvSpPr>
          <p:cNvPr id="10" name="">
            <a:extLst xmlns:a="http://schemas.openxmlformats.org/drawingml/2006/main">
              <a:ext uri="{FF2B5EF4-FFF2-40B4-BE49-F238E27FC236}">
                <a16:creationId xmlns:a16="http://schemas.microsoft.com/office/drawing/2014/main" id="{A5B11207-39F6-44B1-9277-58D53C4FE762}"/>
              </a:ext>
            </a:extLst>
          </p:cNvPr>
          <p:cNvSpPr>
            <a:spLocks xmlns:a="http://schemas.openxmlformats.org/drawingml/2006/main" noGrp="1"/>
          </p:cNvSpPr>
          <p:nvPr/>
        </p:nvSpPr>
        <p:spPr>
          <a:xfrm xmlns:a="http://schemas.openxmlformats.org/drawingml/2006/main">
            <a:off x="4429125" y="2333625"/>
            <a:ext cx="333375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7DFD9"/>
            </a:solidFill>
            <a:prstDash val="solid"/>
          </a:ln>
        </p:spPr>
      </p:sp>
      <p:sp>
        <p:nvSpPr>
          <p:cNvPr id="11" name="">
            <a:extLst xmlns:a="http://schemas.openxmlformats.org/drawingml/2006/main">
              <a:ext uri="{FF2B5EF4-FFF2-40B4-BE49-F238E27FC236}">
                <a16:creationId xmlns:a16="http://schemas.microsoft.com/office/drawing/2014/main" id="{261465B0-606D-4ED1-9315-2637B09B54BB}"/>
              </a:ext>
            </a:extLst>
          </p:cNvPr>
          <p:cNvSpPr>
            <a:spLocks xmlns:a="http://schemas.openxmlformats.org/drawingml/2006/main" noGrp="1"/>
          </p:cNvSpPr>
          <p:nvPr/>
        </p:nvSpPr>
        <p:spPr>
          <a:xfrm xmlns:a="http://schemas.openxmlformats.org/drawingml/2006/main">
            <a:off x="4619625" y="24669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QUALITATIVE</a:t>
            </a:r>
          </a:p>
        </p:txBody>
      </p:sp>
      <p:sp>
        <p:nvSpPr>
          <p:cNvPr id="12" name="">
            <a:extLst xmlns:a="http://schemas.openxmlformats.org/drawingml/2006/main">
              <a:ext uri="{FF2B5EF4-FFF2-40B4-BE49-F238E27FC236}">
                <a16:creationId xmlns:a16="http://schemas.microsoft.com/office/drawing/2014/main" id="{9DFF1A79-9DC6-4FA6-AD93-5EC348DF2D7C}"/>
              </a:ext>
            </a:extLst>
          </p:cNvPr>
          <p:cNvSpPr>
            <a:spLocks xmlns:a="http://schemas.openxmlformats.org/drawingml/2006/main" noGrp="1"/>
          </p:cNvSpPr>
          <p:nvPr/>
        </p:nvSpPr>
        <p:spPr>
          <a:xfrm xmlns:a="http://schemas.openxmlformats.org/drawingml/2006/main">
            <a:off x="4619625" y="2771775"/>
            <a:ext cx="2952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Whose meanings, experiences, processes, or contexts become visible?</a:t>
            </a:r>
          </a:p>
          <a:p xmlns:a="http://schemas.openxmlformats.org/drawingml/2006/main">
            <a:r>
              <a:t/>
            </a:r>
          </a:p>
          <a:p xmlns:a="http://schemas.openxmlformats.org/drawingml/2006/main">
            <a:pPr algn="l">
              <a:defRPr sz="1725" b="0" i="0">
                <a:solidFill>
                  <a:srgbClr val="17211B"/>
                </a:solidFill>
              </a:defRPr>
            </a:pPr>
            <a:r>
              <a:rPr sz="1725" b="0" i="0">
                <a:solidFill>
                  <a:srgbClr val="17211B"/>
                </a:solidFill>
              </a:rPr>
              <a:t>What cannot be estimated?</a:t>
            </a:r>
          </a:p>
        </p:txBody>
      </p:sp>
      <p:sp>
        <p:nvSpPr>
          <p:cNvPr id="13" name="">
            <a:extLst xmlns:a="http://schemas.openxmlformats.org/drawingml/2006/main">
              <a:ext uri="{FF2B5EF4-FFF2-40B4-BE49-F238E27FC236}">
                <a16:creationId xmlns:a16="http://schemas.microsoft.com/office/drawing/2014/main" id="{814A617F-89F2-49CE-B2AD-75BBD9F717C6}"/>
              </a:ext>
            </a:extLst>
          </p:cNvPr>
          <p:cNvSpPr>
            <a:spLocks xmlns:a="http://schemas.openxmlformats.org/drawingml/2006/main" noGrp="1"/>
          </p:cNvSpPr>
          <p:nvPr/>
        </p:nvSpPr>
        <p:spPr>
          <a:xfrm xmlns:a="http://schemas.openxmlformats.org/drawingml/2006/main">
            <a:off x="8172450" y="2333625"/>
            <a:ext cx="3333750" cy="2571750"/>
          </a:xfrm>
          <a:prstGeom xmlns:a="http://schemas.openxmlformats.org/drawingml/2006/main" prst="roundRect">
            <a:avLst>
              <a:gd name="adj" fmla="val 4444"/>
            </a:avLst>
          </a:prstGeom>
          <a:solidFill xmlns:a="http://schemas.openxmlformats.org/drawingml/2006/main">
            <a:srgbClr val="FFF7BD"/>
          </a:solidFill>
          <a:ln xmlns:a="http://schemas.openxmlformats.org/drawingml/2006/main" w="19050">
            <a:solidFill>
              <a:srgbClr val="FFDB05"/>
            </a:solidFill>
            <a:prstDash val="solid"/>
          </a:ln>
        </p:spPr>
      </p:sp>
      <p:sp>
        <p:nvSpPr>
          <p:cNvPr id="14" name="">
            <a:extLst xmlns:a="http://schemas.openxmlformats.org/drawingml/2006/main">
              <a:ext uri="{FF2B5EF4-FFF2-40B4-BE49-F238E27FC236}">
                <a16:creationId xmlns:a16="http://schemas.microsoft.com/office/drawing/2014/main" id="{2DBC1DD3-60E1-465B-9EF1-A79FA454C92E}"/>
              </a:ext>
            </a:extLst>
          </p:cNvPr>
          <p:cNvSpPr>
            <a:spLocks xmlns:a="http://schemas.openxmlformats.org/drawingml/2006/main" noGrp="1"/>
          </p:cNvSpPr>
          <p:nvPr/>
        </p:nvSpPr>
        <p:spPr>
          <a:xfrm xmlns:a="http://schemas.openxmlformats.org/drawingml/2006/main">
            <a:off x="8362950" y="24669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MIXED METHODS</a:t>
            </a:r>
          </a:p>
        </p:txBody>
      </p:sp>
      <p:sp>
        <p:nvSpPr>
          <p:cNvPr id="15" name="">
            <a:extLst xmlns:a="http://schemas.openxmlformats.org/drawingml/2006/main">
              <a:ext uri="{FF2B5EF4-FFF2-40B4-BE49-F238E27FC236}">
                <a16:creationId xmlns:a16="http://schemas.microsoft.com/office/drawing/2014/main" id="{50033FC1-0418-46D0-9F28-5B1A8BCB1EA4}"/>
              </a:ext>
            </a:extLst>
          </p:cNvPr>
          <p:cNvSpPr>
            <a:spLocks xmlns:a="http://schemas.openxmlformats.org/drawingml/2006/main" noGrp="1"/>
          </p:cNvSpPr>
          <p:nvPr/>
        </p:nvSpPr>
        <p:spPr>
          <a:xfrm xmlns:a="http://schemas.openxmlformats.org/drawingml/2006/main">
            <a:off x="8362950" y="2771775"/>
            <a:ext cx="2952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What added understanding comes from integration?</a:t>
            </a:r>
          </a:p>
          <a:p xmlns:a="http://schemas.openxmlformats.org/drawingml/2006/main">
            <a:r>
              <a:t/>
            </a:r>
          </a:p>
          <a:p xmlns:a="http://schemas.openxmlformats.org/drawingml/2006/main">
            <a:pPr algn="l">
              <a:defRPr sz="1725" b="0" i="0">
                <a:solidFill>
                  <a:srgbClr val="17211B"/>
                </a:solidFill>
              </a:defRPr>
            </a:pPr>
            <a:r>
              <a:rPr sz="1725" b="0" i="0">
                <a:solidFill>
                  <a:srgbClr val="17211B"/>
                </a:solidFill>
              </a:rPr>
              <a:t>Was mixing actually necessary?</a:t>
            </a:r>
          </a:p>
        </p:txBody>
      </p:sp>
      <p:sp>
        <p:nvSpPr>
          <p:cNvPr id="16" name="">
            <a:extLst xmlns:a="http://schemas.openxmlformats.org/drawingml/2006/main">
              <a:ext uri="{FF2B5EF4-FFF2-40B4-BE49-F238E27FC236}">
                <a16:creationId xmlns:a16="http://schemas.microsoft.com/office/drawing/2014/main" id="{122D153C-BC59-4D5B-9345-C9C940FAC2E3}"/>
              </a:ext>
            </a:extLst>
          </p:cNvPr>
          <p:cNvSpPr>
            <a:spLocks xmlns:a="http://schemas.openxmlformats.org/drawingml/2006/main" noGrp="1"/>
          </p:cNvSpPr>
          <p:nvPr/>
        </p:nvSpPr>
        <p:spPr>
          <a:xfrm xmlns:a="http://schemas.openxmlformats.org/drawingml/2006/main">
            <a:off x="1428750" y="5286375"/>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i="0">
                <a:solidFill>
                  <a:srgbClr val="123421"/>
                </a:solidFill>
              </a:defRPr>
            </a:pPr>
            <a:r>
              <a:rPr sz="2025" b="1" i="0">
                <a:solidFill>
                  <a:srgbClr val="123421"/>
                </a:solidFill>
              </a:rPr>
              <a:t>Different approaches can be rigorous because they answer different kinds of questions.</a:t>
            </a:r>
          </a:p>
        </p:txBody>
      </p:sp>
    </p:spTree>
    <p:extLst>
      <p:ext uri="{BB962C8B-B14F-4D97-AF65-F5344CB8AC3E}">
        <p14:creationId xmlns:p14="http://schemas.microsoft.com/office/powerpoint/2010/main" val="381002886"/>
      </p:ext>
    </p:extLst>
  </p:cSld>
</p:sld>
</file>

<file path=ppt/slides/slide22.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656C0F-E11D-4B7F-A633-01B79FCD4C1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BB52FB-0D88-4D75-B340-C347B0DEB830}"/>
              </a:ext>
            </a:extLst>
          </p:cNvPr>
          <p:cNvSpPr>
            <a:spLocks xmlns:a="http://schemas.openxmlformats.org/drawingml/2006/main" noGrp="1"/>
          </p:cNvSpPr>
          <p:nvPr/>
        </p:nvSpPr>
        <p:spPr>
          <a:xfrm xmlns:a="http://schemas.openxmlformats.org/drawingml/2006/main">
            <a:off x="685800" y="8763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PART III · ASSUMPTIONS AND POSITIONALITY</a:t>
            </a:r>
          </a:p>
        </p:txBody>
      </p:sp>
      <p:sp>
        <p:nvSpPr>
          <p:cNvPr id="3" name="">
            <a:extLst xmlns:a="http://schemas.openxmlformats.org/drawingml/2006/main">
              <a:ext uri="{FF2B5EF4-FFF2-40B4-BE49-F238E27FC236}">
                <a16:creationId xmlns:a16="http://schemas.microsoft.com/office/drawing/2014/main" id="{05533A38-BBF3-4600-BF3C-13328D2A213F}"/>
              </a:ext>
            </a:extLst>
          </p:cNvPr>
          <p:cNvSpPr>
            <a:spLocks xmlns:a="http://schemas.openxmlformats.org/drawingml/2006/main" noGrp="1"/>
          </p:cNvSpPr>
          <p:nvPr/>
        </p:nvSpPr>
        <p:spPr>
          <a:xfrm xmlns:a="http://schemas.openxmlformats.org/drawingml/2006/main">
            <a:off x="685800" y="160020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defRPr>
            </a:pPr>
            <a:r>
              <a:rPr sz="4350" b="1" i="0">
                <a:solidFill>
                  <a:srgbClr val="FFFFFF"/>
                </a:solidFill>
              </a:rPr>
              <a:t>Before we choose a method, we already hold assumptions</a:t>
            </a:r>
          </a:p>
        </p:txBody>
      </p:sp>
      <p:sp>
        <p:nvSpPr>
          <p:cNvPr id="4" name="">
            <a:extLst xmlns:a="http://schemas.openxmlformats.org/drawingml/2006/main">
              <a:ext uri="{FF2B5EF4-FFF2-40B4-BE49-F238E27FC236}">
                <a16:creationId xmlns:a16="http://schemas.microsoft.com/office/drawing/2014/main" id="{BB5A489D-2548-4B1F-B3C7-5B5639BAC96D}"/>
              </a:ext>
            </a:extLst>
          </p:cNvPr>
          <p:cNvSpPr>
            <a:spLocks xmlns:a="http://schemas.openxmlformats.org/drawingml/2006/main" noGrp="1"/>
          </p:cNvSpPr>
          <p:nvPr/>
        </p:nvSpPr>
        <p:spPr>
          <a:xfrm xmlns:a="http://schemas.openxmlformats.org/drawingml/2006/main">
            <a:off x="685800" y="4333875"/>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i="0">
                <a:solidFill>
                  <a:srgbClr val="DCE8DF"/>
                </a:solidFill>
              </a:defRPr>
            </a:pPr>
            <a:r>
              <a:rPr sz="1950" b="0" i="0">
                <a:solidFill>
                  <a:srgbClr val="DCE8DF"/>
                </a:solidFill>
              </a:rPr>
              <a:t>What is real? What counts as knowledge? What role do values play? How should knowledge be produced?</a:t>
            </a:r>
          </a:p>
        </p:txBody>
      </p:sp>
      <p:sp>
        <p:nvSpPr>
          <p:cNvPr id="5" name="">
            <a:extLst xmlns:a="http://schemas.openxmlformats.org/drawingml/2006/main">
              <a:ext uri="{FF2B5EF4-FFF2-40B4-BE49-F238E27FC236}">
                <a16:creationId xmlns:a16="http://schemas.microsoft.com/office/drawing/2014/main" id="{8EE087E5-7A26-4FAF-A51B-C48FB76FD352}"/>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6" name="">
            <a:extLst xmlns:a="http://schemas.openxmlformats.org/drawingml/2006/main">
              <a:ext uri="{FF2B5EF4-FFF2-40B4-BE49-F238E27FC236}">
                <a16:creationId xmlns:a16="http://schemas.microsoft.com/office/drawing/2014/main" id="{A5DA42BF-653B-4470-ADBA-8F7E63FEF6E6}"/>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22</a:t>
            </a:r>
          </a:p>
        </p:txBody>
      </p:sp>
    </p:spTree>
    <p:extLst>
      <p:ext uri="{BB962C8B-B14F-4D97-AF65-F5344CB8AC3E}">
        <p14:creationId xmlns:p14="http://schemas.microsoft.com/office/powerpoint/2010/main" val="273880450"/>
      </p:ext>
    </p:extLst>
  </p:cSld>
</p:sld>
</file>

<file path=ppt/slides/slide23.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18C0E7D-37A4-4DDD-908C-38542852955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86C098-EB3F-41EB-9396-3D60F61D0671}"/>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63396A4-3C6D-444D-A8A6-838AA12CDB3C}"/>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PHILOSOPHICAL ASSUMPTIONS</a:t>
            </a:r>
          </a:p>
        </p:txBody>
      </p:sp>
      <p:sp>
        <p:nvSpPr>
          <p:cNvPr id="4" name="">
            <a:extLst xmlns:a="http://schemas.openxmlformats.org/drawingml/2006/main">
              <a:ext uri="{FF2B5EF4-FFF2-40B4-BE49-F238E27FC236}">
                <a16:creationId xmlns:a16="http://schemas.microsoft.com/office/drawing/2014/main" id="{E1B75307-F968-4FEF-957B-74739DF53E57}"/>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Four questions sit beneath research decisions</a:t>
            </a:r>
          </a:p>
        </p:txBody>
      </p:sp>
      <p:sp>
        <p:nvSpPr>
          <p:cNvPr id="5" name="">
            <a:extLst xmlns:a="http://schemas.openxmlformats.org/drawingml/2006/main">
              <a:ext uri="{FF2B5EF4-FFF2-40B4-BE49-F238E27FC236}">
                <a16:creationId xmlns:a16="http://schemas.microsoft.com/office/drawing/2014/main" id="{0954C6F5-2600-4E38-AADA-916FC2D696CB}"/>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1DC23B84-5384-44D9-8212-FE25AED65ACD}"/>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23</a:t>
            </a:r>
          </a:p>
        </p:txBody>
      </p:sp>
      <p:sp>
        <p:nvSpPr>
          <p:cNvPr id="7" name="">
            <a:extLst xmlns:a="http://schemas.openxmlformats.org/drawingml/2006/main">
              <a:ext uri="{FF2B5EF4-FFF2-40B4-BE49-F238E27FC236}">
                <a16:creationId xmlns:a16="http://schemas.microsoft.com/office/drawing/2014/main" id="{69BB54BD-1999-43A5-9DDD-F8A30FEED15B}"/>
              </a:ext>
            </a:extLst>
          </p:cNvPr>
          <p:cNvSpPr>
            <a:spLocks xmlns:a="http://schemas.openxmlformats.org/drawingml/2006/main" noGrp="1"/>
          </p:cNvSpPr>
          <p:nvPr/>
        </p:nvSpPr>
        <p:spPr>
          <a:xfrm xmlns:a="http://schemas.openxmlformats.org/drawingml/2006/main">
            <a:off x="704850" y="2143125"/>
            <a:ext cx="5048250" cy="1571625"/>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F048099D-CC54-4376-AF0A-5654EC0FB0D7}"/>
              </a:ext>
            </a:extLst>
          </p:cNvPr>
          <p:cNvSpPr>
            <a:spLocks xmlns:a="http://schemas.openxmlformats.org/drawingml/2006/main" noGrp="1"/>
          </p:cNvSpPr>
          <p:nvPr/>
        </p:nvSpPr>
        <p:spPr>
          <a:xfrm xmlns:a="http://schemas.openxmlformats.org/drawingml/2006/main">
            <a:off x="895350" y="22764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ONTOLOGY · WHAT IS REAL?</a:t>
            </a:r>
          </a:p>
        </p:txBody>
      </p:sp>
      <p:sp>
        <p:nvSpPr>
          <p:cNvPr id="9" name="">
            <a:extLst xmlns:a="http://schemas.openxmlformats.org/drawingml/2006/main">
              <a:ext uri="{FF2B5EF4-FFF2-40B4-BE49-F238E27FC236}">
                <a16:creationId xmlns:a16="http://schemas.microsoft.com/office/drawing/2014/main" id="{97865EA4-F6DB-4123-BAA2-2B13EF3CE609}"/>
              </a:ext>
            </a:extLst>
          </p:cNvPr>
          <p:cNvSpPr>
            <a:spLocks xmlns:a="http://schemas.openxmlformats.org/drawingml/2006/main" noGrp="1"/>
          </p:cNvSpPr>
          <p:nvPr/>
        </p:nvSpPr>
        <p:spPr>
          <a:xfrm xmlns:a="http://schemas.openxmlformats.org/drawingml/2006/main">
            <a:off x="895350" y="2581275"/>
            <a:ext cx="46672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Is reality independent and measurable? Can multiple constructed realities be meaningful?</a:t>
            </a:r>
          </a:p>
        </p:txBody>
      </p:sp>
      <p:sp>
        <p:nvSpPr>
          <p:cNvPr id="10" name="">
            <a:extLst xmlns:a="http://schemas.openxmlformats.org/drawingml/2006/main">
              <a:ext uri="{FF2B5EF4-FFF2-40B4-BE49-F238E27FC236}">
                <a16:creationId xmlns:a16="http://schemas.microsoft.com/office/drawing/2014/main" id="{1287D207-13D0-4EB8-9597-C453CE2906D3}"/>
              </a:ext>
            </a:extLst>
          </p:cNvPr>
          <p:cNvSpPr>
            <a:spLocks xmlns:a="http://schemas.openxmlformats.org/drawingml/2006/main" noGrp="1"/>
          </p:cNvSpPr>
          <p:nvPr/>
        </p:nvSpPr>
        <p:spPr>
          <a:xfrm xmlns:a="http://schemas.openxmlformats.org/drawingml/2006/main">
            <a:off x="6429375" y="2143125"/>
            <a:ext cx="5048250" cy="1571625"/>
          </a:xfrm>
          <a:prstGeom xmlns:a="http://schemas.openxmlformats.org/drawingml/2006/main" prst="roundRect">
            <a:avLst>
              <a:gd name="adj" fmla="val 7273"/>
            </a:avLst>
          </a:prstGeom>
          <a:solidFill xmlns:a="http://schemas.openxmlformats.org/drawingml/2006/main">
            <a:srgbClr val="E8F1EB"/>
          </a:solidFill>
          <a:ln xmlns:a="http://schemas.openxmlformats.org/drawingml/2006/main" w="9525">
            <a:solidFill>
              <a:srgbClr val="D7DFD9"/>
            </a:solidFill>
            <a:prstDash val="solid"/>
          </a:ln>
        </p:spPr>
      </p:sp>
      <p:sp>
        <p:nvSpPr>
          <p:cNvPr id="11" name="">
            <a:extLst xmlns:a="http://schemas.openxmlformats.org/drawingml/2006/main">
              <a:ext uri="{FF2B5EF4-FFF2-40B4-BE49-F238E27FC236}">
                <a16:creationId xmlns:a16="http://schemas.microsoft.com/office/drawing/2014/main" id="{B6B31B56-92B5-4BA3-B446-9884C8CD56B4}"/>
              </a:ext>
            </a:extLst>
          </p:cNvPr>
          <p:cNvSpPr>
            <a:spLocks xmlns:a="http://schemas.openxmlformats.org/drawingml/2006/main" noGrp="1"/>
          </p:cNvSpPr>
          <p:nvPr/>
        </p:nvSpPr>
        <p:spPr>
          <a:xfrm xmlns:a="http://schemas.openxmlformats.org/drawingml/2006/main">
            <a:off x="6619875" y="22764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EPISTEMOLOGY · HOW CAN WE KNOW?</a:t>
            </a:r>
          </a:p>
        </p:txBody>
      </p:sp>
      <p:sp>
        <p:nvSpPr>
          <p:cNvPr id="12" name="">
            <a:extLst xmlns:a="http://schemas.openxmlformats.org/drawingml/2006/main">
              <a:ext uri="{FF2B5EF4-FFF2-40B4-BE49-F238E27FC236}">
                <a16:creationId xmlns:a16="http://schemas.microsoft.com/office/drawing/2014/main" id="{2BBD5B28-E80A-4A69-9506-5A04B7C0DA05}"/>
              </a:ext>
            </a:extLst>
          </p:cNvPr>
          <p:cNvSpPr>
            <a:spLocks xmlns:a="http://schemas.openxmlformats.org/drawingml/2006/main" noGrp="1"/>
          </p:cNvSpPr>
          <p:nvPr/>
        </p:nvSpPr>
        <p:spPr>
          <a:xfrm xmlns:a="http://schemas.openxmlformats.org/drawingml/2006/main">
            <a:off x="6619875" y="2581275"/>
            <a:ext cx="46672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What counts as knowledge, and what relationship between researcher and participant produces it?</a:t>
            </a:r>
          </a:p>
        </p:txBody>
      </p:sp>
      <p:sp>
        <p:nvSpPr>
          <p:cNvPr id="13" name="">
            <a:extLst xmlns:a="http://schemas.openxmlformats.org/drawingml/2006/main">
              <a:ext uri="{FF2B5EF4-FFF2-40B4-BE49-F238E27FC236}">
                <a16:creationId xmlns:a16="http://schemas.microsoft.com/office/drawing/2014/main" id="{76DA36C9-6250-46C2-9C26-62914630FBB5}"/>
              </a:ext>
            </a:extLst>
          </p:cNvPr>
          <p:cNvSpPr>
            <a:spLocks xmlns:a="http://schemas.openxmlformats.org/drawingml/2006/main" noGrp="1"/>
          </p:cNvSpPr>
          <p:nvPr/>
        </p:nvSpPr>
        <p:spPr>
          <a:xfrm xmlns:a="http://schemas.openxmlformats.org/drawingml/2006/main">
            <a:off x="704850" y="4048125"/>
            <a:ext cx="5048250" cy="1571625"/>
          </a:xfrm>
          <a:prstGeom xmlns:a="http://schemas.openxmlformats.org/drawingml/2006/main" prst="roundRect">
            <a:avLst>
              <a:gd name="adj" fmla="val 7273"/>
            </a:avLst>
          </a:prstGeom>
          <a:solidFill xmlns:a="http://schemas.openxmlformats.org/drawingml/2006/main">
            <a:srgbClr val="E8F1EB"/>
          </a:solidFill>
          <a:ln xmlns:a="http://schemas.openxmlformats.org/drawingml/2006/main" w="9525">
            <a:solidFill>
              <a:srgbClr val="D7DFD9"/>
            </a:solidFill>
            <a:prstDash val="solid"/>
          </a:ln>
        </p:spPr>
      </p:sp>
      <p:sp>
        <p:nvSpPr>
          <p:cNvPr id="14" name="">
            <a:extLst xmlns:a="http://schemas.openxmlformats.org/drawingml/2006/main">
              <a:ext uri="{FF2B5EF4-FFF2-40B4-BE49-F238E27FC236}">
                <a16:creationId xmlns:a16="http://schemas.microsoft.com/office/drawing/2014/main" id="{8A1FC00C-C99C-4C9F-99C1-F2EE40B41270}"/>
              </a:ext>
            </a:extLst>
          </p:cNvPr>
          <p:cNvSpPr>
            <a:spLocks xmlns:a="http://schemas.openxmlformats.org/drawingml/2006/main" noGrp="1"/>
          </p:cNvSpPr>
          <p:nvPr/>
        </p:nvSpPr>
        <p:spPr>
          <a:xfrm xmlns:a="http://schemas.openxmlformats.org/drawingml/2006/main">
            <a:off x="895350" y="41814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AXIOLOGY · WHAT ROLE DO VALUES PLAY?</a:t>
            </a:r>
          </a:p>
        </p:txBody>
      </p:sp>
      <p:sp>
        <p:nvSpPr>
          <p:cNvPr id="15" name="">
            <a:extLst xmlns:a="http://schemas.openxmlformats.org/drawingml/2006/main">
              <a:ext uri="{FF2B5EF4-FFF2-40B4-BE49-F238E27FC236}">
                <a16:creationId xmlns:a16="http://schemas.microsoft.com/office/drawing/2014/main" id="{0DAF7415-3083-4A07-AD7B-7D374A6B37EC}"/>
              </a:ext>
            </a:extLst>
          </p:cNvPr>
          <p:cNvSpPr>
            <a:spLocks xmlns:a="http://schemas.openxmlformats.org/drawingml/2006/main" noGrp="1"/>
          </p:cNvSpPr>
          <p:nvPr/>
        </p:nvSpPr>
        <p:spPr>
          <a:xfrm xmlns:a="http://schemas.openxmlformats.org/drawingml/2006/main">
            <a:off x="895350" y="4486275"/>
            <a:ext cx="46672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Should values be minimized, examined, made visible, or deliberately directed toward change?</a:t>
            </a:r>
          </a:p>
        </p:txBody>
      </p:sp>
      <p:sp>
        <p:nvSpPr>
          <p:cNvPr id="16" name="">
            <a:extLst xmlns:a="http://schemas.openxmlformats.org/drawingml/2006/main">
              <a:ext uri="{FF2B5EF4-FFF2-40B4-BE49-F238E27FC236}">
                <a16:creationId xmlns:a16="http://schemas.microsoft.com/office/drawing/2014/main" id="{32692869-CB0E-4394-8B79-43984811E2B6}"/>
              </a:ext>
            </a:extLst>
          </p:cNvPr>
          <p:cNvSpPr>
            <a:spLocks xmlns:a="http://schemas.openxmlformats.org/drawingml/2006/main" noGrp="1"/>
          </p:cNvSpPr>
          <p:nvPr/>
        </p:nvSpPr>
        <p:spPr>
          <a:xfrm xmlns:a="http://schemas.openxmlformats.org/drawingml/2006/main">
            <a:off x="6429375" y="4048125"/>
            <a:ext cx="5048250" cy="1571625"/>
          </a:xfrm>
          <a:prstGeom xmlns:a="http://schemas.openxmlformats.org/drawingml/2006/main" prst="roundRect">
            <a:avLst>
              <a:gd name="adj" fmla="val 7273"/>
            </a:avLst>
          </a:prstGeom>
          <a:solidFill xmlns:a="http://schemas.openxmlformats.org/drawingml/2006/main">
            <a:srgbClr val="FFF7BD"/>
          </a:solidFill>
          <a:ln xmlns:a="http://schemas.openxmlformats.org/drawingml/2006/main" w="19050">
            <a:solidFill>
              <a:srgbClr val="FFDB05"/>
            </a:solidFill>
            <a:prstDash val="solid"/>
          </a:ln>
        </p:spPr>
      </p:sp>
      <p:sp>
        <p:nvSpPr>
          <p:cNvPr id="17" name="">
            <a:extLst xmlns:a="http://schemas.openxmlformats.org/drawingml/2006/main">
              <a:ext uri="{FF2B5EF4-FFF2-40B4-BE49-F238E27FC236}">
                <a16:creationId xmlns:a16="http://schemas.microsoft.com/office/drawing/2014/main" id="{00CA236B-6E52-4E6C-A732-345A14392B6F}"/>
              </a:ext>
            </a:extLst>
          </p:cNvPr>
          <p:cNvSpPr>
            <a:spLocks xmlns:a="http://schemas.openxmlformats.org/drawingml/2006/main" noGrp="1"/>
          </p:cNvSpPr>
          <p:nvPr/>
        </p:nvSpPr>
        <p:spPr>
          <a:xfrm xmlns:a="http://schemas.openxmlformats.org/drawingml/2006/main">
            <a:off x="6619875" y="4181475"/>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METHODOLOGY · HOW SHOULD WE INQUIRE?</a:t>
            </a:r>
          </a:p>
        </p:txBody>
      </p:sp>
      <p:sp>
        <p:nvSpPr>
          <p:cNvPr id="18" name="">
            <a:extLst xmlns:a="http://schemas.openxmlformats.org/drawingml/2006/main">
              <a:ext uri="{FF2B5EF4-FFF2-40B4-BE49-F238E27FC236}">
                <a16:creationId xmlns:a16="http://schemas.microsoft.com/office/drawing/2014/main" id="{01488514-7FBE-4D0D-A1F5-86E520885D7B}"/>
              </a:ext>
            </a:extLst>
          </p:cNvPr>
          <p:cNvSpPr>
            <a:spLocks xmlns:a="http://schemas.openxmlformats.org/drawingml/2006/main" noGrp="1"/>
          </p:cNvSpPr>
          <p:nvPr/>
        </p:nvSpPr>
        <p:spPr>
          <a:xfrm xmlns:a="http://schemas.openxmlformats.org/drawingml/2006/main">
            <a:off x="6619875" y="4486275"/>
            <a:ext cx="46672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What overall logic and process should guide the production of knowledge?</a:t>
            </a:r>
          </a:p>
        </p:txBody>
      </p:sp>
    </p:spTree>
    <p:extLst>
      <p:ext uri="{BB962C8B-B14F-4D97-AF65-F5344CB8AC3E}">
        <p14:creationId xmlns:p14="http://schemas.microsoft.com/office/powerpoint/2010/main" val="1921980647"/>
      </p:ext>
    </p:extLst>
  </p:cSld>
</p:sld>
</file>

<file path=ppt/slides/slide24.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0C959E8-053C-416D-9FB6-755B3D13062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DF1D09-7F08-458F-82DA-20F38EED86DA}"/>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CE6146A-58F9-43AE-B4DE-3E06A5D5E912}"/>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FOUR BROAD ORIENTATIONS</a:t>
            </a:r>
          </a:p>
        </p:txBody>
      </p:sp>
      <p:sp>
        <p:nvSpPr>
          <p:cNvPr id="4" name="">
            <a:extLst xmlns:a="http://schemas.openxmlformats.org/drawingml/2006/main">
              <a:ext uri="{FF2B5EF4-FFF2-40B4-BE49-F238E27FC236}">
                <a16:creationId xmlns:a16="http://schemas.microsoft.com/office/drawing/2014/main" id="{DCEC6891-2F52-4E4A-A2F7-5FBC9DF475D0}"/>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Worldviews are lenses—not personality types</a:t>
            </a:r>
          </a:p>
        </p:txBody>
      </p:sp>
      <p:sp>
        <p:nvSpPr>
          <p:cNvPr id="5" name="">
            <a:extLst xmlns:a="http://schemas.openxmlformats.org/drawingml/2006/main">
              <a:ext uri="{FF2B5EF4-FFF2-40B4-BE49-F238E27FC236}">
                <a16:creationId xmlns:a16="http://schemas.microsoft.com/office/drawing/2014/main" id="{11941F84-4BED-4D5F-A120-C4EE345E7F34}"/>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8E8D1322-1A79-497B-84E4-2436C2769979}"/>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24</a:t>
            </a:r>
          </a:p>
        </p:txBody>
      </p:sp>
      <p:sp>
        <p:nvSpPr>
          <p:cNvPr id="7" name="">
            <a:extLst xmlns:a="http://schemas.openxmlformats.org/drawingml/2006/main">
              <a:ext uri="{FF2B5EF4-FFF2-40B4-BE49-F238E27FC236}">
                <a16:creationId xmlns:a16="http://schemas.microsoft.com/office/drawing/2014/main" id="{0C69E399-B8F4-4CE2-B526-1DFD606FC6D8}"/>
              </a:ext>
            </a:extLst>
          </p:cNvPr>
          <p:cNvSpPr>
            <a:spLocks xmlns:a="http://schemas.openxmlformats.org/drawingml/2006/main" noGrp="1"/>
          </p:cNvSpPr>
          <p:nvPr/>
        </p:nvSpPr>
        <p:spPr>
          <a:xfrm xmlns:a="http://schemas.openxmlformats.org/drawingml/2006/main">
            <a:off x="857250" y="2114550"/>
            <a:ext cx="2476500" cy="685800"/>
          </a:xfrm>
          <a:prstGeom xmlns:a="http://schemas.openxmlformats.org/drawingml/2006/main" prst="roundRect">
            <a:avLst>
              <a:gd name="adj" fmla="val 11111"/>
            </a:avLst>
          </a:prstGeom>
          <a:solidFill xmlns:a="http://schemas.openxmlformats.org/drawingml/2006/main">
            <a:srgbClr val="123421"/>
          </a:solidFill>
          <a:ln xmlns:a="http://schemas.openxmlformats.org/drawingml/2006/main" w="9525">
            <a:solidFill>
              <a:srgbClr val="123421"/>
            </a:solidFill>
            <a:prstDash val="solid"/>
          </a:ln>
        </p:spPr>
      </p:sp>
      <p:sp>
        <p:nvSpPr>
          <p:cNvPr id="8" name="">
            <a:extLst xmlns:a="http://schemas.openxmlformats.org/drawingml/2006/main">
              <a:ext uri="{FF2B5EF4-FFF2-40B4-BE49-F238E27FC236}">
                <a16:creationId xmlns:a16="http://schemas.microsoft.com/office/drawing/2014/main" id="{378F99DE-8182-49EF-B1E7-9029B8E3ED71}"/>
              </a:ext>
            </a:extLst>
          </p:cNvPr>
          <p:cNvSpPr>
            <a:spLocks xmlns:a="http://schemas.openxmlformats.org/drawingml/2006/main" noGrp="1"/>
          </p:cNvSpPr>
          <p:nvPr/>
        </p:nvSpPr>
        <p:spPr>
          <a:xfrm xmlns:a="http://schemas.openxmlformats.org/drawingml/2006/main">
            <a:off x="990600" y="233362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FFFFFF"/>
                </a:solidFill>
              </a:defRPr>
            </a:pPr>
            <a:r>
              <a:rPr sz="1275" b="1" i="0">
                <a:solidFill>
                  <a:srgbClr val="FFFFFF"/>
                </a:solidFill>
              </a:rPr>
              <a:t>POSTPOSITIVIST</a:t>
            </a:r>
          </a:p>
        </p:txBody>
      </p:sp>
      <p:sp>
        <p:nvSpPr>
          <p:cNvPr id="9" name="">
            <a:extLst xmlns:a="http://schemas.openxmlformats.org/drawingml/2006/main">
              <a:ext uri="{FF2B5EF4-FFF2-40B4-BE49-F238E27FC236}">
                <a16:creationId xmlns:a16="http://schemas.microsoft.com/office/drawing/2014/main" id="{CBAB6AF6-6224-43C8-893D-5F29E72FCBB2}"/>
              </a:ext>
            </a:extLst>
          </p:cNvPr>
          <p:cNvSpPr>
            <a:spLocks xmlns:a="http://schemas.openxmlformats.org/drawingml/2006/main" noGrp="1"/>
          </p:cNvSpPr>
          <p:nvPr/>
        </p:nvSpPr>
        <p:spPr>
          <a:xfrm xmlns:a="http://schemas.openxmlformats.org/drawingml/2006/main">
            <a:off x="3714750" y="2238375"/>
            <a:ext cx="714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i="0">
                <a:solidFill>
                  <a:srgbClr val="17211B"/>
                </a:solidFill>
              </a:defRPr>
            </a:pPr>
            <a:r>
              <a:rPr sz="1725" b="0" i="0">
                <a:solidFill>
                  <a:srgbClr val="17211B"/>
                </a:solidFill>
              </a:rPr>
              <a:t>What patterns or relationships can we observe and test systematically?</a:t>
            </a:r>
          </a:p>
        </p:txBody>
      </p:sp>
      <p:sp>
        <p:nvSpPr>
          <p:cNvPr id="10" name="">
            <a:extLst xmlns:a="http://schemas.openxmlformats.org/drawingml/2006/main">
              <a:ext uri="{FF2B5EF4-FFF2-40B4-BE49-F238E27FC236}">
                <a16:creationId xmlns:a16="http://schemas.microsoft.com/office/drawing/2014/main" id="{12E8C8AE-C931-4E9A-A673-F03782F8F7EA}"/>
              </a:ext>
            </a:extLst>
          </p:cNvPr>
          <p:cNvSpPr>
            <a:spLocks xmlns:a="http://schemas.openxmlformats.org/drawingml/2006/main" noGrp="1"/>
          </p:cNvSpPr>
          <p:nvPr/>
        </p:nvSpPr>
        <p:spPr>
          <a:xfrm xmlns:a="http://schemas.openxmlformats.org/drawingml/2006/main">
            <a:off x="857250" y="2990850"/>
            <a:ext cx="2476500" cy="685800"/>
          </a:xfrm>
          <a:prstGeom xmlns:a="http://schemas.openxmlformats.org/drawingml/2006/main" prst="roundRect">
            <a:avLst>
              <a:gd name="adj" fmla="val 11111"/>
            </a:avLst>
          </a:prstGeom>
          <a:solidFill xmlns:a="http://schemas.openxmlformats.org/drawingml/2006/main">
            <a:srgbClr val="123421"/>
          </a:solidFill>
          <a:ln xmlns:a="http://schemas.openxmlformats.org/drawingml/2006/main" w="9525">
            <a:solidFill>
              <a:srgbClr val="123421"/>
            </a:solidFill>
            <a:prstDash val="solid"/>
          </a:ln>
        </p:spPr>
      </p:sp>
      <p:sp>
        <p:nvSpPr>
          <p:cNvPr id="11" name="">
            <a:extLst xmlns:a="http://schemas.openxmlformats.org/drawingml/2006/main">
              <a:ext uri="{FF2B5EF4-FFF2-40B4-BE49-F238E27FC236}">
                <a16:creationId xmlns:a16="http://schemas.microsoft.com/office/drawing/2014/main" id="{C15A72E0-7E48-43BE-B646-E46336CDEECD}"/>
              </a:ext>
            </a:extLst>
          </p:cNvPr>
          <p:cNvSpPr>
            <a:spLocks xmlns:a="http://schemas.openxmlformats.org/drawingml/2006/main" noGrp="1"/>
          </p:cNvSpPr>
          <p:nvPr/>
        </p:nvSpPr>
        <p:spPr>
          <a:xfrm xmlns:a="http://schemas.openxmlformats.org/drawingml/2006/main">
            <a:off x="990600" y="320992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FFFFFF"/>
                </a:solidFill>
              </a:defRPr>
            </a:pPr>
            <a:r>
              <a:rPr sz="1275" b="1" i="0">
                <a:solidFill>
                  <a:srgbClr val="FFFFFF"/>
                </a:solidFill>
              </a:rPr>
              <a:t>CONSTRUCTIVIST</a:t>
            </a:r>
          </a:p>
        </p:txBody>
      </p:sp>
      <p:sp>
        <p:nvSpPr>
          <p:cNvPr id="12" name="">
            <a:extLst xmlns:a="http://schemas.openxmlformats.org/drawingml/2006/main">
              <a:ext uri="{FF2B5EF4-FFF2-40B4-BE49-F238E27FC236}">
                <a16:creationId xmlns:a16="http://schemas.microsoft.com/office/drawing/2014/main" id="{753F87E6-3D08-4196-95EB-F0394630EAC3}"/>
              </a:ext>
            </a:extLst>
          </p:cNvPr>
          <p:cNvSpPr>
            <a:spLocks xmlns:a="http://schemas.openxmlformats.org/drawingml/2006/main" noGrp="1"/>
          </p:cNvSpPr>
          <p:nvPr/>
        </p:nvSpPr>
        <p:spPr>
          <a:xfrm xmlns:a="http://schemas.openxmlformats.org/drawingml/2006/main">
            <a:off x="3714750" y="3114675"/>
            <a:ext cx="714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i="0">
                <a:solidFill>
                  <a:srgbClr val="17211B"/>
                </a:solidFill>
              </a:defRPr>
            </a:pPr>
            <a:r>
              <a:rPr sz="1725" b="0" i="0">
                <a:solidFill>
                  <a:srgbClr val="17211B"/>
                </a:solidFill>
              </a:rPr>
              <a:t>How do people construct meaning from experiences in context?</a:t>
            </a:r>
          </a:p>
        </p:txBody>
      </p:sp>
      <p:sp>
        <p:nvSpPr>
          <p:cNvPr id="13" name="">
            <a:extLst xmlns:a="http://schemas.openxmlformats.org/drawingml/2006/main">
              <a:ext uri="{FF2B5EF4-FFF2-40B4-BE49-F238E27FC236}">
                <a16:creationId xmlns:a16="http://schemas.microsoft.com/office/drawing/2014/main" id="{0C4FB0DF-7D88-4020-AB06-6A569D7CEA56}"/>
              </a:ext>
            </a:extLst>
          </p:cNvPr>
          <p:cNvSpPr>
            <a:spLocks xmlns:a="http://schemas.openxmlformats.org/drawingml/2006/main" noGrp="1"/>
          </p:cNvSpPr>
          <p:nvPr/>
        </p:nvSpPr>
        <p:spPr>
          <a:xfrm xmlns:a="http://schemas.openxmlformats.org/drawingml/2006/main">
            <a:off x="857250" y="3867150"/>
            <a:ext cx="2476500" cy="685800"/>
          </a:xfrm>
          <a:prstGeom xmlns:a="http://schemas.openxmlformats.org/drawingml/2006/main" prst="roundRect">
            <a:avLst>
              <a:gd name="adj" fmla="val 11111"/>
            </a:avLst>
          </a:prstGeom>
          <a:solidFill xmlns:a="http://schemas.openxmlformats.org/drawingml/2006/main">
            <a:srgbClr val="123421"/>
          </a:solidFill>
          <a:ln xmlns:a="http://schemas.openxmlformats.org/drawingml/2006/main" w="9525">
            <a:solidFill>
              <a:srgbClr val="123421"/>
            </a:solidFill>
            <a:prstDash val="solid"/>
          </a:ln>
        </p:spPr>
      </p:sp>
      <p:sp>
        <p:nvSpPr>
          <p:cNvPr id="14" name="">
            <a:extLst xmlns:a="http://schemas.openxmlformats.org/drawingml/2006/main">
              <a:ext uri="{FF2B5EF4-FFF2-40B4-BE49-F238E27FC236}">
                <a16:creationId xmlns:a16="http://schemas.microsoft.com/office/drawing/2014/main" id="{28562C40-41FE-4B3B-864B-300A9D5C9F47}"/>
              </a:ext>
            </a:extLst>
          </p:cNvPr>
          <p:cNvSpPr>
            <a:spLocks xmlns:a="http://schemas.openxmlformats.org/drawingml/2006/main" noGrp="1"/>
          </p:cNvSpPr>
          <p:nvPr/>
        </p:nvSpPr>
        <p:spPr>
          <a:xfrm xmlns:a="http://schemas.openxmlformats.org/drawingml/2006/main">
            <a:off x="990600" y="408622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FFFFFF"/>
                </a:solidFill>
              </a:defRPr>
            </a:pPr>
            <a:r>
              <a:rPr sz="1275" b="1" i="0">
                <a:solidFill>
                  <a:srgbClr val="FFFFFF"/>
                </a:solidFill>
              </a:rPr>
              <a:t>TRANSFORMATIVE</a:t>
            </a:r>
          </a:p>
        </p:txBody>
      </p:sp>
      <p:sp>
        <p:nvSpPr>
          <p:cNvPr id="15" name="">
            <a:extLst xmlns:a="http://schemas.openxmlformats.org/drawingml/2006/main">
              <a:ext uri="{FF2B5EF4-FFF2-40B4-BE49-F238E27FC236}">
                <a16:creationId xmlns:a16="http://schemas.microsoft.com/office/drawing/2014/main" id="{A98690A5-80C0-4FB8-9802-348E36407062}"/>
              </a:ext>
            </a:extLst>
          </p:cNvPr>
          <p:cNvSpPr>
            <a:spLocks xmlns:a="http://schemas.openxmlformats.org/drawingml/2006/main" noGrp="1"/>
          </p:cNvSpPr>
          <p:nvPr/>
        </p:nvSpPr>
        <p:spPr>
          <a:xfrm xmlns:a="http://schemas.openxmlformats.org/drawingml/2006/main">
            <a:off x="3714750" y="3990975"/>
            <a:ext cx="714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i="0">
                <a:solidFill>
                  <a:srgbClr val="17211B"/>
                </a:solidFill>
              </a:defRPr>
            </a:pPr>
            <a:r>
              <a:rPr sz="1725" b="0" i="0">
                <a:solidFill>
                  <a:srgbClr val="17211B"/>
                </a:solidFill>
              </a:rPr>
              <a:t>Whose voices, interests, and power relations are represented or excluded?</a:t>
            </a:r>
          </a:p>
        </p:txBody>
      </p:sp>
      <p:sp>
        <p:nvSpPr>
          <p:cNvPr id="16" name="">
            <a:extLst xmlns:a="http://schemas.openxmlformats.org/drawingml/2006/main">
              <a:ext uri="{FF2B5EF4-FFF2-40B4-BE49-F238E27FC236}">
                <a16:creationId xmlns:a16="http://schemas.microsoft.com/office/drawing/2014/main" id="{48B671D3-2FD4-4F06-ABE6-C9A89074B096}"/>
              </a:ext>
            </a:extLst>
          </p:cNvPr>
          <p:cNvSpPr>
            <a:spLocks xmlns:a="http://schemas.openxmlformats.org/drawingml/2006/main" noGrp="1"/>
          </p:cNvSpPr>
          <p:nvPr/>
        </p:nvSpPr>
        <p:spPr>
          <a:xfrm xmlns:a="http://schemas.openxmlformats.org/drawingml/2006/main">
            <a:off x="857250" y="4743450"/>
            <a:ext cx="2476500" cy="685800"/>
          </a:xfrm>
          <a:prstGeom xmlns:a="http://schemas.openxmlformats.org/drawingml/2006/main" prst="roundRect">
            <a:avLst>
              <a:gd name="adj" fmla="val 11111"/>
            </a:avLst>
          </a:prstGeom>
          <a:solidFill xmlns:a="http://schemas.openxmlformats.org/drawingml/2006/main">
            <a:srgbClr val="FFDB05"/>
          </a:solidFill>
          <a:ln xmlns:a="http://schemas.openxmlformats.org/drawingml/2006/main" w="9525">
            <a:solidFill>
              <a:srgbClr val="FFDB05"/>
            </a:solidFill>
            <a:prstDash val="solid"/>
          </a:ln>
        </p:spPr>
      </p:sp>
      <p:sp>
        <p:nvSpPr>
          <p:cNvPr id="17" name="">
            <a:extLst xmlns:a="http://schemas.openxmlformats.org/drawingml/2006/main">
              <a:ext uri="{FF2B5EF4-FFF2-40B4-BE49-F238E27FC236}">
                <a16:creationId xmlns:a16="http://schemas.microsoft.com/office/drawing/2014/main" id="{AF93AB17-67D8-42A3-B6EC-6D3EB5EA1C3C}"/>
              </a:ext>
            </a:extLst>
          </p:cNvPr>
          <p:cNvSpPr>
            <a:spLocks xmlns:a="http://schemas.openxmlformats.org/drawingml/2006/main" noGrp="1"/>
          </p:cNvSpPr>
          <p:nvPr/>
        </p:nvSpPr>
        <p:spPr>
          <a:xfrm xmlns:a="http://schemas.openxmlformats.org/drawingml/2006/main">
            <a:off x="990600" y="496252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i="0">
                <a:solidFill>
                  <a:srgbClr val="123421"/>
                </a:solidFill>
              </a:defRPr>
            </a:pPr>
            <a:r>
              <a:rPr sz="1275" b="1" i="0">
                <a:solidFill>
                  <a:srgbClr val="123421"/>
                </a:solidFill>
              </a:rPr>
              <a:t>PRAGMATIC</a:t>
            </a:r>
          </a:p>
        </p:txBody>
      </p:sp>
      <p:sp>
        <p:nvSpPr>
          <p:cNvPr id="18" name="">
            <a:extLst xmlns:a="http://schemas.openxmlformats.org/drawingml/2006/main">
              <a:ext uri="{FF2B5EF4-FFF2-40B4-BE49-F238E27FC236}">
                <a16:creationId xmlns:a16="http://schemas.microsoft.com/office/drawing/2014/main" id="{9210B284-B356-442E-ACFE-A3D5FE19A9E6}"/>
              </a:ext>
            </a:extLst>
          </p:cNvPr>
          <p:cNvSpPr>
            <a:spLocks xmlns:a="http://schemas.openxmlformats.org/drawingml/2006/main" noGrp="1"/>
          </p:cNvSpPr>
          <p:nvPr/>
        </p:nvSpPr>
        <p:spPr>
          <a:xfrm xmlns:a="http://schemas.openxmlformats.org/drawingml/2006/main">
            <a:off x="3714750" y="4867275"/>
            <a:ext cx="714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i="0">
                <a:solidFill>
                  <a:srgbClr val="17211B"/>
                </a:solidFill>
              </a:defRPr>
            </a:pPr>
            <a:r>
              <a:rPr sz="1725" b="0" i="0">
                <a:solidFill>
                  <a:srgbClr val="17211B"/>
                </a:solidFill>
              </a:rPr>
              <a:t>What approach will best help us understand and address the problem?</a:t>
            </a:r>
          </a:p>
        </p:txBody>
      </p:sp>
      <p:sp>
        <p:nvSpPr>
          <p:cNvPr id="19" name="">
            <a:extLst xmlns:a="http://schemas.openxmlformats.org/drawingml/2006/main">
              <a:ext uri="{FF2B5EF4-FFF2-40B4-BE49-F238E27FC236}">
                <a16:creationId xmlns:a16="http://schemas.microsoft.com/office/drawing/2014/main" id="{E65D3A51-3CCF-4C71-8B2A-B5B766861A82}"/>
              </a:ext>
            </a:extLst>
          </p:cNvPr>
          <p:cNvSpPr>
            <a:spLocks xmlns:a="http://schemas.openxmlformats.org/drawingml/2006/main" noGrp="1"/>
          </p:cNvSpPr>
          <p:nvPr/>
        </p:nvSpPr>
        <p:spPr>
          <a:xfrm xmlns:a="http://schemas.openxmlformats.org/drawingml/2006/main">
            <a:off x="1524000" y="5715000"/>
            <a:ext cx="914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275D38"/>
                </a:solidFill>
              </a:defRPr>
            </a:pPr>
            <a:r>
              <a:rPr sz="1650" b="1" i="0">
                <a:solidFill>
                  <a:srgbClr val="275D38"/>
                </a:solidFill>
              </a:rPr>
              <a:t>Researchers may draw on different assumptions depending on the problem, purpose, discipline, and community.</a:t>
            </a:r>
          </a:p>
        </p:txBody>
      </p:sp>
    </p:spTree>
    <p:extLst>
      <p:ext uri="{BB962C8B-B14F-4D97-AF65-F5344CB8AC3E}">
        <p14:creationId xmlns:p14="http://schemas.microsoft.com/office/powerpoint/2010/main" val="1092090695"/>
      </p:ext>
    </p:extLst>
  </p:cSld>
</p:sld>
</file>

<file path=ppt/slides/slide25.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ADE3A50-05AF-49E7-A8C3-C4A8CCEC3DF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6BBC77-279B-46B0-8748-219D3CD6B423}"/>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012DA4-6889-4AC1-88DE-410C94D992FE}"/>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POSITIONALITY</a:t>
            </a:r>
          </a:p>
        </p:txBody>
      </p:sp>
      <p:sp>
        <p:nvSpPr>
          <p:cNvPr id="4" name="">
            <a:extLst xmlns:a="http://schemas.openxmlformats.org/drawingml/2006/main">
              <a:ext uri="{FF2B5EF4-FFF2-40B4-BE49-F238E27FC236}">
                <a16:creationId xmlns:a16="http://schemas.microsoft.com/office/drawing/2014/main" id="{EA7392A4-65C7-4CC3-AE56-2BF43865587C}"/>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Positionality asks how the researcher enters the study</a:t>
            </a:r>
          </a:p>
        </p:txBody>
      </p:sp>
      <p:sp>
        <p:nvSpPr>
          <p:cNvPr id="5" name="">
            <a:extLst xmlns:a="http://schemas.openxmlformats.org/drawingml/2006/main">
              <a:ext uri="{FF2B5EF4-FFF2-40B4-BE49-F238E27FC236}">
                <a16:creationId xmlns:a16="http://schemas.microsoft.com/office/drawing/2014/main" id="{2C062009-98AA-45C7-B4C1-0CFD7AD26CFD}"/>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09781C7A-E02B-4453-8A51-03448191828C}"/>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25</a:t>
            </a:r>
          </a:p>
        </p:txBody>
      </p:sp>
      <p:sp>
        <p:nvSpPr>
          <p:cNvPr id="7" name="">
            <a:extLst xmlns:a="http://schemas.openxmlformats.org/drawingml/2006/main">
              <a:ext uri="{FF2B5EF4-FFF2-40B4-BE49-F238E27FC236}">
                <a16:creationId xmlns:a16="http://schemas.microsoft.com/office/drawing/2014/main" id="{F569F8BC-2396-417A-B5D7-3000BA3B17E3}"/>
              </a:ext>
            </a:extLst>
          </p:cNvPr>
          <p:cNvSpPr>
            <a:spLocks xmlns:a="http://schemas.openxmlformats.org/drawingml/2006/main" noGrp="1"/>
          </p:cNvSpPr>
          <p:nvPr/>
        </p:nvSpPr>
        <p:spPr>
          <a:xfrm xmlns:a="http://schemas.openxmlformats.org/drawingml/2006/main">
            <a:off x="800100" y="2238375"/>
            <a:ext cx="4095750" cy="3190875"/>
          </a:xfrm>
          <a:prstGeom xmlns:a="http://schemas.openxmlformats.org/drawingml/2006/main" prst="roundRect">
            <a:avLst>
              <a:gd name="adj" fmla="val 3582"/>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EC5863C4-CA2B-47CB-9690-A905262052A0}"/>
              </a:ext>
            </a:extLst>
          </p:cNvPr>
          <p:cNvSpPr>
            <a:spLocks xmlns:a="http://schemas.openxmlformats.org/drawingml/2006/main" noGrp="1"/>
          </p:cNvSpPr>
          <p:nvPr/>
        </p:nvSpPr>
        <p:spPr>
          <a:xfrm xmlns:a="http://schemas.openxmlformats.org/drawingml/2006/main">
            <a:off x="990600" y="23717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I BRING</a:t>
            </a:r>
          </a:p>
        </p:txBody>
      </p:sp>
      <p:sp>
        <p:nvSpPr>
          <p:cNvPr id="9" name="">
            <a:extLst xmlns:a="http://schemas.openxmlformats.org/drawingml/2006/main">
              <a:ext uri="{FF2B5EF4-FFF2-40B4-BE49-F238E27FC236}">
                <a16:creationId xmlns:a16="http://schemas.microsoft.com/office/drawing/2014/main" id="{6B37BFAA-A9CF-4F66-9E0A-F5F644856AEF}"/>
              </a:ext>
            </a:extLst>
          </p:cNvPr>
          <p:cNvSpPr>
            <a:spLocks xmlns:a="http://schemas.openxmlformats.org/drawingml/2006/main" noGrp="1"/>
          </p:cNvSpPr>
          <p:nvPr/>
        </p:nvSpPr>
        <p:spPr>
          <a:xfrm xmlns:a="http://schemas.openxmlformats.org/drawingml/2006/main">
            <a:off x="990600" y="2676525"/>
            <a:ext cx="371475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Training and discipline</a:t>
            </a:r>
          </a:p>
          <a:p xmlns:a="http://schemas.openxmlformats.org/drawingml/2006/main">
            <a:pPr algn="l">
              <a:defRPr sz="1800" b="0" i="0">
                <a:solidFill>
                  <a:srgbClr val="17211B"/>
                </a:solidFill>
              </a:defRPr>
            </a:pPr>
            <a:r>
              <a:rPr sz="1800" b="0" i="0">
                <a:solidFill>
                  <a:srgbClr val="17211B"/>
                </a:solidFill>
              </a:rPr>
              <a:t>Professional experience</a:t>
            </a:r>
          </a:p>
          <a:p xmlns:a="http://schemas.openxmlformats.org/drawingml/2006/main">
            <a:pPr algn="l">
              <a:defRPr sz="1800" b="0" i="0">
                <a:solidFill>
                  <a:srgbClr val="17211B"/>
                </a:solidFill>
              </a:defRPr>
            </a:pPr>
            <a:r>
              <a:rPr sz="1800" b="0" i="0">
                <a:solidFill>
                  <a:srgbClr val="17211B"/>
                </a:solidFill>
              </a:rPr>
              <a:t>Personal experience</a:t>
            </a:r>
          </a:p>
          <a:p xmlns:a="http://schemas.openxmlformats.org/drawingml/2006/main">
            <a:pPr algn="l">
              <a:defRPr sz="1800" b="0" i="0">
                <a:solidFill>
                  <a:srgbClr val="17211B"/>
                </a:solidFill>
              </a:defRPr>
            </a:pPr>
            <a:r>
              <a:rPr sz="1800" b="0" i="0">
                <a:solidFill>
                  <a:srgbClr val="17211B"/>
                </a:solidFill>
              </a:rPr>
              <a:t>Values and commitments</a:t>
            </a:r>
          </a:p>
          <a:p xmlns:a="http://schemas.openxmlformats.org/drawingml/2006/main">
            <a:pPr algn="l">
              <a:defRPr sz="1800" b="0" i="0">
                <a:solidFill>
                  <a:srgbClr val="17211B"/>
                </a:solidFill>
              </a:defRPr>
            </a:pPr>
            <a:r>
              <a:rPr sz="1800" b="0" i="0">
                <a:solidFill>
                  <a:srgbClr val="17211B"/>
                </a:solidFill>
              </a:rPr>
              <a:t>Social positions</a:t>
            </a:r>
          </a:p>
          <a:p xmlns:a="http://schemas.openxmlformats.org/drawingml/2006/main">
            <a:pPr algn="l">
              <a:defRPr sz="1800" b="0" i="0">
                <a:solidFill>
                  <a:srgbClr val="17211B"/>
                </a:solidFill>
              </a:defRPr>
            </a:pPr>
            <a:r>
              <a:rPr sz="1800" b="0" i="0">
                <a:solidFill>
                  <a:srgbClr val="17211B"/>
                </a:solidFill>
              </a:rPr>
              <a:t>Relationships with participants</a:t>
            </a:r>
          </a:p>
        </p:txBody>
      </p:sp>
      <p:sp>
        <p:nvSpPr>
          <p:cNvPr id="10" name="">
            <a:extLst xmlns:a="http://schemas.openxmlformats.org/drawingml/2006/main">
              <a:ext uri="{FF2B5EF4-FFF2-40B4-BE49-F238E27FC236}">
                <a16:creationId xmlns:a16="http://schemas.microsoft.com/office/drawing/2014/main" id="{99B29D5F-C76E-4C21-828A-C8E18346D530}"/>
              </a:ext>
            </a:extLst>
          </p:cNvPr>
          <p:cNvSpPr>
            <a:spLocks xmlns:a="http://schemas.openxmlformats.org/drawingml/2006/main" noGrp="1"/>
          </p:cNvSpPr>
          <p:nvPr/>
        </p:nvSpPr>
        <p:spPr>
          <a:xfrm xmlns:a="http://schemas.openxmlformats.org/drawingml/2006/main">
            <a:off x="5476875" y="34766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600" b="1" i="0">
                <a:solidFill>
                  <a:srgbClr val="275D38"/>
                </a:solidFill>
              </a:defRPr>
            </a:pPr>
            <a:r>
              <a:rPr sz="3600" b="1" i="0">
                <a:solidFill>
                  <a:srgbClr val="275D38"/>
                </a:solidFill>
              </a:rPr>
              <a:t>→</a:t>
            </a:r>
          </a:p>
        </p:txBody>
      </p:sp>
      <p:sp>
        <p:nvSpPr>
          <p:cNvPr id="11" name="">
            <a:extLst xmlns:a="http://schemas.openxmlformats.org/drawingml/2006/main">
              <a:ext uri="{FF2B5EF4-FFF2-40B4-BE49-F238E27FC236}">
                <a16:creationId xmlns:a16="http://schemas.microsoft.com/office/drawing/2014/main" id="{38B8240A-D943-4CAF-8062-06B136F9CC41}"/>
              </a:ext>
            </a:extLst>
          </p:cNvPr>
          <p:cNvSpPr>
            <a:spLocks xmlns:a="http://schemas.openxmlformats.org/drawingml/2006/main" noGrp="1"/>
          </p:cNvSpPr>
          <p:nvPr/>
        </p:nvSpPr>
        <p:spPr>
          <a:xfrm xmlns:a="http://schemas.openxmlformats.org/drawingml/2006/main">
            <a:off x="6572250" y="2238375"/>
            <a:ext cx="4095750" cy="3190875"/>
          </a:xfrm>
          <a:prstGeom xmlns:a="http://schemas.openxmlformats.org/drawingml/2006/main" prst="roundRect">
            <a:avLst>
              <a:gd name="adj" fmla="val 3582"/>
            </a:avLst>
          </a:prstGeom>
          <a:solidFill xmlns:a="http://schemas.openxmlformats.org/drawingml/2006/main">
            <a:srgbClr val="E8F1EB"/>
          </a:solidFill>
          <a:ln xmlns:a="http://schemas.openxmlformats.org/drawingml/2006/main" w="19050">
            <a:solidFill>
              <a:srgbClr val="275D38"/>
            </a:solidFill>
            <a:prstDash val="solid"/>
          </a:ln>
        </p:spPr>
      </p:sp>
      <p:sp>
        <p:nvSpPr>
          <p:cNvPr id="12" name="">
            <a:extLst xmlns:a="http://schemas.openxmlformats.org/drawingml/2006/main">
              <a:ext uri="{FF2B5EF4-FFF2-40B4-BE49-F238E27FC236}">
                <a16:creationId xmlns:a16="http://schemas.microsoft.com/office/drawing/2014/main" id="{1F40F459-F507-41F8-960F-BB98585A8CD5}"/>
              </a:ext>
            </a:extLst>
          </p:cNvPr>
          <p:cNvSpPr>
            <a:spLocks xmlns:a="http://schemas.openxmlformats.org/drawingml/2006/main" noGrp="1"/>
          </p:cNvSpPr>
          <p:nvPr/>
        </p:nvSpPr>
        <p:spPr>
          <a:xfrm xmlns:a="http://schemas.openxmlformats.org/drawingml/2006/main">
            <a:off x="6762750" y="23717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THIS CAN SHAPE</a:t>
            </a:r>
          </a:p>
        </p:txBody>
      </p:sp>
      <p:sp>
        <p:nvSpPr>
          <p:cNvPr id="13" name="">
            <a:extLst xmlns:a="http://schemas.openxmlformats.org/drawingml/2006/main">
              <a:ext uri="{FF2B5EF4-FFF2-40B4-BE49-F238E27FC236}">
                <a16:creationId xmlns:a16="http://schemas.microsoft.com/office/drawing/2014/main" id="{1BE0911A-69F9-4FA4-92B1-F02011A18E23}"/>
              </a:ext>
            </a:extLst>
          </p:cNvPr>
          <p:cNvSpPr>
            <a:spLocks xmlns:a="http://schemas.openxmlformats.org/drawingml/2006/main" noGrp="1"/>
          </p:cNvSpPr>
          <p:nvPr/>
        </p:nvSpPr>
        <p:spPr>
          <a:xfrm xmlns:a="http://schemas.openxmlformats.org/drawingml/2006/main">
            <a:off x="6762750" y="2676525"/>
            <a:ext cx="371475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What I notice</a:t>
            </a:r>
          </a:p>
          <a:p xmlns:a="http://schemas.openxmlformats.org/drawingml/2006/main">
            <a:pPr algn="l">
              <a:defRPr sz="1800" b="0" i="0">
                <a:solidFill>
                  <a:srgbClr val="17211B"/>
                </a:solidFill>
              </a:defRPr>
            </a:pPr>
            <a:r>
              <a:rPr sz="1800" b="0" i="0">
                <a:solidFill>
                  <a:srgbClr val="17211B"/>
                </a:solidFill>
              </a:rPr>
              <a:t>What I ask</a:t>
            </a:r>
          </a:p>
          <a:p xmlns:a="http://schemas.openxmlformats.org/drawingml/2006/main">
            <a:pPr algn="l">
              <a:defRPr sz="1800" b="0" i="0">
                <a:solidFill>
                  <a:srgbClr val="17211B"/>
                </a:solidFill>
              </a:defRPr>
            </a:pPr>
            <a:r>
              <a:rPr sz="1800" b="0" i="0">
                <a:solidFill>
                  <a:srgbClr val="17211B"/>
                </a:solidFill>
              </a:rPr>
              <a:t>Whom I include</a:t>
            </a:r>
          </a:p>
          <a:p xmlns:a="http://schemas.openxmlformats.org/drawingml/2006/main">
            <a:pPr algn="l">
              <a:defRPr sz="1800" b="0" i="0">
                <a:solidFill>
                  <a:srgbClr val="17211B"/>
                </a:solidFill>
              </a:defRPr>
            </a:pPr>
            <a:r>
              <a:rPr sz="1800" b="0" i="0">
                <a:solidFill>
                  <a:srgbClr val="17211B"/>
                </a:solidFill>
              </a:rPr>
              <a:t>What I treat as evidence</a:t>
            </a:r>
          </a:p>
          <a:p xmlns:a="http://schemas.openxmlformats.org/drawingml/2006/main">
            <a:pPr algn="l">
              <a:defRPr sz="1800" b="0" i="0">
                <a:solidFill>
                  <a:srgbClr val="17211B"/>
                </a:solidFill>
              </a:defRPr>
            </a:pPr>
            <a:r>
              <a:rPr sz="1800" b="0" i="0">
                <a:solidFill>
                  <a:srgbClr val="17211B"/>
                </a:solidFill>
              </a:rPr>
              <a:t>How I interpret</a:t>
            </a:r>
          </a:p>
          <a:p xmlns:a="http://schemas.openxmlformats.org/drawingml/2006/main">
            <a:pPr algn="l">
              <a:defRPr sz="1800" b="0" i="0">
                <a:solidFill>
                  <a:srgbClr val="17211B"/>
                </a:solidFill>
              </a:defRPr>
            </a:pPr>
            <a:r>
              <a:rPr sz="1800" b="0" i="0">
                <a:solidFill>
                  <a:srgbClr val="17211B"/>
                </a:solidFill>
              </a:rPr>
              <a:t>What I claim</a:t>
            </a:r>
          </a:p>
        </p:txBody>
      </p:sp>
    </p:spTree>
    <p:extLst>
      <p:ext uri="{BB962C8B-B14F-4D97-AF65-F5344CB8AC3E}">
        <p14:creationId xmlns:p14="http://schemas.microsoft.com/office/powerpoint/2010/main" val="864900095"/>
      </p:ext>
    </p:extLst>
  </p:cSld>
</p:sld>
</file>

<file path=ppt/slides/slide26.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20173D-81F3-4FA0-8525-507960052E0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A53313-7BE5-44D1-BC48-278E8FF8C3A6}"/>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8AE745-FA29-4A32-9EC7-48E9DF8DB664}"/>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POSITIONALITY</a:t>
            </a:r>
          </a:p>
        </p:txBody>
      </p:sp>
      <p:sp>
        <p:nvSpPr>
          <p:cNvPr id="4" name="">
            <a:extLst xmlns:a="http://schemas.openxmlformats.org/drawingml/2006/main">
              <a:ext uri="{FF2B5EF4-FFF2-40B4-BE49-F238E27FC236}">
                <a16:creationId xmlns:a16="http://schemas.microsoft.com/office/drawing/2014/main" id="{99A5165A-3C02-40DC-BC0F-994A4496E442}"/>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Reflexivity makes influence visible and examinable</a:t>
            </a:r>
          </a:p>
        </p:txBody>
      </p:sp>
      <p:sp>
        <p:nvSpPr>
          <p:cNvPr id="5" name="">
            <a:extLst xmlns:a="http://schemas.openxmlformats.org/drawingml/2006/main">
              <a:ext uri="{FF2B5EF4-FFF2-40B4-BE49-F238E27FC236}">
                <a16:creationId xmlns:a16="http://schemas.microsoft.com/office/drawing/2014/main" id="{CC46C262-14C8-460A-985E-D2F28ED190A9}"/>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F6AB8EBD-EEF6-4A99-8A40-57FB84E21543}"/>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26</a:t>
            </a:r>
          </a:p>
        </p:txBody>
      </p:sp>
      <p:sp>
        <p:nvSpPr>
          <p:cNvPr id="7" name="">
            <a:extLst xmlns:a="http://schemas.openxmlformats.org/drawingml/2006/main">
              <a:ext uri="{FF2B5EF4-FFF2-40B4-BE49-F238E27FC236}">
                <a16:creationId xmlns:a16="http://schemas.microsoft.com/office/drawing/2014/main" id="{392FABE1-FDA9-4C4A-B3C4-425686FB1904}"/>
              </a:ext>
            </a:extLst>
          </p:cNvPr>
          <p:cNvSpPr>
            <a:spLocks xmlns:a="http://schemas.openxmlformats.org/drawingml/2006/main" noGrp="1"/>
          </p:cNvSpPr>
          <p:nvPr/>
        </p:nvSpPr>
        <p:spPr>
          <a:xfrm xmlns:a="http://schemas.openxmlformats.org/drawingml/2006/main">
            <a:off x="857250" y="2333625"/>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A54F2B"/>
                </a:solidFill>
              </a:defRPr>
            </a:pPr>
            <a:r>
              <a:rPr sz="1575" b="1" i="0">
                <a:solidFill>
                  <a:srgbClr val="A54F2B"/>
                </a:solidFill>
              </a:rPr>
              <a:t>Positionality does not mean…</a:t>
            </a:r>
          </a:p>
        </p:txBody>
      </p:sp>
      <p:sp>
        <p:nvSpPr>
          <p:cNvPr id="8" name="">
            <a:extLst xmlns:a="http://schemas.openxmlformats.org/drawingml/2006/main">
              <a:ext uri="{FF2B5EF4-FFF2-40B4-BE49-F238E27FC236}">
                <a16:creationId xmlns:a16="http://schemas.microsoft.com/office/drawing/2014/main" id="{B563FD02-6FEA-4ED5-A309-5D99A66AE0B2}"/>
              </a:ext>
            </a:extLst>
          </p:cNvPr>
          <p:cNvSpPr>
            <a:spLocks xmlns:a="http://schemas.openxmlformats.org/drawingml/2006/main" noGrp="1"/>
          </p:cNvSpPr>
          <p:nvPr/>
        </p:nvSpPr>
        <p:spPr>
          <a:xfrm xmlns:a="http://schemas.openxmlformats.org/drawingml/2006/main">
            <a:off x="857250" y="2952750"/>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7211B"/>
                </a:solidFill>
              </a:defRPr>
            </a:pPr>
            <a:r>
              <a:rPr sz="2625" b="1" i="0">
                <a:solidFill>
                  <a:srgbClr val="17211B"/>
                </a:solidFill>
              </a:rPr>
              <a:t>“Research is only opinion.”</a:t>
            </a:r>
          </a:p>
        </p:txBody>
      </p:sp>
      <p:sp>
        <p:nvSpPr>
          <p:cNvPr id="9" name="">
            <a:extLst xmlns:a="http://schemas.openxmlformats.org/drawingml/2006/main">
              <a:ext uri="{FF2B5EF4-FFF2-40B4-BE49-F238E27FC236}">
                <a16:creationId xmlns:a16="http://schemas.microsoft.com/office/drawing/2014/main" id="{2623DCE0-0105-45F6-88FC-38340EDB598B}"/>
              </a:ext>
            </a:extLst>
          </p:cNvPr>
          <p:cNvSpPr>
            <a:spLocks xmlns:a="http://schemas.openxmlformats.org/drawingml/2006/main" noGrp="1"/>
          </p:cNvSpPr>
          <p:nvPr/>
        </p:nvSpPr>
        <p:spPr>
          <a:xfrm xmlns:a="http://schemas.openxmlformats.org/drawingml/2006/main">
            <a:off x="6524625" y="23336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275D38"/>
                </a:solidFill>
              </a:defRPr>
            </a:pPr>
            <a:r>
              <a:rPr sz="1575" b="1" i="0">
                <a:solidFill>
                  <a:srgbClr val="275D38"/>
                </a:solidFill>
              </a:rPr>
              <a:t>It means rigorous researchers must…</a:t>
            </a:r>
          </a:p>
        </p:txBody>
      </p:sp>
      <p:sp>
        <p:nvSpPr>
          <p:cNvPr id="10" name="">
            <a:extLst xmlns:a="http://schemas.openxmlformats.org/drawingml/2006/main">
              <a:ext uri="{FF2B5EF4-FFF2-40B4-BE49-F238E27FC236}">
                <a16:creationId xmlns:a16="http://schemas.microsoft.com/office/drawing/2014/main" id="{DAF4D13C-368D-46A9-8072-2617B0C17850}"/>
              </a:ext>
            </a:extLst>
          </p:cNvPr>
          <p:cNvSpPr>
            <a:spLocks xmlns:a="http://schemas.openxmlformats.org/drawingml/2006/main" noGrp="1"/>
          </p:cNvSpPr>
          <p:nvPr/>
        </p:nvSpPr>
        <p:spPr>
          <a:xfrm xmlns:a="http://schemas.openxmlformats.org/drawingml/2006/main">
            <a:off x="6524625" y="30480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EA60DCC-0727-4615-939F-C40E4C31A28B}"/>
              </a:ext>
            </a:extLst>
          </p:cNvPr>
          <p:cNvSpPr>
            <a:spLocks xmlns:a="http://schemas.openxmlformats.org/drawingml/2006/main" noGrp="1"/>
          </p:cNvSpPr>
          <p:nvPr/>
        </p:nvSpPr>
        <p:spPr>
          <a:xfrm xmlns:a="http://schemas.openxmlformats.org/drawingml/2006/main">
            <a:off x="6791325" y="2952750"/>
            <a:ext cx="411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examine their relationship to the study;</a:t>
            </a:r>
          </a:p>
        </p:txBody>
      </p:sp>
      <p:sp>
        <p:nvSpPr>
          <p:cNvPr id="12" name="">
            <a:extLst xmlns:a="http://schemas.openxmlformats.org/drawingml/2006/main">
              <a:ext uri="{FF2B5EF4-FFF2-40B4-BE49-F238E27FC236}">
                <a16:creationId xmlns:a16="http://schemas.microsoft.com/office/drawing/2014/main" id="{A198CAD4-2B0D-424C-BCB0-4CD4934BD89A}"/>
              </a:ext>
            </a:extLst>
          </p:cNvPr>
          <p:cNvSpPr>
            <a:spLocks xmlns:a="http://schemas.openxmlformats.org/drawingml/2006/main" noGrp="1"/>
          </p:cNvSpPr>
          <p:nvPr/>
        </p:nvSpPr>
        <p:spPr>
          <a:xfrm xmlns:a="http://schemas.openxmlformats.org/drawingml/2006/main">
            <a:off x="6524625" y="35814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1117DA-96BC-4091-B13D-AD62F5F0CF98}"/>
              </a:ext>
            </a:extLst>
          </p:cNvPr>
          <p:cNvSpPr>
            <a:spLocks xmlns:a="http://schemas.openxmlformats.org/drawingml/2006/main" noGrp="1"/>
          </p:cNvSpPr>
          <p:nvPr/>
        </p:nvSpPr>
        <p:spPr>
          <a:xfrm xmlns:a="http://schemas.openxmlformats.org/drawingml/2006/main">
            <a:off x="6791325" y="3486150"/>
            <a:ext cx="411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manage influence where appropriate;</a:t>
            </a:r>
          </a:p>
        </p:txBody>
      </p:sp>
      <p:sp>
        <p:nvSpPr>
          <p:cNvPr id="14" name="">
            <a:extLst xmlns:a="http://schemas.openxmlformats.org/drawingml/2006/main">
              <a:ext uri="{FF2B5EF4-FFF2-40B4-BE49-F238E27FC236}">
                <a16:creationId xmlns:a16="http://schemas.microsoft.com/office/drawing/2014/main" id="{A13E10D3-79C3-459C-9F05-80D01A7A7557}"/>
              </a:ext>
            </a:extLst>
          </p:cNvPr>
          <p:cNvSpPr>
            <a:spLocks xmlns:a="http://schemas.openxmlformats.org/drawingml/2006/main" noGrp="1"/>
          </p:cNvSpPr>
          <p:nvPr/>
        </p:nvSpPr>
        <p:spPr>
          <a:xfrm xmlns:a="http://schemas.openxmlformats.org/drawingml/2006/main">
            <a:off x="6524625" y="41148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3E56EC5-8FE4-4F81-8611-37ED16A8CA84}"/>
              </a:ext>
            </a:extLst>
          </p:cNvPr>
          <p:cNvSpPr>
            <a:spLocks xmlns:a="http://schemas.openxmlformats.org/drawingml/2006/main" noGrp="1"/>
          </p:cNvSpPr>
          <p:nvPr/>
        </p:nvSpPr>
        <p:spPr>
          <a:xfrm xmlns:a="http://schemas.openxmlformats.org/drawingml/2006/main">
            <a:off x="6791325" y="4019550"/>
            <a:ext cx="411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make relevant choices transparent; and</a:t>
            </a:r>
          </a:p>
        </p:txBody>
      </p:sp>
      <p:sp>
        <p:nvSpPr>
          <p:cNvPr id="16" name="">
            <a:extLst xmlns:a="http://schemas.openxmlformats.org/drawingml/2006/main">
              <a:ext uri="{FF2B5EF4-FFF2-40B4-BE49-F238E27FC236}">
                <a16:creationId xmlns:a16="http://schemas.microsoft.com/office/drawing/2014/main" id="{0434B95E-141F-4C91-8129-B873BCEE63C9}"/>
              </a:ext>
            </a:extLst>
          </p:cNvPr>
          <p:cNvSpPr>
            <a:spLocks xmlns:a="http://schemas.openxmlformats.org/drawingml/2006/main" noGrp="1"/>
          </p:cNvSpPr>
          <p:nvPr/>
        </p:nvSpPr>
        <p:spPr>
          <a:xfrm xmlns:a="http://schemas.openxmlformats.org/drawingml/2006/main">
            <a:off x="6524625" y="46482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7FA5AF-5A6C-4345-85F3-4D0C68C4B9F0}"/>
              </a:ext>
            </a:extLst>
          </p:cNvPr>
          <p:cNvSpPr>
            <a:spLocks xmlns:a="http://schemas.openxmlformats.org/drawingml/2006/main" noGrp="1"/>
          </p:cNvSpPr>
          <p:nvPr/>
        </p:nvSpPr>
        <p:spPr>
          <a:xfrm xmlns:a="http://schemas.openxmlformats.org/drawingml/2006/main">
            <a:off x="6791325" y="4552950"/>
            <a:ext cx="411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remain open to alternative interpretations.</a:t>
            </a:r>
          </a:p>
        </p:txBody>
      </p:sp>
      <p:sp>
        <p:nvSpPr>
          <p:cNvPr id="18" name="">
            <a:extLst xmlns:a="http://schemas.openxmlformats.org/drawingml/2006/main">
              <a:ext uri="{FF2B5EF4-FFF2-40B4-BE49-F238E27FC236}">
                <a16:creationId xmlns:a16="http://schemas.microsoft.com/office/drawing/2014/main" id="{18946581-1505-4D06-BF56-E0F7C29E2491}"/>
              </a:ext>
            </a:extLst>
          </p:cNvPr>
          <p:cNvSpPr>
            <a:spLocks xmlns:a="http://schemas.openxmlformats.org/drawingml/2006/main" noGrp="1"/>
          </p:cNvSpPr>
          <p:nvPr/>
        </p:nvSpPr>
        <p:spPr>
          <a:xfrm xmlns:a="http://schemas.openxmlformats.org/drawingml/2006/main">
            <a:off x="5715000" y="2190750"/>
            <a:ext cx="38100" cy="314325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Tree>
    <p:extLst>
      <p:ext uri="{BB962C8B-B14F-4D97-AF65-F5344CB8AC3E}">
        <p14:creationId xmlns:p14="http://schemas.microsoft.com/office/powerpoint/2010/main" val="1699443758"/>
      </p:ext>
    </p:extLst>
  </p:cSld>
</p:sld>
</file>

<file path=ppt/slides/slide27.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1791183-4150-4253-BF7E-DFA5B90FBBE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AB9A81-DFE2-4184-8B5E-B1D5330C4E36}"/>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69F2C9-0A8E-4613-9549-53D31E1BD76F}"/>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RESEARCH ALIGNMENT</a:t>
            </a:r>
          </a:p>
        </p:txBody>
      </p:sp>
      <p:sp>
        <p:nvSpPr>
          <p:cNvPr id="4" name="">
            <a:extLst xmlns:a="http://schemas.openxmlformats.org/drawingml/2006/main">
              <a:ext uri="{FF2B5EF4-FFF2-40B4-BE49-F238E27FC236}">
                <a16:creationId xmlns:a16="http://schemas.microsoft.com/office/drawing/2014/main" id="{C4CDAB95-7D47-491A-A0FA-889C60900DCE}"/>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Alignment is the spine of a defensible study</a:t>
            </a:r>
          </a:p>
        </p:txBody>
      </p:sp>
      <p:sp>
        <p:nvSpPr>
          <p:cNvPr id="5" name="">
            <a:extLst xmlns:a="http://schemas.openxmlformats.org/drawingml/2006/main">
              <a:ext uri="{FF2B5EF4-FFF2-40B4-BE49-F238E27FC236}">
                <a16:creationId xmlns:a16="http://schemas.microsoft.com/office/drawing/2014/main" id="{84F25C97-5569-4E1E-AD22-7618FFBD71DA}"/>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CAE4E68E-0A6A-4A1C-8898-420A75F24E0C}"/>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27</a:t>
            </a:r>
          </a:p>
        </p:txBody>
      </p:sp>
      <p:sp>
        <p:nvSpPr>
          <p:cNvPr id="7" name="">
            <a:extLst xmlns:a="http://schemas.openxmlformats.org/drawingml/2006/main">
              <a:ext uri="{FF2B5EF4-FFF2-40B4-BE49-F238E27FC236}">
                <a16:creationId xmlns:a16="http://schemas.microsoft.com/office/drawing/2014/main" id="{0FF9B348-5DA1-4A16-A1F9-1477DDBE64D2}"/>
              </a:ext>
            </a:extLst>
          </p:cNvPr>
          <p:cNvSpPr>
            <a:spLocks xmlns:a="http://schemas.openxmlformats.org/drawingml/2006/main" noGrp="1"/>
          </p:cNvSpPr>
          <p:nvPr/>
        </p:nvSpPr>
        <p:spPr>
          <a:xfrm xmlns:a="http://schemas.openxmlformats.org/drawingml/2006/main">
            <a:off x="590550" y="2724150"/>
            <a:ext cx="1381125"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4288">
            <a:solidFill>
              <a:srgbClr val="275D38"/>
            </a:solidFill>
            <a:prstDash val="solid"/>
          </a:ln>
        </p:spPr>
      </p:sp>
      <p:sp>
        <p:nvSpPr>
          <p:cNvPr id="8" name="">
            <a:extLst xmlns:a="http://schemas.openxmlformats.org/drawingml/2006/main">
              <a:ext uri="{FF2B5EF4-FFF2-40B4-BE49-F238E27FC236}">
                <a16:creationId xmlns:a16="http://schemas.microsoft.com/office/drawing/2014/main" id="{DF8BA32A-90C8-4AB5-A5B6-F0335647D47F}"/>
              </a:ext>
            </a:extLst>
          </p:cNvPr>
          <p:cNvSpPr>
            <a:spLocks xmlns:a="http://schemas.openxmlformats.org/drawingml/2006/main" noGrp="1"/>
          </p:cNvSpPr>
          <p:nvPr/>
        </p:nvSpPr>
        <p:spPr>
          <a:xfrm xmlns:a="http://schemas.openxmlformats.org/drawingml/2006/main">
            <a:off x="685800" y="2981325"/>
            <a:ext cx="119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23421"/>
                </a:solidFill>
              </a:defRPr>
            </a:pPr>
            <a:r>
              <a:rPr sz="1275" b="1" i="0">
                <a:solidFill>
                  <a:srgbClr val="123421"/>
                </a:solidFill>
              </a:rPr>
              <a:t>Problem</a:t>
            </a:r>
          </a:p>
        </p:txBody>
      </p:sp>
      <p:sp>
        <p:nvSpPr>
          <p:cNvPr id="9" name="">
            <a:extLst xmlns:a="http://schemas.openxmlformats.org/drawingml/2006/main">
              <a:ext uri="{FF2B5EF4-FFF2-40B4-BE49-F238E27FC236}">
                <a16:creationId xmlns:a16="http://schemas.microsoft.com/office/drawing/2014/main" id="{A507BCED-CCC1-4963-AF93-FCEFF68AADB9}"/>
              </a:ext>
            </a:extLst>
          </p:cNvPr>
          <p:cNvSpPr>
            <a:spLocks xmlns:a="http://schemas.openxmlformats.org/drawingml/2006/main" noGrp="1"/>
          </p:cNvSpPr>
          <p:nvPr/>
        </p:nvSpPr>
        <p:spPr>
          <a:xfrm xmlns:a="http://schemas.openxmlformats.org/drawingml/2006/main">
            <a:off x="1952625" y="3038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275D38"/>
                </a:solidFill>
              </a:defRPr>
            </a:pPr>
            <a:r>
              <a:rPr sz="1725" b="1" i="0">
                <a:solidFill>
                  <a:srgbClr val="275D38"/>
                </a:solidFill>
              </a:rPr>
              <a:t>→</a:t>
            </a:r>
          </a:p>
        </p:txBody>
      </p:sp>
      <p:sp>
        <p:nvSpPr>
          <p:cNvPr id="10" name="">
            <a:extLst xmlns:a="http://schemas.openxmlformats.org/drawingml/2006/main">
              <a:ext uri="{FF2B5EF4-FFF2-40B4-BE49-F238E27FC236}">
                <a16:creationId xmlns:a16="http://schemas.microsoft.com/office/drawing/2014/main" id="{C2DC089F-E02B-4C1B-ADC0-812232948A3C}"/>
              </a:ext>
            </a:extLst>
          </p:cNvPr>
          <p:cNvSpPr>
            <a:spLocks xmlns:a="http://schemas.openxmlformats.org/drawingml/2006/main" noGrp="1"/>
          </p:cNvSpPr>
          <p:nvPr/>
        </p:nvSpPr>
        <p:spPr>
          <a:xfrm xmlns:a="http://schemas.openxmlformats.org/drawingml/2006/main">
            <a:off x="2219325" y="2724150"/>
            <a:ext cx="1381125" cy="1028700"/>
          </a:xfrm>
          <a:prstGeom xmlns:a="http://schemas.openxmlformats.org/drawingml/2006/main" prst="roundRect">
            <a:avLst>
              <a:gd name="adj" fmla="val 7407"/>
            </a:avLst>
          </a:prstGeom>
          <a:solidFill xmlns:a="http://schemas.openxmlformats.org/drawingml/2006/main">
            <a:srgbClr val="E8F1EB"/>
          </a:solidFill>
          <a:ln xmlns:a="http://schemas.openxmlformats.org/drawingml/2006/main" w="14288">
            <a:solidFill>
              <a:srgbClr val="275D38"/>
            </a:solidFill>
            <a:prstDash val="solid"/>
          </a:ln>
        </p:spPr>
      </p:sp>
      <p:sp>
        <p:nvSpPr>
          <p:cNvPr id="11" name="">
            <a:extLst xmlns:a="http://schemas.openxmlformats.org/drawingml/2006/main">
              <a:ext uri="{FF2B5EF4-FFF2-40B4-BE49-F238E27FC236}">
                <a16:creationId xmlns:a16="http://schemas.microsoft.com/office/drawing/2014/main" id="{097DB3ED-468E-40B7-AA2D-2097188659B3}"/>
              </a:ext>
            </a:extLst>
          </p:cNvPr>
          <p:cNvSpPr>
            <a:spLocks xmlns:a="http://schemas.openxmlformats.org/drawingml/2006/main" noGrp="1"/>
          </p:cNvSpPr>
          <p:nvPr/>
        </p:nvSpPr>
        <p:spPr>
          <a:xfrm xmlns:a="http://schemas.openxmlformats.org/drawingml/2006/main">
            <a:off x="2314575" y="2981325"/>
            <a:ext cx="119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23421"/>
                </a:solidFill>
              </a:defRPr>
            </a:pPr>
            <a:r>
              <a:rPr sz="1275" b="1" i="0">
                <a:solidFill>
                  <a:srgbClr val="123421"/>
                </a:solidFill>
              </a:rPr>
              <a:t>Purpose</a:t>
            </a:r>
          </a:p>
        </p:txBody>
      </p:sp>
      <p:sp>
        <p:nvSpPr>
          <p:cNvPr id="12" name="">
            <a:extLst xmlns:a="http://schemas.openxmlformats.org/drawingml/2006/main">
              <a:ext uri="{FF2B5EF4-FFF2-40B4-BE49-F238E27FC236}">
                <a16:creationId xmlns:a16="http://schemas.microsoft.com/office/drawing/2014/main" id="{C7CF25A4-4DFC-4C5F-BD2E-A752B5FE4797}"/>
              </a:ext>
            </a:extLst>
          </p:cNvPr>
          <p:cNvSpPr>
            <a:spLocks xmlns:a="http://schemas.openxmlformats.org/drawingml/2006/main" noGrp="1"/>
          </p:cNvSpPr>
          <p:nvPr/>
        </p:nvSpPr>
        <p:spPr>
          <a:xfrm xmlns:a="http://schemas.openxmlformats.org/drawingml/2006/main">
            <a:off x="3581400" y="3038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275D38"/>
                </a:solidFill>
              </a:defRPr>
            </a:pPr>
            <a:r>
              <a:rPr sz="1725" b="1" i="0">
                <a:solidFill>
                  <a:srgbClr val="275D38"/>
                </a:solidFill>
              </a:rPr>
              <a:t>→</a:t>
            </a:r>
          </a:p>
        </p:txBody>
      </p:sp>
      <p:sp>
        <p:nvSpPr>
          <p:cNvPr id="13" name="">
            <a:extLst xmlns:a="http://schemas.openxmlformats.org/drawingml/2006/main">
              <a:ext uri="{FF2B5EF4-FFF2-40B4-BE49-F238E27FC236}">
                <a16:creationId xmlns:a16="http://schemas.microsoft.com/office/drawing/2014/main" id="{92FE5A81-29B8-48E4-9F18-0421334AA79E}"/>
              </a:ext>
            </a:extLst>
          </p:cNvPr>
          <p:cNvSpPr>
            <a:spLocks xmlns:a="http://schemas.openxmlformats.org/drawingml/2006/main" noGrp="1"/>
          </p:cNvSpPr>
          <p:nvPr/>
        </p:nvSpPr>
        <p:spPr>
          <a:xfrm xmlns:a="http://schemas.openxmlformats.org/drawingml/2006/main">
            <a:off x="3848100" y="2724150"/>
            <a:ext cx="1381125"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4288">
            <a:solidFill>
              <a:srgbClr val="275D38"/>
            </a:solidFill>
            <a:prstDash val="solid"/>
          </a:ln>
        </p:spPr>
      </p:sp>
      <p:sp>
        <p:nvSpPr>
          <p:cNvPr id="14" name="">
            <a:extLst xmlns:a="http://schemas.openxmlformats.org/drawingml/2006/main">
              <a:ext uri="{FF2B5EF4-FFF2-40B4-BE49-F238E27FC236}">
                <a16:creationId xmlns:a16="http://schemas.microsoft.com/office/drawing/2014/main" id="{0634BE06-1ADC-4CD9-8711-DB39749C08F0}"/>
              </a:ext>
            </a:extLst>
          </p:cNvPr>
          <p:cNvSpPr>
            <a:spLocks xmlns:a="http://schemas.openxmlformats.org/drawingml/2006/main" noGrp="1"/>
          </p:cNvSpPr>
          <p:nvPr/>
        </p:nvSpPr>
        <p:spPr>
          <a:xfrm xmlns:a="http://schemas.openxmlformats.org/drawingml/2006/main">
            <a:off x="3943350" y="2981325"/>
            <a:ext cx="119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23421"/>
                </a:solidFill>
              </a:defRPr>
            </a:pPr>
            <a:r>
              <a:rPr sz="1275" b="1" i="0">
                <a:solidFill>
                  <a:srgbClr val="123421"/>
                </a:solidFill>
              </a:rPr>
              <a:t>Research</a:t>
            </a:r>
          </a:p>
          <a:p xmlns:a="http://schemas.openxmlformats.org/drawingml/2006/main">
            <a:pPr algn="ctr">
              <a:defRPr sz="1275" b="1" i="0">
                <a:solidFill>
                  <a:srgbClr val="123421"/>
                </a:solidFill>
              </a:defRPr>
            </a:pPr>
            <a:r>
              <a:rPr sz="1275" b="1" i="0">
                <a:solidFill>
                  <a:srgbClr val="123421"/>
                </a:solidFill>
              </a:rPr>
              <a:t>question</a:t>
            </a:r>
          </a:p>
        </p:txBody>
      </p:sp>
      <p:sp>
        <p:nvSpPr>
          <p:cNvPr id="15" name="">
            <a:extLst xmlns:a="http://schemas.openxmlformats.org/drawingml/2006/main">
              <a:ext uri="{FF2B5EF4-FFF2-40B4-BE49-F238E27FC236}">
                <a16:creationId xmlns:a16="http://schemas.microsoft.com/office/drawing/2014/main" id="{CEF1EF03-948B-4BF1-8719-09D9B44C4F7E}"/>
              </a:ext>
            </a:extLst>
          </p:cNvPr>
          <p:cNvSpPr>
            <a:spLocks xmlns:a="http://schemas.openxmlformats.org/drawingml/2006/main" noGrp="1"/>
          </p:cNvSpPr>
          <p:nvPr/>
        </p:nvSpPr>
        <p:spPr>
          <a:xfrm xmlns:a="http://schemas.openxmlformats.org/drawingml/2006/main">
            <a:off x="5210175" y="3038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275D38"/>
                </a:solidFill>
              </a:defRPr>
            </a:pPr>
            <a:r>
              <a:rPr sz="1725" b="1" i="0">
                <a:solidFill>
                  <a:srgbClr val="275D38"/>
                </a:solidFill>
              </a:rPr>
              <a:t>→</a:t>
            </a:r>
          </a:p>
        </p:txBody>
      </p:sp>
      <p:sp>
        <p:nvSpPr>
          <p:cNvPr id="16" name="">
            <a:extLst xmlns:a="http://schemas.openxmlformats.org/drawingml/2006/main">
              <a:ext uri="{FF2B5EF4-FFF2-40B4-BE49-F238E27FC236}">
                <a16:creationId xmlns:a16="http://schemas.microsoft.com/office/drawing/2014/main" id="{7883E628-7EEA-43CA-8EBD-A4A7793D9CEF}"/>
              </a:ext>
            </a:extLst>
          </p:cNvPr>
          <p:cNvSpPr>
            <a:spLocks xmlns:a="http://schemas.openxmlformats.org/drawingml/2006/main" noGrp="1"/>
          </p:cNvSpPr>
          <p:nvPr/>
        </p:nvSpPr>
        <p:spPr>
          <a:xfrm xmlns:a="http://schemas.openxmlformats.org/drawingml/2006/main">
            <a:off x="5476875" y="2724150"/>
            <a:ext cx="1381125" cy="1028700"/>
          </a:xfrm>
          <a:prstGeom xmlns:a="http://schemas.openxmlformats.org/drawingml/2006/main" prst="roundRect">
            <a:avLst>
              <a:gd name="adj" fmla="val 7407"/>
            </a:avLst>
          </a:prstGeom>
          <a:solidFill xmlns:a="http://schemas.openxmlformats.org/drawingml/2006/main">
            <a:srgbClr val="E8F1EB"/>
          </a:solidFill>
          <a:ln xmlns:a="http://schemas.openxmlformats.org/drawingml/2006/main" w="14288">
            <a:solidFill>
              <a:srgbClr val="275D38"/>
            </a:solidFill>
            <a:prstDash val="solid"/>
          </a:ln>
        </p:spPr>
      </p:sp>
      <p:sp>
        <p:nvSpPr>
          <p:cNvPr id="17" name="">
            <a:extLst xmlns:a="http://schemas.openxmlformats.org/drawingml/2006/main">
              <a:ext uri="{FF2B5EF4-FFF2-40B4-BE49-F238E27FC236}">
                <a16:creationId xmlns:a16="http://schemas.microsoft.com/office/drawing/2014/main" id="{52372883-F98D-49BC-ACA5-4FECA87FD758}"/>
              </a:ext>
            </a:extLst>
          </p:cNvPr>
          <p:cNvSpPr>
            <a:spLocks xmlns:a="http://schemas.openxmlformats.org/drawingml/2006/main" noGrp="1"/>
          </p:cNvSpPr>
          <p:nvPr/>
        </p:nvSpPr>
        <p:spPr>
          <a:xfrm xmlns:a="http://schemas.openxmlformats.org/drawingml/2006/main">
            <a:off x="5572125" y="2981325"/>
            <a:ext cx="119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23421"/>
                </a:solidFill>
              </a:defRPr>
            </a:pPr>
            <a:r>
              <a:rPr sz="1275" b="1" i="0">
                <a:solidFill>
                  <a:srgbClr val="123421"/>
                </a:solidFill>
              </a:rPr>
              <a:t>Approach +</a:t>
            </a:r>
          </a:p>
          <a:p xmlns:a="http://schemas.openxmlformats.org/drawingml/2006/main">
            <a:pPr algn="ctr">
              <a:defRPr sz="1275" b="1" i="0">
                <a:solidFill>
                  <a:srgbClr val="123421"/>
                </a:solidFill>
              </a:defRPr>
            </a:pPr>
            <a:r>
              <a:rPr sz="1275" b="1" i="0">
                <a:solidFill>
                  <a:srgbClr val="123421"/>
                </a:solidFill>
              </a:rPr>
              <a:t>design</a:t>
            </a:r>
          </a:p>
        </p:txBody>
      </p:sp>
      <p:sp>
        <p:nvSpPr>
          <p:cNvPr id="18" name="">
            <a:extLst xmlns:a="http://schemas.openxmlformats.org/drawingml/2006/main">
              <a:ext uri="{FF2B5EF4-FFF2-40B4-BE49-F238E27FC236}">
                <a16:creationId xmlns:a16="http://schemas.microsoft.com/office/drawing/2014/main" id="{70322DFF-2E2D-4827-9D70-95D4FF1C909A}"/>
              </a:ext>
            </a:extLst>
          </p:cNvPr>
          <p:cNvSpPr>
            <a:spLocks xmlns:a="http://schemas.openxmlformats.org/drawingml/2006/main" noGrp="1"/>
          </p:cNvSpPr>
          <p:nvPr/>
        </p:nvSpPr>
        <p:spPr>
          <a:xfrm xmlns:a="http://schemas.openxmlformats.org/drawingml/2006/main">
            <a:off x="6838950" y="3038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275D38"/>
                </a:solidFill>
              </a:defRPr>
            </a:pPr>
            <a:r>
              <a:rPr sz="1725" b="1" i="0">
                <a:solidFill>
                  <a:srgbClr val="275D38"/>
                </a:solidFill>
              </a:rPr>
              <a:t>→</a:t>
            </a:r>
          </a:p>
        </p:txBody>
      </p:sp>
      <p:sp>
        <p:nvSpPr>
          <p:cNvPr id="19" name="">
            <a:extLst xmlns:a="http://schemas.openxmlformats.org/drawingml/2006/main">
              <a:ext uri="{FF2B5EF4-FFF2-40B4-BE49-F238E27FC236}">
                <a16:creationId xmlns:a16="http://schemas.microsoft.com/office/drawing/2014/main" id="{15DA5EFC-69ED-4A1C-88B7-E8B231478684}"/>
              </a:ext>
            </a:extLst>
          </p:cNvPr>
          <p:cNvSpPr>
            <a:spLocks xmlns:a="http://schemas.openxmlformats.org/drawingml/2006/main" noGrp="1"/>
          </p:cNvSpPr>
          <p:nvPr/>
        </p:nvSpPr>
        <p:spPr>
          <a:xfrm xmlns:a="http://schemas.openxmlformats.org/drawingml/2006/main">
            <a:off x="7105650" y="2724150"/>
            <a:ext cx="1381125"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4288">
            <a:solidFill>
              <a:srgbClr val="275D38"/>
            </a:solidFill>
            <a:prstDash val="solid"/>
          </a:ln>
        </p:spPr>
      </p:sp>
      <p:sp>
        <p:nvSpPr>
          <p:cNvPr id="20" name="">
            <a:extLst xmlns:a="http://schemas.openxmlformats.org/drawingml/2006/main">
              <a:ext uri="{FF2B5EF4-FFF2-40B4-BE49-F238E27FC236}">
                <a16:creationId xmlns:a16="http://schemas.microsoft.com/office/drawing/2014/main" id="{20A6155B-5AB9-4375-B638-2EF646AB35E6}"/>
              </a:ext>
            </a:extLst>
          </p:cNvPr>
          <p:cNvSpPr>
            <a:spLocks xmlns:a="http://schemas.openxmlformats.org/drawingml/2006/main" noGrp="1"/>
          </p:cNvSpPr>
          <p:nvPr/>
        </p:nvSpPr>
        <p:spPr>
          <a:xfrm xmlns:a="http://schemas.openxmlformats.org/drawingml/2006/main">
            <a:off x="7200900" y="2981325"/>
            <a:ext cx="119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23421"/>
                </a:solidFill>
              </a:defRPr>
            </a:pPr>
            <a:r>
              <a:rPr sz="1275" b="1" i="0">
                <a:solidFill>
                  <a:srgbClr val="123421"/>
                </a:solidFill>
              </a:rPr>
              <a:t>Participants</a:t>
            </a:r>
          </a:p>
          <a:p xmlns:a="http://schemas.openxmlformats.org/drawingml/2006/main">
            <a:pPr algn="ctr">
              <a:defRPr sz="1275" b="1" i="0">
                <a:solidFill>
                  <a:srgbClr val="123421"/>
                </a:solidFill>
              </a:defRPr>
            </a:pPr>
            <a:r>
              <a:rPr sz="1275" b="1" i="0">
                <a:solidFill>
                  <a:srgbClr val="123421"/>
                </a:solidFill>
              </a:rPr>
              <a:t>+ data</a:t>
            </a:r>
          </a:p>
        </p:txBody>
      </p:sp>
      <p:sp>
        <p:nvSpPr>
          <p:cNvPr id="21" name="">
            <a:extLst xmlns:a="http://schemas.openxmlformats.org/drawingml/2006/main">
              <a:ext uri="{FF2B5EF4-FFF2-40B4-BE49-F238E27FC236}">
                <a16:creationId xmlns:a16="http://schemas.microsoft.com/office/drawing/2014/main" id="{D5B6E07B-066A-4256-AE62-48DA85E5CE06}"/>
              </a:ext>
            </a:extLst>
          </p:cNvPr>
          <p:cNvSpPr>
            <a:spLocks xmlns:a="http://schemas.openxmlformats.org/drawingml/2006/main" noGrp="1"/>
          </p:cNvSpPr>
          <p:nvPr/>
        </p:nvSpPr>
        <p:spPr>
          <a:xfrm xmlns:a="http://schemas.openxmlformats.org/drawingml/2006/main">
            <a:off x="8467725" y="3038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275D38"/>
                </a:solidFill>
              </a:defRPr>
            </a:pPr>
            <a:r>
              <a:rPr sz="1725" b="1" i="0">
                <a:solidFill>
                  <a:srgbClr val="275D38"/>
                </a:solidFill>
              </a:rPr>
              <a:t>→</a:t>
            </a:r>
          </a:p>
        </p:txBody>
      </p:sp>
      <p:sp>
        <p:nvSpPr>
          <p:cNvPr id="22" name="">
            <a:extLst xmlns:a="http://schemas.openxmlformats.org/drawingml/2006/main">
              <a:ext uri="{FF2B5EF4-FFF2-40B4-BE49-F238E27FC236}">
                <a16:creationId xmlns:a16="http://schemas.microsoft.com/office/drawing/2014/main" id="{2937A396-A52F-4DE1-A1AA-E5A9FCD8AC41}"/>
              </a:ext>
            </a:extLst>
          </p:cNvPr>
          <p:cNvSpPr>
            <a:spLocks xmlns:a="http://schemas.openxmlformats.org/drawingml/2006/main" noGrp="1"/>
          </p:cNvSpPr>
          <p:nvPr/>
        </p:nvSpPr>
        <p:spPr>
          <a:xfrm xmlns:a="http://schemas.openxmlformats.org/drawingml/2006/main">
            <a:off x="8734425" y="2724150"/>
            <a:ext cx="1381125" cy="1028700"/>
          </a:xfrm>
          <a:prstGeom xmlns:a="http://schemas.openxmlformats.org/drawingml/2006/main" prst="roundRect">
            <a:avLst>
              <a:gd name="adj" fmla="val 7407"/>
            </a:avLst>
          </a:prstGeom>
          <a:solidFill xmlns:a="http://schemas.openxmlformats.org/drawingml/2006/main">
            <a:srgbClr val="E8F1EB"/>
          </a:solidFill>
          <a:ln xmlns:a="http://schemas.openxmlformats.org/drawingml/2006/main" w="14288">
            <a:solidFill>
              <a:srgbClr val="275D38"/>
            </a:solidFill>
            <a:prstDash val="solid"/>
          </a:ln>
        </p:spPr>
      </p:sp>
      <p:sp>
        <p:nvSpPr>
          <p:cNvPr id="23" name="">
            <a:extLst xmlns:a="http://schemas.openxmlformats.org/drawingml/2006/main">
              <a:ext uri="{FF2B5EF4-FFF2-40B4-BE49-F238E27FC236}">
                <a16:creationId xmlns:a16="http://schemas.microsoft.com/office/drawing/2014/main" id="{C20A299C-5C05-42B7-BE91-1C1EC478A5E7}"/>
              </a:ext>
            </a:extLst>
          </p:cNvPr>
          <p:cNvSpPr>
            <a:spLocks xmlns:a="http://schemas.openxmlformats.org/drawingml/2006/main" noGrp="1"/>
          </p:cNvSpPr>
          <p:nvPr/>
        </p:nvSpPr>
        <p:spPr>
          <a:xfrm xmlns:a="http://schemas.openxmlformats.org/drawingml/2006/main">
            <a:off x="8829675" y="2981325"/>
            <a:ext cx="119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23421"/>
                </a:solidFill>
              </a:defRPr>
            </a:pPr>
            <a:r>
              <a:rPr sz="1275" b="1" i="0">
                <a:solidFill>
                  <a:srgbClr val="123421"/>
                </a:solidFill>
              </a:rPr>
              <a:t>Analysis</a:t>
            </a:r>
          </a:p>
        </p:txBody>
      </p:sp>
      <p:sp>
        <p:nvSpPr>
          <p:cNvPr id="24" name="">
            <a:extLst xmlns:a="http://schemas.openxmlformats.org/drawingml/2006/main">
              <a:ext uri="{FF2B5EF4-FFF2-40B4-BE49-F238E27FC236}">
                <a16:creationId xmlns:a16="http://schemas.microsoft.com/office/drawing/2014/main" id="{0175105E-6494-4811-8B8B-4D46FBD81DF8}"/>
              </a:ext>
            </a:extLst>
          </p:cNvPr>
          <p:cNvSpPr>
            <a:spLocks xmlns:a="http://schemas.openxmlformats.org/drawingml/2006/main" noGrp="1"/>
          </p:cNvSpPr>
          <p:nvPr/>
        </p:nvSpPr>
        <p:spPr>
          <a:xfrm xmlns:a="http://schemas.openxmlformats.org/drawingml/2006/main">
            <a:off x="10096500" y="3038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i="0">
                <a:solidFill>
                  <a:srgbClr val="275D38"/>
                </a:solidFill>
              </a:defRPr>
            </a:pPr>
            <a:r>
              <a:rPr sz="1725" b="1" i="0">
                <a:solidFill>
                  <a:srgbClr val="275D38"/>
                </a:solidFill>
              </a:rPr>
              <a:t>→</a:t>
            </a:r>
          </a:p>
        </p:txBody>
      </p:sp>
      <p:sp>
        <p:nvSpPr>
          <p:cNvPr id="25" name="">
            <a:extLst xmlns:a="http://schemas.openxmlformats.org/drawingml/2006/main">
              <a:ext uri="{FF2B5EF4-FFF2-40B4-BE49-F238E27FC236}">
                <a16:creationId xmlns:a16="http://schemas.microsoft.com/office/drawing/2014/main" id="{03034EE2-CC47-4BB6-A74D-EDC1A324757B}"/>
              </a:ext>
            </a:extLst>
          </p:cNvPr>
          <p:cNvSpPr>
            <a:spLocks xmlns:a="http://schemas.openxmlformats.org/drawingml/2006/main" noGrp="1"/>
          </p:cNvSpPr>
          <p:nvPr/>
        </p:nvSpPr>
        <p:spPr>
          <a:xfrm xmlns:a="http://schemas.openxmlformats.org/drawingml/2006/main">
            <a:off x="10363200" y="2724150"/>
            <a:ext cx="1381125" cy="1028700"/>
          </a:xfrm>
          <a:prstGeom xmlns:a="http://schemas.openxmlformats.org/drawingml/2006/main" prst="roundRect">
            <a:avLst>
              <a:gd name="adj" fmla="val 7407"/>
            </a:avLst>
          </a:prstGeom>
          <a:solidFill xmlns:a="http://schemas.openxmlformats.org/drawingml/2006/main">
            <a:srgbClr val="FFDB05"/>
          </a:solidFill>
          <a:ln xmlns:a="http://schemas.openxmlformats.org/drawingml/2006/main" w="14288">
            <a:solidFill>
              <a:srgbClr val="275D38"/>
            </a:solidFill>
            <a:prstDash val="solid"/>
          </a:ln>
        </p:spPr>
      </p:sp>
      <p:sp>
        <p:nvSpPr>
          <p:cNvPr id="26" name="">
            <a:extLst xmlns:a="http://schemas.openxmlformats.org/drawingml/2006/main">
              <a:ext uri="{FF2B5EF4-FFF2-40B4-BE49-F238E27FC236}">
                <a16:creationId xmlns:a16="http://schemas.microsoft.com/office/drawing/2014/main" id="{9882480D-BC2B-41AE-A5E6-9922219A111D}"/>
              </a:ext>
            </a:extLst>
          </p:cNvPr>
          <p:cNvSpPr>
            <a:spLocks xmlns:a="http://schemas.openxmlformats.org/drawingml/2006/main" noGrp="1"/>
          </p:cNvSpPr>
          <p:nvPr/>
        </p:nvSpPr>
        <p:spPr>
          <a:xfrm xmlns:a="http://schemas.openxmlformats.org/drawingml/2006/main">
            <a:off x="10458450" y="2981325"/>
            <a:ext cx="119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i="0">
                <a:solidFill>
                  <a:srgbClr val="123421"/>
                </a:solidFill>
              </a:defRPr>
            </a:pPr>
            <a:r>
              <a:rPr sz="1275" b="1" i="0">
                <a:solidFill>
                  <a:srgbClr val="123421"/>
                </a:solidFill>
              </a:rPr>
              <a:t>Conclusions</a:t>
            </a:r>
          </a:p>
        </p:txBody>
      </p:sp>
      <p:sp>
        <p:nvSpPr>
          <p:cNvPr id="27" name="">
            <a:extLst xmlns:a="http://schemas.openxmlformats.org/drawingml/2006/main">
              <a:ext uri="{FF2B5EF4-FFF2-40B4-BE49-F238E27FC236}">
                <a16:creationId xmlns:a16="http://schemas.microsoft.com/office/drawing/2014/main" id="{EB132BBE-18BB-4BA4-B2D9-CC13FADFD6D3}"/>
              </a:ext>
            </a:extLst>
          </p:cNvPr>
          <p:cNvSpPr>
            <a:spLocks xmlns:a="http://schemas.openxmlformats.org/drawingml/2006/main" noGrp="1"/>
          </p:cNvSpPr>
          <p:nvPr/>
        </p:nvSpPr>
        <p:spPr>
          <a:xfrm xmlns:a="http://schemas.openxmlformats.org/drawingml/2006/main">
            <a:off x="2333625" y="45720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i="0">
                <a:solidFill>
                  <a:srgbClr val="123421"/>
                </a:solidFill>
              </a:defRPr>
            </a:pPr>
            <a:r>
              <a:rPr sz="2325" b="1" i="0">
                <a:solidFill>
                  <a:srgbClr val="123421"/>
                </a:solidFill>
              </a:rPr>
              <a:t>If one link does not make sense, the final claim weakens.</a:t>
            </a:r>
          </a:p>
        </p:txBody>
      </p:sp>
    </p:spTree>
    <p:extLst>
      <p:ext uri="{BB962C8B-B14F-4D97-AF65-F5344CB8AC3E}">
        <p14:creationId xmlns:p14="http://schemas.microsoft.com/office/powerpoint/2010/main" val="677264636"/>
      </p:ext>
    </p:extLst>
  </p:cSld>
</p:sld>
</file>

<file path=ppt/slides/slide28.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83F528A-CE54-4341-9FF6-F56EE0FB640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263E21-4872-4052-8B19-926009931F20}"/>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CE03BB5-9073-473A-B4C4-E38BF48497DF}"/>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RESEARCH ALIGNMENT</a:t>
            </a:r>
          </a:p>
        </p:txBody>
      </p:sp>
      <p:sp>
        <p:nvSpPr>
          <p:cNvPr id="4" name="">
            <a:extLst xmlns:a="http://schemas.openxmlformats.org/drawingml/2006/main">
              <a:ext uri="{FF2B5EF4-FFF2-40B4-BE49-F238E27FC236}">
                <a16:creationId xmlns:a16="http://schemas.microsoft.com/office/drawing/2014/main" id="{0F43954A-0678-4A69-9C00-E46440FB6FE9}"/>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Misalignment can hide</a:t>
            </a:r>
          </a:p>
          <a:p xmlns:a="http://schemas.openxmlformats.org/drawingml/2006/main">
            <a:pPr algn="l">
              <a:defRPr sz="3000" b="1" i="0">
                <a:solidFill>
                  <a:srgbClr val="123421"/>
                </a:solidFill>
              </a:defRPr>
            </a:pPr>
            <a:r>
              <a:rPr sz="3000" b="1" i="0">
                <a:solidFill>
                  <a:srgbClr val="123421"/>
                </a:solidFill>
              </a:rPr>
              <a:t>in plain sight</a:t>
            </a:r>
          </a:p>
        </p:txBody>
      </p:sp>
      <p:sp>
        <p:nvSpPr>
          <p:cNvPr id="5" name="">
            <a:extLst xmlns:a="http://schemas.openxmlformats.org/drawingml/2006/main">
              <a:ext uri="{FF2B5EF4-FFF2-40B4-BE49-F238E27FC236}">
                <a16:creationId xmlns:a16="http://schemas.microsoft.com/office/drawing/2014/main" id="{B4E8B763-A780-481B-9640-59A99D851F42}"/>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3F276913-5608-44F8-B9C6-D101A22A09D7}"/>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28</a:t>
            </a:r>
          </a:p>
        </p:txBody>
      </p:sp>
      <p:sp>
        <p:nvSpPr>
          <p:cNvPr id="7" name="">
            <a:extLst xmlns:a="http://schemas.openxmlformats.org/drawingml/2006/main">
              <a:ext uri="{FF2B5EF4-FFF2-40B4-BE49-F238E27FC236}">
                <a16:creationId xmlns:a16="http://schemas.microsoft.com/office/drawing/2014/main" id="{923952D8-41AD-493B-B592-3BD3ED05F839}"/>
              </a:ext>
            </a:extLst>
          </p:cNvPr>
          <p:cNvSpPr>
            <a:spLocks xmlns:a="http://schemas.openxmlformats.org/drawingml/2006/main" noGrp="1"/>
          </p:cNvSpPr>
          <p:nvPr/>
        </p:nvSpPr>
        <p:spPr>
          <a:xfrm xmlns:a="http://schemas.openxmlformats.org/drawingml/2006/main">
            <a:off x="762000" y="2238375"/>
            <a:ext cx="4381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D20EF647-4D15-470A-99BD-CE1CC6604E1A}"/>
              </a:ext>
            </a:extLst>
          </p:cNvPr>
          <p:cNvSpPr>
            <a:spLocks xmlns:a="http://schemas.openxmlformats.org/drawingml/2006/main" noGrp="1"/>
          </p:cNvSpPr>
          <p:nvPr/>
        </p:nvSpPr>
        <p:spPr>
          <a:xfrm xmlns:a="http://schemas.openxmlformats.org/drawingml/2006/main">
            <a:off x="952500" y="23717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RESEARCH QUESTION</a:t>
            </a:r>
          </a:p>
        </p:txBody>
      </p:sp>
      <p:sp>
        <p:nvSpPr>
          <p:cNvPr id="9" name="">
            <a:extLst xmlns:a="http://schemas.openxmlformats.org/drawingml/2006/main">
              <a:ext uri="{FF2B5EF4-FFF2-40B4-BE49-F238E27FC236}">
                <a16:creationId xmlns:a16="http://schemas.microsoft.com/office/drawing/2014/main" id="{0280EF80-A159-4CDF-B876-ACD78FAA2021}"/>
              </a:ext>
            </a:extLst>
          </p:cNvPr>
          <p:cNvSpPr>
            <a:spLocks xmlns:a="http://schemas.openxmlformats.org/drawingml/2006/main" noGrp="1"/>
          </p:cNvSpPr>
          <p:nvPr/>
        </p:nvSpPr>
        <p:spPr>
          <a:xfrm xmlns:a="http://schemas.openxmlformats.org/drawingml/2006/main">
            <a:off x="952500" y="2676525"/>
            <a:ext cx="4000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How do graduate students experience AI-generated feedback while developing research proposals?</a:t>
            </a:r>
          </a:p>
        </p:txBody>
      </p:sp>
      <p:sp>
        <p:nvSpPr>
          <p:cNvPr id="10" name="">
            <a:extLst xmlns:a="http://schemas.openxmlformats.org/drawingml/2006/main">
              <a:ext uri="{FF2B5EF4-FFF2-40B4-BE49-F238E27FC236}">
                <a16:creationId xmlns:a16="http://schemas.microsoft.com/office/drawing/2014/main" id="{C0DC2A98-B557-4347-A57C-555E4545FD63}"/>
              </a:ext>
            </a:extLst>
          </p:cNvPr>
          <p:cNvSpPr>
            <a:spLocks xmlns:a="http://schemas.openxmlformats.org/drawingml/2006/main" noGrp="1"/>
          </p:cNvSpPr>
          <p:nvPr/>
        </p:nvSpPr>
        <p:spPr>
          <a:xfrm xmlns:a="http://schemas.openxmlformats.org/drawingml/2006/main">
            <a:off x="5476875" y="2828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i="0">
                <a:solidFill>
                  <a:srgbClr val="A54F2B"/>
                </a:solidFill>
              </a:defRPr>
            </a:pPr>
            <a:r>
              <a:rPr sz="3150" b="1" i="0">
                <a:solidFill>
                  <a:srgbClr val="A54F2B"/>
                </a:solidFill>
              </a:rPr>
              <a:t>→</a:t>
            </a:r>
          </a:p>
        </p:txBody>
      </p:sp>
      <p:sp>
        <p:nvSpPr>
          <p:cNvPr id="11" name="">
            <a:extLst xmlns:a="http://schemas.openxmlformats.org/drawingml/2006/main">
              <a:ext uri="{FF2B5EF4-FFF2-40B4-BE49-F238E27FC236}">
                <a16:creationId xmlns:a16="http://schemas.microsoft.com/office/drawing/2014/main" id="{FCEC7A76-3BCB-423A-BF38-1360A2E1E260}"/>
              </a:ext>
            </a:extLst>
          </p:cNvPr>
          <p:cNvSpPr>
            <a:spLocks xmlns:a="http://schemas.openxmlformats.org/drawingml/2006/main" noGrp="1"/>
          </p:cNvSpPr>
          <p:nvPr/>
        </p:nvSpPr>
        <p:spPr>
          <a:xfrm xmlns:a="http://schemas.openxmlformats.org/drawingml/2006/main">
            <a:off x="6572250" y="2238375"/>
            <a:ext cx="4095750" cy="2190750"/>
          </a:xfrm>
          <a:prstGeom xmlns:a="http://schemas.openxmlformats.org/drawingml/2006/main" prst="roundRect">
            <a:avLst>
              <a:gd name="adj" fmla="val 5217"/>
            </a:avLst>
          </a:prstGeom>
          <a:solidFill xmlns:a="http://schemas.openxmlformats.org/drawingml/2006/main">
            <a:srgbClr val="FCEBE5"/>
          </a:solidFill>
          <a:ln xmlns:a="http://schemas.openxmlformats.org/drawingml/2006/main" w="19050">
            <a:solidFill>
              <a:srgbClr val="A54F2B"/>
            </a:solidFill>
            <a:prstDash val="solid"/>
          </a:ln>
        </p:spPr>
      </p:sp>
      <p:sp>
        <p:nvSpPr>
          <p:cNvPr id="12" name="">
            <a:extLst xmlns:a="http://schemas.openxmlformats.org/drawingml/2006/main">
              <a:ext uri="{FF2B5EF4-FFF2-40B4-BE49-F238E27FC236}">
                <a16:creationId xmlns:a16="http://schemas.microsoft.com/office/drawing/2014/main" id="{20EE3E11-6BBD-4E3D-8CF8-624F784A8301}"/>
              </a:ext>
            </a:extLst>
          </p:cNvPr>
          <p:cNvSpPr>
            <a:spLocks xmlns:a="http://schemas.openxmlformats.org/drawingml/2006/main" noGrp="1"/>
          </p:cNvSpPr>
          <p:nvPr/>
        </p:nvSpPr>
        <p:spPr>
          <a:xfrm xmlns:a="http://schemas.openxmlformats.org/drawingml/2006/main">
            <a:off x="6762750" y="23717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A54F2B"/>
                </a:solidFill>
              </a:defRPr>
            </a:pPr>
            <a:r>
              <a:rPr sz="1200" b="1" i="0">
                <a:solidFill>
                  <a:srgbClr val="A54F2B"/>
                </a:solidFill>
              </a:rPr>
              <a:t>PLANNED DATA</a:t>
            </a:r>
          </a:p>
        </p:txBody>
      </p:sp>
      <p:sp>
        <p:nvSpPr>
          <p:cNvPr id="13" name="">
            <a:extLst xmlns:a="http://schemas.openxmlformats.org/drawingml/2006/main">
              <a:ext uri="{FF2B5EF4-FFF2-40B4-BE49-F238E27FC236}">
                <a16:creationId xmlns:a16="http://schemas.microsoft.com/office/drawing/2014/main" id="{C231DC3B-7756-4C3A-AC11-D78419F24B7D}"/>
              </a:ext>
            </a:extLst>
          </p:cNvPr>
          <p:cNvSpPr>
            <a:spLocks xmlns:a="http://schemas.openxmlformats.org/drawingml/2006/main" noGrp="1"/>
          </p:cNvSpPr>
          <p:nvPr/>
        </p:nvSpPr>
        <p:spPr>
          <a:xfrm xmlns:a="http://schemas.openxmlformats.org/drawingml/2006/main">
            <a:off x="6762750" y="2676525"/>
            <a:ext cx="3714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One five-point rating: “AI feedback was useful.”</a:t>
            </a:r>
          </a:p>
        </p:txBody>
      </p:sp>
      <p:sp>
        <p:nvSpPr>
          <p:cNvPr id="14" name="">
            <a:extLst xmlns:a="http://schemas.openxmlformats.org/drawingml/2006/main">
              <a:ext uri="{FF2B5EF4-FFF2-40B4-BE49-F238E27FC236}">
                <a16:creationId xmlns:a16="http://schemas.microsoft.com/office/drawing/2014/main" id="{D00E13AE-18FF-4E5D-9892-F191E68AF14B}"/>
              </a:ext>
            </a:extLst>
          </p:cNvPr>
          <p:cNvSpPr>
            <a:spLocks xmlns:a="http://schemas.openxmlformats.org/drawingml/2006/main" noGrp="1"/>
          </p:cNvSpPr>
          <p:nvPr/>
        </p:nvSpPr>
        <p:spPr>
          <a:xfrm xmlns:a="http://schemas.openxmlformats.org/drawingml/2006/main">
            <a:off x="1095375" y="4714875"/>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123421"/>
                </a:solidFill>
              </a:defRPr>
            </a:pPr>
            <a:r>
              <a:rPr sz="1875" b="1" i="0">
                <a:solidFill>
                  <a:srgbClr val="123421"/>
                </a:solidFill>
              </a:rPr>
              <a:t>The rating may estimate perceived usefulness—but it cannot richly answer a question about experience.</a:t>
            </a:r>
          </a:p>
        </p:txBody>
      </p:sp>
      <p:sp>
        <p:nvSpPr>
          <p:cNvPr id="15" name="">
            <a:extLst xmlns:a="http://schemas.openxmlformats.org/drawingml/2006/main">
              <a:ext uri="{FF2B5EF4-FFF2-40B4-BE49-F238E27FC236}">
                <a16:creationId xmlns:a16="http://schemas.microsoft.com/office/drawing/2014/main" id="{D3A8446B-B612-4B46-BA95-2DBAF5709183}"/>
              </a:ext>
            </a:extLst>
          </p:cNvPr>
          <p:cNvSpPr>
            <a:spLocks xmlns:a="http://schemas.openxmlformats.org/drawingml/2006/main" noGrp="1"/>
          </p:cNvSpPr>
          <p:nvPr/>
        </p:nvSpPr>
        <p:spPr>
          <a:xfrm xmlns:a="http://schemas.openxmlformats.org/drawingml/2006/main">
            <a:off x="3190875" y="5619750"/>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i="0">
                <a:solidFill>
                  <a:srgbClr val="275D38"/>
                </a:solidFill>
              </a:defRPr>
            </a:pPr>
            <a:r>
              <a:rPr sz="1575" b="1" i="0">
                <a:solidFill>
                  <a:srgbClr val="275D38"/>
                </a:solidFill>
              </a:rPr>
              <a:t>Fix the evidence—or rewrite the question.</a:t>
            </a:r>
          </a:p>
        </p:txBody>
      </p:sp>
    </p:spTree>
    <p:extLst>
      <p:ext uri="{BB962C8B-B14F-4D97-AF65-F5344CB8AC3E}">
        <p14:creationId xmlns:p14="http://schemas.microsoft.com/office/powerpoint/2010/main" val="756164799"/>
      </p:ext>
    </p:extLst>
  </p:cSld>
</p:sld>
</file>

<file path=ppt/slides/slide29.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CFBB25-EC3D-4156-A8BD-508B42D73A4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43EF8F-04D1-43F0-A799-2240B5C835A7}"/>
              </a:ext>
            </a:extLst>
          </p:cNvPr>
          <p:cNvSpPr>
            <a:spLocks xmlns:a="http://schemas.openxmlformats.org/drawingml/2006/main" noGrp="1"/>
          </p:cNvSpPr>
          <p:nvPr/>
        </p:nvSpPr>
        <p:spPr>
          <a:xfrm xmlns:a="http://schemas.openxmlformats.org/drawingml/2006/main">
            <a:off x="685800" y="8763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PART IV · AI LITERACY FOR RESEARCH</a:t>
            </a:r>
          </a:p>
        </p:txBody>
      </p:sp>
      <p:sp>
        <p:nvSpPr>
          <p:cNvPr id="3" name="">
            <a:extLst xmlns:a="http://schemas.openxmlformats.org/drawingml/2006/main">
              <a:ext uri="{FF2B5EF4-FFF2-40B4-BE49-F238E27FC236}">
                <a16:creationId xmlns:a16="http://schemas.microsoft.com/office/drawing/2014/main" id="{5BE0C4B3-6126-46C4-8569-EB2C3D9B8874}"/>
              </a:ext>
            </a:extLst>
          </p:cNvPr>
          <p:cNvSpPr>
            <a:spLocks xmlns:a="http://schemas.openxmlformats.org/drawingml/2006/main" noGrp="1"/>
          </p:cNvSpPr>
          <p:nvPr/>
        </p:nvSpPr>
        <p:spPr>
          <a:xfrm xmlns:a="http://schemas.openxmlformats.org/drawingml/2006/main">
            <a:off x="685800" y="160020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FFFFFF"/>
                </a:solidFill>
              </a:defRPr>
            </a:pPr>
            <a:r>
              <a:rPr sz="4350" b="1" i="0">
                <a:solidFill>
                  <a:srgbClr val="FFFFFF"/>
                </a:solidFill>
              </a:rPr>
              <a:t>AI literacy is research literacy in practice</a:t>
            </a:r>
          </a:p>
        </p:txBody>
      </p:sp>
      <p:sp>
        <p:nvSpPr>
          <p:cNvPr id="4" name="">
            <a:extLst xmlns:a="http://schemas.openxmlformats.org/drawingml/2006/main">
              <a:ext uri="{FF2B5EF4-FFF2-40B4-BE49-F238E27FC236}">
                <a16:creationId xmlns:a16="http://schemas.microsoft.com/office/drawing/2014/main" id="{77C420A6-ABBE-4117-87C8-058C39A6F177}"/>
              </a:ext>
            </a:extLst>
          </p:cNvPr>
          <p:cNvSpPr>
            <a:spLocks xmlns:a="http://schemas.openxmlformats.org/drawingml/2006/main" noGrp="1"/>
          </p:cNvSpPr>
          <p:nvPr/>
        </p:nvSpPr>
        <p:spPr>
          <a:xfrm xmlns:a="http://schemas.openxmlformats.org/drawingml/2006/main">
            <a:off x="685800" y="4333875"/>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i="0">
                <a:solidFill>
                  <a:srgbClr val="DCE8DF"/>
                </a:solidFill>
              </a:defRPr>
            </a:pPr>
            <a:r>
              <a:rPr sz="1950" b="0" i="0">
                <a:solidFill>
                  <a:srgbClr val="DCE8DF"/>
                </a:solidFill>
              </a:rPr>
              <a:t>Use · Question · Verify · Take responsibility</a:t>
            </a:r>
          </a:p>
        </p:txBody>
      </p:sp>
      <p:sp>
        <p:nvSpPr>
          <p:cNvPr id="5" name="">
            <a:extLst xmlns:a="http://schemas.openxmlformats.org/drawingml/2006/main">
              <a:ext uri="{FF2B5EF4-FFF2-40B4-BE49-F238E27FC236}">
                <a16:creationId xmlns:a16="http://schemas.microsoft.com/office/drawing/2014/main" id="{8C536DAE-FC61-49D9-BFD6-2C812AFF5321}"/>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6" name="">
            <a:extLst xmlns:a="http://schemas.openxmlformats.org/drawingml/2006/main">
              <a:ext uri="{FF2B5EF4-FFF2-40B4-BE49-F238E27FC236}">
                <a16:creationId xmlns:a16="http://schemas.microsoft.com/office/drawing/2014/main" id="{F822F6A9-212B-4855-A156-2A3B58590FB7}"/>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29</a:t>
            </a:r>
          </a:p>
        </p:txBody>
      </p:sp>
    </p:spTree>
    <p:extLst>
      <p:ext uri="{BB962C8B-B14F-4D97-AF65-F5344CB8AC3E}">
        <p14:creationId xmlns:p14="http://schemas.microsoft.com/office/powerpoint/2010/main" val="1379493550"/>
      </p:ext>
    </p:extLst>
  </p:cSld>
</p:sld>
</file>

<file path=ppt/slides/slide30.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FF9BE9-4305-4DBC-8797-9D326DB4C84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25F409-63F3-4C53-9595-042BA67FE4A3}"/>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DB4EC8-CAA0-4AAC-AEB8-41ED6B3B755A}"/>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AI LITERACY</a:t>
            </a:r>
          </a:p>
        </p:txBody>
      </p:sp>
      <p:sp>
        <p:nvSpPr>
          <p:cNvPr id="4" name="">
            <a:extLst xmlns:a="http://schemas.openxmlformats.org/drawingml/2006/main">
              <a:ext uri="{FF2B5EF4-FFF2-40B4-BE49-F238E27FC236}">
                <a16:creationId xmlns:a16="http://schemas.microsoft.com/office/drawing/2014/main" id="{F1F4D134-D1D1-4586-8406-E99F9126083F}"/>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AI can support thinking without becoming evidence</a:t>
            </a:r>
          </a:p>
        </p:txBody>
      </p:sp>
      <p:sp>
        <p:nvSpPr>
          <p:cNvPr id="5" name="">
            <a:extLst xmlns:a="http://schemas.openxmlformats.org/drawingml/2006/main">
              <a:ext uri="{FF2B5EF4-FFF2-40B4-BE49-F238E27FC236}">
                <a16:creationId xmlns:a16="http://schemas.microsoft.com/office/drawing/2014/main" id="{BA8AAC90-2A60-4683-8883-9F97AE0D8690}"/>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0BB9FD2F-1EAF-440D-9B30-AEEB5633A392}"/>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30</a:t>
            </a:r>
          </a:p>
        </p:txBody>
      </p:sp>
      <p:sp>
        <p:nvSpPr>
          <p:cNvPr id="7" name="">
            <a:extLst xmlns:a="http://schemas.openxmlformats.org/drawingml/2006/main">
              <a:ext uri="{FF2B5EF4-FFF2-40B4-BE49-F238E27FC236}">
                <a16:creationId xmlns:a16="http://schemas.microsoft.com/office/drawing/2014/main" id="{E5F06C3C-DD04-47A0-AC27-1E519BFE83D2}"/>
              </a:ext>
            </a:extLst>
          </p:cNvPr>
          <p:cNvSpPr>
            <a:spLocks xmlns:a="http://schemas.openxmlformats.org/drawingml/2006/main" noGrp="1"/>
          </p:cNvSpPr>
          <p:nvPr/>
        </p:nvSpPr>
        <p:spPr>
          <a:xfrm xmlns:a="http://schemas.openxmlformats.org/drawingml/2006/main">
            <a:off x="781050" y="2143125"/>
            <a:ext cx="4476750" cy="3524250"/>
          </a:xfrm>
          <a:prstGeom xmlns:a="http://schemas.openxmlformats.org/drawingml/2006/main" prst="roundRect">
            <a:avLst>
              <a:gd name="adj" fmla="val 3243"/>
            </a:avLst>
          </a:prstGeom>
          <a:solidFill xmlns:a="http://schemas.openxmlformats.org/drawingml/2006/main">
            <a:srgbClr val="E8F1EB"/>
          </a:solidFill>
          <a:ln xmlns:a="http://schemas.openxmlformats.org/drawingml/2006/main" w="19050">
            <a:solidFill>
              <a:srgbClr val="275D38"/>
            </a:solidFill>
            <a:prstDash val="solid"/>
          </a:ln>
        </p:spPr>
      </p:sp>
      <p:sp>
        <p:nvSpPr>
          <p:cNvPr id="8" name="">
            <a:extLst xmlns:a="http://schemas.openxmlformats.org/drawingml/2006/main">
              <a:ext uri="{FF2B5EF4-FFF2-40B4-BE49-F238E27FC236}">
                <a16:creationId xmlns:a16="http://schemas.microsoft.com/office/drawing/2014/main" id="{48E0CE7C-25DC-4FAC-9CA8-901914EB14E6}"/>
              </a:ext>
            </a:extLst>
          </p:cNvPr>
          <p:cNvSpPr>
            <a:spLocks xmlns:a="http://schemas.openxmlformats.org/drawingml/2006/main" noGrp="1"/>
          </p:cNvSpPr>
          <p:nvPr/>
        </p:nvSpPr>
        <p:spPr>
          <a:xfrm xmlns:a="http://schemas.openxmlformats.org/drawingml/2006/main">
            <a:off x="971550" y="22764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AI MAY ASSIST WITH</a:t>
            </a:r>
          </a:p>
        </p:txBody>
      </p:sp>
      <p:sp>
        <p:nvSpPr>
          <p:cNvPr id="9" name="">
            <a:extLst xmlns:a="http://schemas.openxmlformats.org/drawingml/2006/main">
              <a:ext uri="{FF2B5EF4-FFF2-40B4-BE49-F238E27FC236}">
                <a16:creationId xmlns:a16="http://schemas.microsoft.com/office/drawing/2014/main" id="{B7D0314A-29FE-4BAC-9D65-226BC2F8C8B4}"/>
              </a:ext>
            </a:extLst>
          </p:cNvPr>
          <p:cNvSpPr>
            <a:spLocks xmlns:a="http://schemas.openxmlformats.org/drawingml/2006/main" noGrp="1"/>
          </p:cNvSpPr>
          <p:nvPr/>
        </p:nvSpPr>
        <p:spPr>
          <a:xfrm xmlns:a="http://schemas.openxmlformats.org/drawingml/2006/main">
            <a:off x="971550" y="2581275"/>
            <a:ext cx="409575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Brainstorming</a:t>
            </a:r>
          </a:p>
          <a:p xmlns:a="http://schemas.openxmlformats.org/drawingml/2006/main">
            <a:pPr algn="l">
              <a:defRPr sz="1725" b="0" i="0">
                <a:solidFill>
                  <a:srgbClr val="17211B"/>
                </a:solidFill>
              </a:defRPr>
            </a:pPr>
            <a:r>
              <a:rPr sz="1725" b="0" i="0">
                <a:solidFill>
                  <a:srgbClr val="17211B"/>
                </a:solidFill>
              </a:rPr>
              <a:t>Explaining unfamiliar concepts</a:t>
            </a:r>
          </a:p>
          <a:p xmlns:a="http://schemas.openxmlformats.org/drawingml/2006/main">
            <a:pPr algn="l">
              <a:defRPr sz="1725" b="0" i="0">
                <a:solidFill>
                  <a:srgbClr val="17211B"/>
                </a:solidFill>
              </a:defRPr>
            </a:pPr>
            <a:r>
              <a:rPr sz="1725" b="0" i="0">
                <a:solidFill>
                  <a:srgbClr val="17211B"/>
                </a:solidFill>
              </a:rPr>
              <a:t>Generating search terms</a:t>
            </a:r>
          </a:p>
          <a:p xmlns:a="http://schemas.openxmlformats.org/drawingml/2006/main">
            <a:pPr algn="l">
              <a:defRPr sz="1725" b="0" i="0">
                <a:solidFill>
                  <a:srgbClr val="17211B"/>
                </a:solidFill>
              </a:defRPr>
            </a:pPr>
            <a:r>
              <a:rPr sz="1725" b="0" i="0">
                <a:solidFill>
                  <a:srgbClr val="17211B"/>
                </a:solidFill>
              </a:rPr>
              <a:t>Comparing ideas</a:t>
            </a:r>
          </a:p>
          <a:p xmlns:a="http://schemas.openxmlformats.org/drawingml/2006/main">
            <a:pPr algn="l">
              <a:defRPr sz="1725" b="0" i="0">
                <a:solidFill>
                  <a:srgbClr val="17211B"/>
                </a:solidFill>
              </a:defRPr>
            </a:pPr>
            <a:r>
              <a:rPr sz="1725" b="0" i="0">
                <a:solidFill>
                  <a:srgbClr val="17211B"/>
                </a:solidFill>
              </a:rPr>
              <a:t>Language editing</a:t>
            </a:r>
          </a:p>
          <a:p xmlns:a="http://schemas.openxmlformats.org/drawingml/2006/main">
            <a:pPr algn="l">
              <a:defRPr sz="1725" b="0" i="0">
                <a:solidFill>
                  <a:srgbClr val="17211B"/>
                </a:solidFill>
              </a:defRPr>
            </a:pPr>
            <a:r>
              <a:rPr sz="1725" b="0" i="0">
                <a:solidFill>
                  <a:srgbClr val="17211B"/>
                </a:solidFill>
              </a:rPr>
              <a:t>Coding support</a:t>
            </a:r>
          </a:p>
          <a:p xmlns:a="http://schemas.openxmlformats.org/drawingml/2006/main">
            <a:pPr algn="l">
              <a:defRPr sz="1725" b="0" i="0">
                <a:solidFill>
                  <a:srgbClr val="17211B"/>
                </a:solidFill>
              </a:defRPr>
            </a:pPr>
            <a:r>
              <a:rPr sz="1725" b="0" i="0">
                <a:solidFill>
                  <a:srgbClr val="17211B"/>
                </a:solidFill>
              </a:rPr>
              <a:t>Exploring methodological options</a:t>
            </a:r>
          </a:p>
        </p:txBody>
      </p:sp>
      <p:sp>
        <p:nvSpPr>
          <p:cNvPr id="10" name="">
            <a:extLst xmlns:a="http://schemas.openxmlformats.org/drawingml/2006/main">
              <a:ext uri="{FF2B5EF4-FFF2-40B4-BE49-F238E27FC236}">
                <a16:creationId xmlns:a16="http://schemas.microsoft.com/office/drawing/2014/main" id="{1C70E7A4-A4AD-4207-AF57-E74FC612E475}"/>
              </a:ext>
            </a:extLst>
          </p:cNvPr>
          <p:cNvSpPr>
            <a:spLocks xmlns:a="http://schemas.openxmlformats.org/drawingml/2006/main" noGrp="1"/>
          </p:cNvSpPr>
          <p:nvPr/>
        </p:nvSpPr>
        <p:spPr>
          <a:xfrm xmlns:a="http://schemas.openxmlformats.org/drawingml/2006/main">
            <a:off x="6572250" y="2143125"/>
            <a:ext cx="4476750" cy="3524250"/>
          </a:xfrm>
          <a:prstGeom xmlns:a="http://schemas.openxmlformats.org/drawingml/2006/main" prst="roundRect">
            <a:avLst>
              <a:gd name="adj" fmla="val 3243"/>
            </a:avLst>
          </a:prstGeom>
          <a:solidFill xmlns:a="http://schemas.openxmlformats.org/drawingml/2006/main">
            <a:srgbClr val="FFF7BD"/>
          </a:solidFill>
          <a:ln xmlns:a="http://schemas.openxmlformats.org/drawingml/2006/main" w="19050">
            <a:solidFill>
              <a:srgbClr val="FFDB05"/>
            </a:solidFill>
            <a:prstDash val="solid"/>
          </a:ln>
        </p:spPr>
      </p:sp>
      <p:sp>
        <p:nvSpPr>
          <p:cNvPr id="11" name="">
            <a:extLst xmlns:a="http://schemas.openxmlformats.org/drawingml/2006/main">
              <a:ext uri="{FF2B5EF4-FFF2-40B4-BE49-F238E27FC236}">
                <a16:creationId xmlns:a16="http://schemas.microsoft.com/office/drawing/2014/main" id="{CD9A602F-9C9E-41B1-8A5D-1BD16C3E9DA0}"/>
              </a:ext>
            </a:extLst>
          </p:cNvPr>
          <p:cNvSpPr>
            <a:spLocks xmlns:a="http://schemas.openxmlformats.org/drawingml/2006/main" noGrp="1"/>
          </p:cNvSpPr>
          <p:nvPr/>
        </p:nvSpPr>
        <p:spPr>
          <a:xfrm xmlns:a="http://schemas.openxmlformats.org/drawingml/2006/main">
            <a:off x="6762750" y="22764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A54F2B"/>
                </a:solidFill>
              </a:defRPr>
            </a:pPr>
            <a:r>
              <a:rPr sz="1200" b="1" i="0">
                <a:solidFill>
                  <a:srgbClr val="A54F2B"/>
                </a:solidFill>
              </a:rPr>
              <a:t>AI OUTPUT IS NOT BY ITSELF</a:t>
            </a:r>
          </a:p>
        </p:txBody>
      </p:sp>
      <p:sp>
        <p:nvSpPr>
          <p:cNvPr id="12" name="">
            <a:extLst xmlns:a="http://schemas.openxmlformats.org/drawingml/2006/main">
              <a:ext uri="{FF2B5EF4-FFF2-40B4-BE49-F238E27FC236}">
                <a16:creationId xmlns:a16="http://schemas.microsoft.com/office/drawing/2014/main" id="{A9C2BE12-18B1-45A2-8588-01AFE8B5AB2B}"/>
              </a:ext>
            </a:extLst>
          </p:cNvPr>
          <p:cNvSpPr>
            <a:spLocks xmlns:a="http://schemas.openxmlformats.org/drawingml/2006/main" noGrp="1"/>
          </p:cNvSpPr>
          <p:nvPr/>
        </p:nvSpPr>
        <p:spPr>
          <a:xfrm xmlns:a="http://schemas.openxmlformats.org/drawingml/2006/main">
            <a:off x="6762750" y="2581275"/>
            <a:ext cx="409575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i="0">
                <a:solidFill>
                  <a:srgbClr val="17211B"/>
                </a:solidFill>
              </a:defRPr>
            </a:pPr>
            <a:r>
              <a:rPr sz="1725" b="0" i="0">
                <a:solidFill>
                  <a:srgbClr val="17211B"/>
                </a:solidFill>
              </a:rPr>
              <a:t>Scholarly evidence</a:t>
            </a:r>
          </a:p>
          <a:p xmlns:a="http://schemas.openxmlformats.org/drawingml/2006/main">
            <a:pPr algn="l">
              <a:defRPr sz="1725" b="0" i="0">
                <a:solidFill>
                  <a:srgbClr val="17211B"/>
                </a:solidFill>
              </a:defRPr>
            </a:pPr>
            <a:r>
              <a:rPr sz="1725" b="0" i="0">
                <a:solidFill>
                  <a:srgbClr val="17211B"/>
                </a:solidFill>
              </a:rPr>
              <a:t>A verified citation</a:t>
            </a:r>
          </a:p>
          <a:p xmlns:a="http://schemas.openxmlformats.org/drawingml/2006/main">
            <a:pPr algn="l">
              <a:defRPr sz="1725" b="0" i="0">
                <a:solidFill>
                  <a:srgbClr val="17211B"/>
                </a:solidFill>
              </a:defRPr>
            </a:pPr>
            <a:r>
              <a:rPr sz="1725" b="0" i="0">
                <a:solidFill>
                  <a:srgbClr val="17211B"/>
                </a:solidFill>
              </a:rPr>
              <a:t>A substitute for reading the source</a:t>
            </a:r>
          </a:p>
          <a:p xmlns:a="http://schemas.openxmlformats.org/drawingml/2006/main">
            <a:pPr algn="l">
              <a:defRPr sz="1725" b="0" i="0">
                <a:solidFill>
                  <a:srgbClr val="17211B"/>
                </a:solidFill>
              </a:defRPr>
            </a:pPr>
            <a:r>
              <a:rPr sz="1725" b="0" i="0">
                <a:solidFill>
                  <a:srgbClr val="17211B"/>
                </a:solidFill>
              </a:rPr>
              <a:t>A defensible methodological decision</a:t>
            </a:r>
          </a:p>
          <a:p xmlns:a="http://schemas.openxmlformats.org/drawingml/2006/main">
            <a:pPr algn="l">
              <a:defRPr sz="1725" b="0" i="0">
                <a:solidFill>
                  <a:srgbClr val="17211B"/>
                </a:solidFill>
              </a:defRPr>
            </a:pPr>
            <a:r>
              <a:rPr sz="1725" b="0" i="0">
                <a:solidFill>
                  <a:srgbClr val="17211B"/>
                </a:solidFill>
              </a:rPr>
              <a:t>Ethical approval</a:t>
            </a:r>
          </a:p>
          <a:p xmlns:a="http://schemas.openxmlformats.org/drawingml/2006/main">
            <a:pPr algn="l">
              <a:defRPr sz="1725" b="0" i="0">
                <a:solidFill>
                  <a:srgbClr val="17211B"/>
                </a:solidFill>
              </a:defRPr>
            </a:pPr>
            <a:r>
              <a:rPr sz="1725" b="0" i="0">
                <a:solidFill>
                  <a:srgbClr val="17211B"/>
                </a:solidFill>
              </a:rPr>
              <a:t>An accountable author</a:t>
            </a:r>
          </a:p>
        </p:txBody>
      </p:sp>
    </p:spTree>
    <p:extLst>
      <p:ext uri="{BB962C8B-B14F-4D97-AF65-F5344CB8AC3E}">
        <p14:creationId xmlns:p14="http://schemas.microsoft.com/office/powerpoint/2010/main" val="1311240289"/>
      </p:ext>
    </p:extLst>
  </p:cSld>
</p:sld>
</file>

<file path=ppt/slides/slide31.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F4832E9-371A-40B1-B217-18B1BD0C8FA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09BE9E-03F1-4B2E-9317-AA51717B81D9}"/>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93F10C7-D0B7-4D0D-867C-84D2EB5CDA17}"/>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AI LITERACY</a:t>
            </a:r>
          </a:p>
        </p:txBody>
      </p:sp>
      <p:sp>
        <p:nvSpPr>
          <p:cNvPr id="4" name="">
            <a:extLst xmlns:a="http://schemas.openxmlformats.org/drawingml/2006/main">
              <a:ext uri="{FF2B5EF4-FFF2-40B4-BE49-F238E27FC236}">
                <a16:creationId xmlns:a16="http://schemas.microsoft.com/office/drawing/2014/main" id="{08F05693-DBCF-4386-BF1C-AF2DC81879C9}"/>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Three risks require deliberate checking</a:t>
            </a:r>
          </a:p>
        </p:txBody>
      </p:sp>
      <p:sp>
        <p:nvSpPr>
          <p:cNvPr id="5" name="">
            <a:extLst xmlns:a="http://schemas.openxmlformats.org/drawingml/2006/main">
              <a:ext uri="{FF2B5EF4-FFF2-40B4-BE49-F238E27FC236}">
                <a16:creationId xmlns:a16="http://schemas.microsoft.com/office/drawing/2014/main" id="{E19D89F5-4DF1-4838-916C-A08516856E02}"/>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B9E96B50-7A2A-4C39-8AAF-1E73FB79F455}"/>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31</a:t>
            </a:r>
          </a:p>
        </p:txBody>
      </p:sp>
      <p:sp>
        <p:nvSpPr>
          <p:cNvPr id="7" name="">
            <a:extLst xmlns:a="http://schemas.openxmlformats.org/drawingml/2006/main">
              <a:ext uri="{FF2B5EF4-FFF2-40B4-BE49-F238E27FC236}">
                <a16:creationId xmlns:a16="http://schemas.microsoft.com/office/drawing/2014/main" id="{BBDF8DCF-B98B-44BE-94D3-EFA8277BC5F7}"/>
              </a:ext>
            </a:extLst>
          </p:cNvPr>
          <p:cNvSpPr>
            <a:spLocks xmlns:a="http://schemas.openxmlformats.org/drawingml/2006/main" noGrp="1"/>
          </p:cNvSpPr>
          <p:nvPr/>
        </p:nvSpPr>
        <p:spPr>
          <a:xfrm xmlns:a="http://schemas.openxmlformats.org/drawingml/2006/main">
            <a:off x="704850" y="2238375"/>
            <a:ext cx="333375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B5C48D94-4380-488C-9B88-0772E1F8981A}"/>
              </a:ext>
            </a:extLst>
          </p:cNvPr>
          <p:cNvSpPr>
            <a:spLocks xmlns:a="http://schemas.openxmlformats.org/drawingml/2006/main" noGrp="1"/>
          </p:cNvSpPr>
          <p:nvPr/>
        </p:nvSpPr>
        <p:spPr>
          <a:xfrm xmlns:a="http://schemas.openxmlformats.org/drawingml/2006/main">
            <a:off x="895350" y="2371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1 · EPISTEMIC RISK</a:t>
            </a:r>
          </a:p>
        </p:txBody>
      </p:sp>
      <p:sp>
        <p:nvSpPr>
          <p:cNvPr id="9" name="">
            <a:extLst xmlns:a="http://schemas.openxmlformats.org/drawingml/2006/main">
              <a:ext uri="{FF2B5EF4-FFF2-40B4-BE49-F238E27FC236}">
                <a16:creationId xmlns:a16="http://schemas.microsoft.com/office/drawing/2014/main" id="{31F37B13-1A6D-4A0F-8DA8-89619C020D3E}"/>
              </a:ext>
            </a:extLst>
          </p:cNvPr>
          <p:cNvSpPr>
            <a:spLocks xmlns:a="http://schemas.openxmlformats.org/drawingml/2006/main" noGrp="1"/>
          </p:cNvSpPr>
          <p:nvPr/>
        </p:nvSpPr>
        <p:spPr>
          <a:xfrm xmlns:a="http://schemas.openxmlformats.org/drawingml/2006/main">
            <a:off x="895350" y="2676525"/>
            <a:ext cx="29527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An answer may sound certain, coherent, and expert without being correct or adequately supported.</a:t>
            </a:r>
          </a:p>
        </p:txBody>
      </p:sp>
      <p:sp>
        <p:nvSpPr>
          <p:cNvPr id="10" name="">
            <a:extLst xmlns:a="http://schemas.openxmlformats.org/drawingml/2006/main">
              <a:ext uri="{FF2B5EF4-FFF2-40B4-BE49-F238E27FC236}">
                <a16:creationId xmlns:a16="http://schemas.microsoft.com/office/drawing/2014/main" id="{BBF76B45-F183-458E-BCB3-3877F47A9BA6}"/>
              </a:ext>
            </a:extLst>
          </p:cNvPr>
          <p:cNvSpPr>
            <a:spLocks xmlns:a="http://schemas.openxmlformats.org/drawingml/2006/main" noGrp="1"/>
          </p:cNvSpPr>
          <p:nvPr/>
        </p:nvSpPr>
        <p:spPr>
          <a:xfrm xmlns:a="http://schemas.openxmlformats.org/drawingml/2006/main">
            <a:off x="4429125" y="2238375"/>
            <a:ext cx="3333750" cy="2667000"/>
          </a:xfrm>
          <a:prstGeom xmlns:a="http://schemas.openxmlformats.org/drawingml/2006/main" prst="roundRect">
            <a:avLst>
              <a:gd name="adj" fmla="val 4286"/>
            </a:avLst>
          </a:prstGeom>
          <a:solidFill xmlns:a="http://schemas.openxmlformats.org/drawingml/2006/main">
            <a:srgbClr val="E8F1EB"/>
          </a:solidFill>
          <a:ln xmlns:a="http://schemas.openxmlformats.org/drawingml/2006/main" w="9525">
            <a:solidFill>
              <a:srgbClr val="D7DFD9"/>
            </a:solidFill>
            <a:prstDash val="solid"/>
          </a:ln>
        </p:spPr>
      </p:sp>
      <p:sp>
        <p:nvSpPr>
          <p:cNvPr id="11" name="">
            <a:extLst xmlns:a="http://schemas.openxmlformats.org/drawingml/2006/main">
              <a:ext uri="{FF2B5EF4-FFF2-40B4-BE49-F238E27FC236}">
                <a16:creationId xmlns:a16="http://schemas.microsoft.com/office/drawing/2014/main" id="{95416468-E7C7-42B6-932C-B77ED8A707D4}"/>
              </a:ext>
            </a:extLst>
          </p:cNvPr>
          <p:cNvSpPr>
            <a:spLocks xmlns:a="http://schemas.openxmlformats.org/drawingml/2006/main" noGrp="1"/>
          </p:cNvSpPr>
          <p:nvPr/>
        </p:nvSpPr>
        <p:spPr>
          <a:xfrm xmlns:a="http://schemas.openxmlformats.org/drawingml/2006/main">
            <a:off x="4619625" y="2371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2 · SOURCE RISK</a:t>
            </a:r>
          </a:p>
        </p:txBody>
      </p:sp>
      <p:sp>
        <p:nvSpPr>
          <p:cNvPr id="12" name="">
            <a:extLst xmlns:a="http://schemas.openxmlformats.org/drawingml/2006/main">
              <a:ext uri="{FF2B5EF4-FFF2-40B4-BE49-F238E27FC236}">
                <a16:creationId xmlns:a16="http://schemas.microsoft.com/office/drawing/2014/main" id="{BF10BEDD-F0F3-4FA5-BB13-B0993757C804}"/>
              </a:ext>
            </a:extLst>
          </p:cNvPr>
          <p:cNvSpPr>
            <a:spLocks xmlns:a="http://schemas.openxmlformats.org/drawingml/2006/main" noGrp="1"/>
          </p:cNvSpPr>
          <p:nvPr/>
        </p:nvSpPr>
        <p:spPr>
          <a:xfrm xmlns:a="http://schemas.openxmlformats.org/drawingml/2006/main">
            <a:off x="4619625" y="2676525"/>
            <a:ext cx="29527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A reference may be fabricated, or a real source may be summarized in a way that misrepresents its findings.</a:t>
            </a:r>
          </a:p>
        </p:txBody>
      </p:sp>
      <p:sp>
        <p:nvSpPr>
          <p:cNvPr id="13" name="">
            <a:extLst xmlns:a="http://schemas.openxmlformats.org/drawingml/2006/main">
              <a:ext uri="{FF2B5EF4-FFF2-40B4-BE49-F238E27FC236}">
                <a16:creationId xmlns:a16="http://schemas.microsoft.com/office/drawing/2014/main" id="{C761C680-B34B-469E-B85E-FCFCEC9BEE78}"/>
              </a:ext>
            </a:extLst>
          </p:cNvPr>
          <p:cNvSpPr>
            <a:spLocks xmlns:a="http://schemas.openxmlformats.org/drawingml/2006/main" noGrp="1"/>
          </p:cNvSpPr>
          <p:nvPr/>
        </p:nvSpPr>
        <p:spPr>
          <a:xfrm xmlns:a="http://schemas.openxmlformats.org/drawingml/2006/main">
            <a:off x="8153400" y="2238375"/>
            <a:ext cx="3333750" cy="2667000"/>
          </a:xfrm>
          <a:prstGeom xmlns:a="http://schemas.openxmlformats.org/drawingml/2006/main" prst="roundRect">
            <a:avLst>
              <a:gd name="adj" fmla="val 4286"/>
            </a:avLst>
          </a:prstGeom>
          <a:solidFill xmlns:a="http://schemas.openxmlformats.org/drawingml/2006/main">
            <a:srgbClr val="FFF7BD"/>
          </a:solidFill>
          <a:ln xmlns:a="http://schemas.openxmlformats.org/drawingml/2006/main" w="19050">
            <a:solidFill>
              <a:srgbClr val="FFDB05"/>
            </a:solidFill>
            <a:prstDash val="solid"/>
          </a:ln>
        </p:spPr>
      </p:sp>
      <p:sp>
        <p:nvSpPr>
          <p:cNvPr id="14" name="">
            <a:extLst xmlns:a="http://schemas.openxmlformats.org/drawingml/2006/main">
              <a:ext uri="{FF2B5EF4-FFF2-40B4-BE49-F238E27FC236}">
                <a16:creationId xmlns:a16="http://schemas.microsoft.com/office/drawing/2014/main" id="{EC111675-45D5-4EB5-88F3-C0C7012FBE7E}"/>
              </a:ext>
            </a:extLst>
          </p:cNvPr>
          <p:cNvSpPr>
            <a:spLocks xmlns:a="http://schemas.openxmlformats.org/drawingml/2006/main" noGrp="1"/>
          </p:cNvSpPr>
          <p:nvPr/>
        </p:nvSpPr>
        <p:spPr>
          <a:xfrm xmlns:a="http://schemas.openxmlformats.org/drawingml/2006/main">
            <a:off x="8343900" y="2371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275D38"/>
                </a:solidFill>
              </a:defRPr>
            </a:pPr>
            <a:r>
              <a:rPr sz="1200" b="1" i="0">
                <a:solidFill>
                  <a:srgbClr val="275D38"/>
                </a:solidFill>
              </a:rPr>
              <a:t>3 · PRIVACY + ETHICS RISK</a:t>
            </a:r>
          </a:p>
        </p:txBody>
      </p:sp>
      <p:sp>
        <p:nvSpPr>
          <p:cNvPr id="15" name="">
            <a:extLst xmlns:a="http://schemas.openxmlformats.org/drawingml/2006/main">
              <a:ext uri="{FF2B5EF4-FFF2-40B4-BE49-F238E27FC236}">
                <a16:creationId xmlns:a16="http://schemas.microsoft.com/office/drawing/2014/main" id="{1643A30B-9B2F-46A8-804E-A70172C7CB41}"/>
              </a:ext>
            </a:extLst>
          </p:cNvPr>
          <p:cNvSpPr>
            <a:spLocks xmlns:a="http://schemas.openxmlformats.org/drawingml/2006/main" noGrp="1"/>
          </p:cNvSpPr>
          <p:nvPr/>
        </p:nvSpPr>
        <p:spPr>
          <a:xfrm xmlns:a="http://schemas.openxmlformats.org/drawingml/2006/main">
            <a:off x="8343900" y="2676525"/>
            <a:ext cx="29527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i="0">
                <a:solidFill>
                  <a:srgbClr val="17211B"/>
                </a:solidFill>
              </a:defRPr>
            </a:pPr>
            <a:r>
              <a:rPr sz="1800" b="0" i="0">
                <a:solidFill>
                  <a:srgbClr val="17211B"/>
                </a:solidFill>
              </a:rPr>
              <a:t>Sensitive, confidential, copyrighted, or participant information may be inappropriate to enter into an external system.</a:t>
            </a:r>
          </a:p>
        </p:txBody>
      </p:sp>
      <p:sp>
        <p:nvSpPr>
          <p:cNvPr id="16" name="">
            <a:extLst xmlns:a="http://schemas.openxmlformats.org/drawingml/2006/main">
              <a:ext uri="{FF2B5EF4-FFF2-40B4-BE49-F238E27FC236}">
                <a16:creationId xmlns:a16="http://schemas.microsoft.com/office/drawing/2014/main" id="{085FD521-3BAB-4601-8606-CB542844634D}"/>
              </a:ext>
            </a:extLst>
          </p:cNvPr>
          <p:cNvSpPr>
            <a:spLocks xmlns:a="http://schemas.openxmlformats.org/drawingml/2006/main" noGrp="1"/>
          </p:cNvSpPr>
          <p:nvPr/>
        </p:nvSpPr>
        <p:spPr>
          <a:xfrm xmlns:a="http://schemas.openxmlformats.org/drawingml/2006/main">
            <a:off x="2095500" y="5381625"/>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i="0">
                <a:solidFill>
                  <a:srgbClr val="123421"/>
                </a:solidFill>
              </a:defRPr>
            </a:pPr>
            <a:r>
              <a:rPr sz="2025" b="1" i="0">
                <a:solidFill>
                  <a:srgbClr val="123421"/>
                </a:solidFill>
              </a:rPr>
              <a:t>Confidence of presentation is not evidence of accuracy.</a:t>
            </a:r>
          </a:p>
        </p:txBody>
      </p:sp>
    </p:spTree>
    <p:extLst>
      <p:ext uri="{BB962C8B-B14F-4D97-AF65-F5344CB8AC3E}">
        <p14:creationId xmlns:p14="http://schemas.microsoft.com/office/powerpoint/2010/main" val="759350114"/>
      </p:ext>
    </p:extLst>
  </p:cSld>
</p:sld>
</file>

<file path=ppt/slides/slide32.xml><?xml version="1.0" encoding="utf-8"?>
<p:sld xmlns:p="http://schemas.openxmlformats.org/presentationml/2006/main">
  <p:cSld>
    <p:bg>
      <p:bgPr>
        <a:solidFill xmlns:a="http://schemas.openxmlformats.org/drawingml/2006/main">
          <a:srgbClr val="12342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731CE5-F0B5-40F4-83AF-F6B9E2757D32}"/>
              </a:ext>
            </a:extLst>
          </p:cNvPr>
          <p:cNvSpPr>
            <a:spLocks xmlns:a="http://schemas.openxmlformats.org/drawingml/2006/main" noGrp="1"/>
          </p:cNvSpPr>
          <p:nvPr/>
        </p:nvSpPr>
        <p:spPr>
          <a:xfrm xmlns:a="http://schemas.openxmlformats.org/drawingml/2006/main">
            <a:off x="685800" y="6096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FFDB05"/>
                </a:solidFill>
              </a:defRPr>
            </a:pPr>
            <a:r>
              <a:rPr sz="1350" b="1" i="0">
                <a:solidFill>
                  <a:srgbClr val="FFDB05"/>
                </a:solidFill>
              </a:rPr>
              <a:t>AI LITERACY CHECK · PAIRS · 8 MINUTES</a:t>
            </a:r>
          </a:p>
        </p:txBody>
      </p:sp>
      <p:sp>
        <p:nvSpPr>
          <p:cNvPr id="2" name="">
            <a:extLst xmlns:a="http://schemas.openxmlformats.org/drawingml/2006/main">
              <a:ext uri="{FF2B5EF4-FFF2-40B4-BE49-F238E27FC236}">
                <a16:creationId xmlns:a16="http://schemas.microsoft.com/office/drawing/2014/main" id="{D480E458-E01A-4470-A625-1DE3D5EF5526}"/>
              </a:ext>
            </a:extLst>
          </p:cNvPr>
          <p:cNvSpPr>
            <a:spLocks xmlns:a="http://schemas.openxmlformats.org/drawingml/2006/main" noGrp="1"/>
          </p:cNvSpPr>
          <p:nvPr/>
        </p:nvSpPr>
        <p:spPr>
          <a:xfrm xmlns:a="http://schemas.openxmlformats.org/drawingml/2006/main">
            <a:off x="685800" y="1190625"/>
            <a:ext cx="10382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i="0">
                <a:solidFill>
                  <a:srgbClr val="FFFFFF"/>
                </a:solidFill>
              </a:defRPr>
            </a:pPr>
            <a:r>
              <a:rPr sz="3750" b="1" i="0">
                <a:solidFill>
                  <a:srgbClr val="FFFFFF"/>
                </a:solidFill>
              </a:rPr>
              <a:t>The answer looks excellent. What happens next?</a:t>
            </a:r>
          </a:p>
        </p:txBody>
      </p:sp>
      <p:sp>
        <p:nvSpPr>
          <p:cNvPr id="3" name="">
            <a:extLst xmlns:a="http://schemas.openxmlformats.org/drawingml/2006/main">
              <a:ext uri="{FF2B5EF4-FFF2-40B4-BE49-F238E27FC236}">
                <a16:creationId xmlns:a16="http://schemas.microsoft.com/office/drawing/2014/main" id="{2F982740-B694-4694-8B3A-746624B49656}"/>
              </a:ext>
            </a:extLst>
          </p:cNvPr>
          <p:cNvSpPr>
            <a:spLocks xmlns:a="http://schemas.openxmlformats.org/drawingml/2006/main" noGrp="1"/>
          </p:cNvSpPr>
          <p:nvPr/>
        </p:nvSpPr>
        <p:spPr>
          <a:xfrm xmlns:a="http://schemas.openxmlformats.org/drawingml/2006/main">
            <a:off x="685800" y="2714625"/>
            <a:ext cx="10096500" cy="1666875"/>
          </a:xfrm>
          <a:prstGeom xmlns:a="http://schemas.openxmlformats.org/drawingml/2006/main" prst="roundRect">
            <a:avLst>
              <a:gd name="adj" fmla="val 6857"/>
            </a:avLst>
          </a:prstGeom>
          <a:solidFill xmlns:a="http://schemas.openxmlformats.org/drawingml/2006/main">
            <a:srgbClr val="1D4A30"/>
          </a:solidFill>
          <a:ln xmlns:a="http://schemas.openxmlformats.org/drawingml/2006/main" w="9525">
            <a:solidFill>
              <a:srgbClr val="5C8568"/>
            </a:solidFill>
            <a:prstDash val="solid"/>
          </a:ln>
        </p:spPr>
      </p:sp>
      <p:sp>
        <p:nvSpPr>
          <p:cNvPr id="4" name="">
            <a:extLst xmlns:a="http://schemas.openxmlformats.org/drawingml/2006/main">
              <a:ext uri="{FF2B5EF4-FFF2-40B4-BE49-F238E27FC236}">
                <a16:creationId xmlns:a16="http://schemas.microsoft.com/office/drawing/2014/main" id="{9B502FE0-0498-41CB-802D-FE1AC5FEDC3C}"/>
              </a:ext>
            </a:extLst>
          </p:cNvPr>
          <p:cNvSpPr>
            <a:spLocks xmlns:a="http://schemas.openxmlformats.org/drawingml/2006/main" noGrp="1"/>
          </p:cNvSpPr>
          <p:nvPr/>
        </p:nvSpPr>
        <p:spPr>
          <a:xfrm xmlns:a="http://schemas.openxmlformats.org/drawingml/2006/main">
            <a:off x="876300" y="2847975"/>
            <a:ext cx="971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i="0">
                <a:solidFill>
                  <a:srgbClr val="FFDB05"/>
                </a:solidFill>
              </a:defRPr>
            </a:pPr>
            <a:r>
              <a:rPr sz="1200" b="1" i="0">
                <a:solidFill>
                  <a:srgbClr val="FFDB05"/>
                </a:solidFill>
              </a:rPr>
              <a:t>SCENARIO</a:t>
            </a:r>
          </a:p>
        </p:txBody>
      </p:sp>
      <p:sp>
        <p:nvSpPr>
          <p:cNvPr id="5" name="">
            <a:extLst xmlns:a="http://schemas.openxmlformats.org/drawingml/2006/main">
              <a:ext uri="{FF2B5EF4-FFF2-40B4-BE49-F238E27FC236}">
                <a16:creationId xmlns:a16="http://schemas.microsoft.com/office/drawing/2014/main" id="{5FEBCEF2-2738-4AA4-96A5-9654BC7EE68B}"/>
              </a:ext>
            </a:extLst>
          </p:cNvPr>
          <p:cNvSpPr>
            <a:spLocks xmlns:a="http://schemas.openxmlformats.org/drawingml/2006/main" noGrp="1"/>
          </p:cNvSpPr>
          <p:nvPr/>
        </p:nvSpPr>
        <p:spPr>
          <a:xfrm xmlns:a="http://schemas.openxmlformats.org/drawingml/2006/main">
            <a:off x="876300" y="3152775"/>
            <a:ext cx="97155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i="0">
                <a:solidFill>
                  <a:srgbClr val="FFFFFF"/>
                </a:solidFill>
              </a:defRPr>
            </a:pPr>
            <a:r>
              <a:rPr sz="2025" b="0" i="0">
                <a:solidFill>
                  <a:srgbClr val="FFFFFF"/>
                </a:solidFill>
              </a:rPr>
              <a:t>An AI tool gives you five recent “peer-reviewed” studies, complete with DOIs and concise summaries, to support the claim that AI improves university learning.</a:t>
            </a:r>
          </a:p>
        </p:txBody>
      </p:sp>
      <p:sp>
        <p:nvSpPr>
          <p:cNvPr id="6" name="">
            <a:extLst xmlns:a="http://schemas.openxmlformats.org/drawingml/2006/main">
              <a:ext uri="{FF2B5EF4-FFF2-40B4-BE49-F238E27FC236}">
                <a16:creationId xmlns:a16="http://schemas.microsoft.com/office/drawing/2014/main" id="{D8033E75-5008-4F1A-A89C-83502C2151B6}"/>
              </a:ext>
            </a:extLst>
          </p:cNvPr>
          <p:cNvSpPr>
            <a:spLocks xmlns:a="http://schemas.openxmlformats.org/drawingml/2006/main" noGrp="1"/>
          </p:cNvSpPr>
          <p:nvPr/>
        </p:nvSpPr>
        <p:spPr>
          <a:xfrm xmlns:a="http://schemas.openxmlformats.org/drawingml/2006/main">
            <a:off x="714375" y="5048250"/>
            <a:ext cx="981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i="0">
                <a:solidFill>
                  <a:srgbClr val="E4EFE7"/>
                </a:solidFill>
              </a:defRPr>
            </a:pPr>
            <a:r>
              <a:rPr sz="2175" b="1" i="0">
                <a:solidFill>
                  <a:srgbClr val="E4EFE7"/>
                </a:solidFill>
              </a:rPr>
              <a:t>Draft the checks you would complete before using any of it in a research proposal.</a:t>
            </a:r>
          </a:p>
        </p:txBody>
      </p:sp>
      <p:sp>
        <p:nvSpPr>
          <p:cNvPr id="7" name="">
            <a:extLst xmlns:a="http://schemas.openxmlformats.org/drawingml/2006/main">
              <a:ext uri="{FF2B5EF4-FFF2-40B4-BE49-F238E27FC236}">
                <a16:creationId xmlns:a16="http://schemas.microsoft.com/office/drawing/2014/main" id="{8006D48C-F89C-4AD5-84B4-C7EE72B309CB}"/>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DCE8DF"/>
                </a:solidFill>
              </a:defRPr>
            </a:pPr>
            <a:r>
              <a:rPr sz="975" b="1" i="0">
                <a:solidFill>
                  <a:srgbClr val="DCE8DF"/>
                </a:solidFill>
              </a:rPr>
              <a:t>EDPY 501 · SESSION 1</a:t>
            </a:r>
          </a:p>
        </p:txBody>
      </p:sp>
      <p:sp>
        <p:nvSpPr>
          <p:cNvPr id="8" name="">
            <a:extLst xmlns:a="http://schemas.openxmlformats.org/drawingml/2006/main">
              <a:ext uri="{FF2B5EF4-FFF2-40B4-BE49-F238E27FC236}">
                <a16:creationId xmlns:a16="http://schemas.microsoft.com/office/drawing/2014/main" id="{587A90EF-C525-4BF3-9C95-ECC3F67AF48A}"/>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DCE8DF"/>
                </a:solidFill>
              </a:defRPr>
            </a:pPr>
            <a:r>
              <a:rPr sz="975" b="1" i="0">
                <a:solidFill>
                  <a:srgbClr val="DCE8DF"/>
                </a:solidFill>
              </a:rPr>
              <a:t>32</a:t>
            </a:r>
          </a:p>
        </p:txBody>
      </p:sp>
    </p:spTree>
    <p:extLst>
      <p:ext uri="{BB962C8B-B14F-4D97-AF65-F5344CB8AC3E}">
        <p14:creationId xmlns:p14="http://schemas.microsoft.com/office/powerpoint/2010/main" val="945761974"/>
      </p:ext>
    </p:extLst>
  </p:cSld>
</p:sld>
</file>

<file path=ppt/slides/slide33.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9D5FE73-FE70-4F34-AE78-9B44101A768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CE3335-ED99-463C-94B2-1FEBA7B1E3ED}"/>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4C207DA-7EC5-44D1-9016-D09D5136B44A}"/>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AI LITERACY · DEBRIEF</a:t>
            </a:r>
          </a:p>
        </p:txBody>
      </p:sp>
      <p:sp>
        <p:nvSpPr>
          <p:cNvPr id="4" name="">
            <a:extLst xmlns:a="http://schemas.openxmlformats.org/drawingml/2006/main">
              <a:ext uri="{FF2B5EF4-FFF2-40B4-BE49-F238E27FC236}">
                <a16:creationId xmlns:a16="http://schemas.microsoft.com/office/drawing/2014/main" id="{30CE9AD7-16C9-49FE-B891-970E809C2E77}"/>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A defensible workflow returns to the original source</a:t>
            </a:r>
          </a:p>
        </p:txBody>
      </p:sp>
      <p:sp>
        <p:nvSpPr>
          <p:cNvPr id="5" name="">
            <a:extLst xmlns:a="http://schemas.openxmlformats.org/drawingml/2006/main">
              <a:ext uri="{FF2B5EF4-FFF2-40B4-BE49-F238E27FC236}">
                <a16:creationId xmlns:a16="http://schemas.microsoft.com/office/drawing/2014/main" id="{3C360C6A-59C2-45A8-9708-B0530DCC62BA}"/>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E985BE17-828A-46E2-ABD9-BAB69869698C}"/>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33</a:t>
            </a:r>
          </a:p>
        </p:txBody>
      </p:sp>
      <p:sp>
        <p:nvSpPr>
          <p:cNvPr id="7" name="">
            <a:extLst xmlns:a="http://schemas.openxmlformats.org/drawingml/2006/main">
              <a:ext uri="{FF2B5EF4-FFF2-40B4-BE49-F238E27FC236}">
                <a16:creationId xmlns:a16="http://schemas.microsoft.com/office/drawing/2014/main" id="{6A81B7D6-4F73-4618-9999-ECD8B0DDEBCF}"/>
              </a:ext>
            </a:extLst>
          </p:cNvPr>
          <p:cNvSpPr>
            <a:spLocks xmlns:a="http://schemas.openxmlformats.org/drawingml/2006/main" noGrp="1"/>
          </p:cNvSpPr>
          <p:nvPr/>
        </p:nvSpPr>
        <p:spPr>
          <a:xfrm xmlns:a="http://schemas.openxmlformats.org/drawingml/2006/main">
            <a:off x="704850" y="2143125"/>
            <a:ext cx="32861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D7DFD9"/>
            </a:solidFill>
            <a:prstDash val="solid"/>
          </a:ln>
        </p:spPr>
      </p:sp>
      <p:sp>
        <p:nvSpPr>
          <p:cNvPr id="8" name="">
            <a:extLst xmlns:a="http://schemas.openxmlformats.org/drawingml/2006/main">
              <a:ext uri="{FF2B5EF4-FFF2-40B4-BE49-F238E27FC236}">
                <a16:creationId xmlns:a16="http://schemas.microsoft.com/office/drawing/2014/main" id="{92E05182-8A42-4E80-9F06-796A525B7732}"/>
              </a:ext>
            </a:extLst>
          </p:cNvPr>
          <p:cNvSpPr>
            <a:spLocks xmlns:a="http://schemas.openxmlformats.org/drawingml/2006/main" noGrp="1"/>
          </p:cNvSpPr>
          <p:nvPr/>
        </p:nvSpPr>
        <p:spPr>
          <a:xfrm xmlns:a="http://schemas.openxmlformats.org/drawingml/2006/main">
            <a:off x="895350" y="2276475"/>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01 · LOCATE</a:t>
            </a:r>
          </a:p>
        </p:txBody>
      </p:sp>
      <p:sp>
        <p:nvSpPr>
          <p:cNvPr id="9" name="">
            <a:extLst xmlns:a="http://schemas.openxmlformats.org/drawingml/2006/main">
              <a:ext uri="{FF2B5EF4-FFF2-40B4-BE49-F238E27FC236}">
                <a16:creationId xmlns:a16="http://schemas.microsoft.com/office/drawing/2014/main" id="{86FB0F3E-ADE3-420A-8C64-FFD7CF98E907}"/>
              </a:ext>
            </a:extLst>
          </p:cNvPr>
          <p:cNvSpPr>
            <a:spLocks xmlns:a="http://schemas.openxmlformats.org/drawingml/2006/main" noGrp="1"/>
          </p:cNvSpPr>
          <p:nvPr/>
        </p:nvSpPr>
        <p:spPr>
          <a:xfrm xmlns:a="http://schemas.openxmlformats.org/drawingml/2006/main">
            <a:off x="895350" y="2581275"/>
            <a:ext cx="29051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Find the source in a credible database, catalogue, or publisher site.</a:t>
            </a:r>
          </a:p>
        </p:txBody>
      </p:sp>
      <p:sp>
        <p:nvSpPr>
          <p:cNvPr id="10" name="">
            <a:extLst xmlns:a="http://schemas.openxmlformats.org/drawingml/2006/main">
              <a:ext uri="{FF2B5EF4-FFF2-40B4-BE49-F238E27FC236}">
                <a16:creationId xmlns:a16="http://schemas.microsoft.com/office/drawing/2014/main" id="{F64E583B-FD61-46BD-B71F-37EAFA28F481}"/>
              </a:ext>
            </a:extLst>
          </p:cNvPr>
          <p:cNvSpPr>
            <a:spLocks xmlns:a="http://schemas.openxmlformats.org/drawingml/2006/main" noGrp="1"/>
          </p:cNvSpPr>
          <p:nvPr/>
        </p:nvSpPr>
        <p:spPr>
          <a:xfrm xmlns:a="http://schemas.openxmlformats.org/drawingml/2006/main">
            <a:off x="4343400" y="2143125"/>
            <a:ext cx="32861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D7DFD9"/>
            </a:solidFill>
            <a:prstDash val="solid"/>
          </a:ln>
        </p:spPr>
      </p:sp>
      <p:sp>
        <p:nvSpPr>
          <p:cNvPr id="11" name="">
            <a:extLst xmlns:a="http://schemas.openxmlformats.org/drawingml/2006/main">
              <a:ext uri="{FF2B5EF4-FFF2-40B4-BE49-F238E27FC236}">
                <a16:creationId xmlns:a16="http://schemas.microsoft.com/office/drawing/2014/main" id="{99B2AF0F-B643-4AB4-B92E-764D1C19EF33}"/>
              </a:ext>
            </a:extLst>
          </p:cNvPr>
          <p:cNvSpPr>
            <a:spLocks xmlns:a="http://schemas.openxmlformats.org/drawingml/2006/main" noGrp="1"/>
          </p:cNvSpPr>
          <p:nvPr/>
        </p:nvSpPr>
        <p:spPr>
          <a:xfrm xmlns:a="http://schemas.openxmlformats.org/drawingml/2006/main">
            <a:off x="4533900" y="2276475"/>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02 · CONFIRM</a:t>
            </a:r>
          </a:p>
        </p:txBody>
      </p:sp>
      <p:sp>
        <p:nvSpPr>
          <p:cNvPr id="12" name="">
            <a:extLst xmlns:a="http://schemas.openxmlformats.org/drawingml/2006/main">
              <a:ext uri="{FF2B5EF4-FFF2-40B4-BE49-F238E27FC236}">
                <a16:creationId xmlns:a16="http://schemas.microsoft.com/office/drawing/2014/main" id="{1EA4507D-E26C-4BF2-9D58-A33163A4581C}"/>
              </a:ext>
            </a:extLst>
          </p:cNvPr>
          <p:cNvSpPr>
            <a:spLocks xmlns:a="http://schemas.openxmlformats.org/drawingml/2006/main" noGrp="1"/>
          </p:cNvSpPr>
          <p:nvPr/>
        </p:nvSpPr>
        <p:spPr>
          <a:xfrm xmlns:a="http://schemas.openxmlformats.org/drawingml/2006/main">
            <a:off x="4533900" y="2581275"/>
            <a:ext cx="29051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Verify the article, authors, journal, year, and DOI.</a:t>
            </a:r>
          </a:p>
        </p:txBody>
      </p:sp>
      <p:sp>
        <p:nvSpPr>
          <p:cNvPr id="13" name="">
            <a:extLst xmlns:a="http://schemas.openxmlformats.org/drawingml/2006/main">
              <a:ext uri="{FF2B5EF4-FFF2-40B4-BE49-F238E27FC236}">
                <a16:creationId xmlns:a16="http://schemas.microsoft.com/office/drawing/2014/main" id="{40656C6E-C825-42BC-B919-22B383759E30}"/>
              </a:ext>
            </a:extLst>
          </p:cNvPr>
          <p:cNvSpPr>
            <a:spLocks xmlns:a="http://schemas.openxmlformats.org/drawingml/2006/main" noGrp="1"/>
          </p:cNvSpPr>
          <p:nvPr/>
        </p:nvSpPr>
        <p:spPr>
          <a:xfrm xmlns:a="http://schemas.openxmlformats.org/drawingml/2006/main">
            <a:off x="7981950" y="2143125"/>
            <a:ext cx="32861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D7DFD9"/>
            </a:solidFill>
            <a:prstDash val="solid"/>
          </a:ln>
        </p:spPr>
      </p:sp>
      <p:sp>
        <p:nvSpPr>
          <p:cNvPr id="14" name="">
            <a:extLst xmlns:a="http://schemas.openxmlformats.org/drawingml/2006/main">
              <a:ext uri="{FF2B5EF4-FFF2-40B4-BE49-F238E27FC236}">
                <a16:creationId xmlns:a16="http://schemas.microsoft.com/office/drawing/2014/main" id="{0CC1954F-5EED-4646-B845-4D8756275DAA}"/>
              </a:ext>
            </a:extLst>
          </p:cNvPr>
          <p:cNvSpPr>
            <a:spLocks xmlns:a="http://schemas.openxmlformats.org/drawingml/2006/main" noGrp="1"/>
          </p:cNvSpPr>
          <p:nvPr/>
        </p:nvSpPr>
        <p:spPr>
          <a:xfrm xmlns:a="http://schemas.openxmlformats.org/drawingml/2006/main">
            <a:off x="8172450" y="2276475"/>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03 · READ</a:t>
            </a:r>
          </a:p>
        </p:txBody>
      </p:sp>
      <p:sp>
        <p:nvSpPr>
          <p:cNvPr id="15" name="">
            <a:extLst xmlns:a="http://schemas.openxmlformats.org/drawingml/2006/main">
              <a:ext uri="{FF2B5EF4-FFF2-40B4-BE49-F238E27FC236}">
                <a16:creationId xmlns:a16="http://schemas.microsoft.com/office/drawing/2014/main" id="{623BCE8C-CB60-4D7C-A90F-DA95E641A754}"/>
              </a:ext>
            </a:extLst>
          </p:cNvPr>
          <p:cNvSpPr>
            <a:spLocks xmlns:a="http://schemas.openxmlformats.org/drawingml/2006/main" noGrp="1"/>
          </p:cNvSpPr>
          <p:nvPr/>
        </p:nvSpPr>
        <p:spPr>
          <a:xfrm xmlns:a="http://schemas.openxmlformats.org/drawingml/2006/main">
            <a:off x="8172450" y="2581275"/>
            <a:ext cx="29051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Consult the original source—not only the AI summary.</a:t>
            </a:r>
          </a:p>
        </p:txBody>
      </p:sp>
      <p:sp>
        <p:nvSpPr>
          <p:cNvPr id="16" name="">
            <a:extLst xmlns:a="http://schemas.openxmlformats.org/drawingml/2006/main">
              <a:ext uri="{FF2B5EF4-FFF2-40B4-BE49-F238E27FC236}">
                <a16:creationId xmlns:a16="http://schemas.microsoft.com/office/drawing/2014/main" id="{29FC01D9-F972-42A5-A1CC-B5C00EB10024}"/>
              </a:ext>
            </a:extLst>
          </p:cNvPr>
          <p:cNvSpPr>
            <a:spLocks xmlns:a="http://schemas.openxmlformats.org/drawingml/2006/main" noGrp="1"/>
          </p:cNvSpPr>
          <p:nvPr/>
        </p:nvSpPr>
        <p:spPr>
          <a:xfrm xmlns:a="http://schemas.openxmlformats.org/drawingml/2006/main">
            <a:off x="704850" y="3762375"/>
            <a:ext cx="3286125" cy="1381125"/>
          </a:xfrm>
          <a:prstGeom xmlns:a="http://schemas.openxmlformats.org/drawingml/2006/main" prst="roundRect">
            <a:avLst>
              <a:gd name="adj" fmla="val 8276"/>
            </a:avLst>
          </a:prstGeom>
          <a:solidFill xmlns:a="http://schemas.openxmlformats.org/drawingml/2006/main">
            <a:srgbClr val="E8F1EB"/>
          </a:solidFill>
          <a:ln xmlns:a="http://schemas.openxmlformats.org/drawingml/2006/main" w="9525">
            <a:solidFill>
              <a:srgbClr val="D7DFD9"/>
            </a:solidFill>
            <a:prstDash val="solid"/>
          </a:ln>
        </p:spPr>
      </p:sp>
      <p:sp>
        <p:nvSpPr>
          <p:cNvPr id="17" name="">
            <a:extLst xmlns:a="http://schemas.openxmlformats.org/drawingml/2006/main">
              <a:ext uri="{FF2B5EF4-FFF2-40B4-BE49-F238E27FC236}">
                <a16:creationId xmlns:a16="http://schemas.microsoft.com/office/drawing/2014/main" id="{2FDBFE34-4960-4C44-8A17-7C6EB888D538}"/>
              </a:ext>
            </a:extLst>
          </p:cNvPr>
          <p:cNvSpPr>
            <a:spLocks xmlns:a="http://schemas.openxmlformats.org/drawingml/2006/main" noGrp="1"/>
          </p:cNvSpPr>
          <p:nvPr/>
        </p:nvSpPr>
        <p:spPr>
          <a:xfrm xmlns:a="http://schemas.openxmlformats.org/drawingml/2006/main">
            <a:off x="895350" y="3895725"/>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04 · CHECK</a:t>
            </a:r>
          </a:p>
        </p:txBody>
      </p:sp>
      <p:sp>
        <p:nvSpPr>
          <p:cNvPr id="18" name="">
            <a:extLst xmlns:a="http://schemas.openxmlformats.org/drawingml/2006/main">
              <a:ext uri="{FF2B5EF4-FFF2-40B4-BE49-F238E27FC236}">
                <a16:creationId xmlns:a16="http://schemas.microsoft.com/office/drawing/2014/main" id="{3591DBF8-578D-493A-AC5E-A1C8E2B6D479}"/>
              </a:ext>
            </a:extLst>
          </p:cNvPr>
          <p:cNvSpPr>
            <a:spLocks xmlns:a="http://schemas.openxmlformats.org/drawingml/2006/main" noGrp="1"/>
          </p:cNvSpPr>
          <p:nvPr/>
        </p:nvSpPr>
        <p:spPr>
          <a:xfrm xmlns:a="http://schemas.openxmlformats.org/drawingml/2006/main">
            <a:off x="895350" y="4200525"/>
            <a:ext cx="29051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Determine whether the study really supports the claim.</a:t>
            </a:r>
          </a:p>
        </p:txBody>
      </p:sp>
      <p:sp>
        <p:nvSpPr>
          <p:cNvPr id="19" name="">
            <a:extLst xmlns:a="http://schemas.openxmlformats.org/drawingml/2006/main">
              <a:ext uri="{FF2B5EF4-FFF2-40B4-BE49-F238E27FC236}">
                <a16:creationId xmlns:a16="http://schemas.microsoft.com/office/drawing/2014/main" id="{A648CF12-A0CB-4E6F-B03C-EA92E416C026}"/>
              </a:ext>
            </a:extLst>
          </p:cNvPr>
          <p:cNvSpPr>
            <a:spLocks xmlns:a="http://schemas.openxmlformats.org/drawingml/2006/main" noGrp="1"/>
          </p:cNvSpPr>
          <p:nvPr/>
        </p:nvSpPr>
        <p:spPr>
          <a:xfrm xmlns:a="http://schemas.openxmlformats.org/drawingml/2006/main">
            <a:off x="4343400" y="3762375"/>
            <a:ext cx="3286125" cy="1381125"/>
          </a:xfrm>
          <a:prstGeom xmlns:a="http://schemas.openxmlformats.org/drawingml/2006/main" prst="roundRect">
            <a:avLst>
              <a:gd name="adj" fmla="val 8276"/>
            </a:avLst>
          </a:prstGeom>
          <a:solidFill xmlns:a="http://schemas.openxmlformats.org/drawingml/2006/main">
            <a:srgbClr val="E8F1EB"/>
          </a:solidFill>
          <a:ln xmlns:a="http://schemas.openxmlformats.org/drawingml/2006/main" w="9525">
            <a:solidFill>
              <a:srgbClr val="D7DFD9"/>
            </a:solidFill>
            <a:prstDash val="solid"/>
          </a:ln>
        </p:spPr>
      </p:sp>
      <p:sp>
        <p:nvSpPr>
          <p:cNvPr id="20" name="">
            <a:extLst xmlns:a="http://schemas.openxmlformats.org/drawingml/2006/main">
              <a:ext uri="{FF2B5EF4-FFF2-40B4-BE49-F238E27FC236}">
                <a16:creationId xmlns:a16="http://schemas.microsoft.com/office/drawing/2014/main" id="{4A18F949-5154-470D-913F-FF361FA4B49B}"/>
              </a:ext>
            </a:extLst>
          </p:cNvPr>
          <p:cNvSpPr>
            <a:spLocks xmlns:a="http://schemas.openxmlformats.org/drawingml/2006/main" noGrp="1"/>
          </p:cNvSpPr>
          <p:nvPr/>
        </p:nvSpPr>
        <p:spPr>
          <a:xfrm xmlns:a="http://schemas.openxmlformats.org/drawingml/2006/main">
            <a:off x="4533900" y="3895725"/>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05 · EVALUATE</a:t>
            </a:r>
          </a:p>
        </p:txBody>
      </p:sp>
      <p:sp>
        <p:nvSpPr>
          <p:cNvPr id="21" name="">
            <a:extLst xmlns:a="http://schemas.openxmlformats.org/drawingml/2006/main">
              <a:ext uri="{FF2B5EF4-FFF2-40B4-BE49-F238E27FC236}">
                <a16:creationId xmlns:a16="http://schemas.microsoft.com/office/drawing/2014/main" id="{389EB83D-198D-4DB8-BD0F-270437A8965B}"/>
              </a:ext>
            </a:extLst>
          </p:cNvPr>
          <p:cNvSpPr>
            <a:spLocks xmlns:a="http://schemas.openxmlformats.org/drawingml/2006/main" noGrp="1"/>
          </p:cNvSpPr>
          <p:nvPr/>
        </p:nvSpPr>
        <p:spPr>
          <a:xfrm xmlns:a="http://schemas.openxmlformats.org/drawingml/2006/main">
            <a:off x="4533900" y="4200525"/>
            <a:ext cx="29051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Assess quality, relevance, context, and limitations.</a:t>
            </a:r>
          </a:p>
        </p:txBody>
      </p:sp>
      <p:sp>
        <p:nvSpPr>
          <p:cNvPr id="22" name="">
            <a:extLst xmlns:a="http://schemas.openxmlformats.org/drawingml/2006/main">
              <a:ext uri="{FF2B5EF4-FFF2-40B4-BE49-F238E27FC236}">
                <a16:creationId xmlns:a16="http://schemas.microsoft.com/office/drawing/2014/main" id="{1063C14D-4436-48AE-ADD6-609988400A65}"/>
              </a:ext>
            </a:extLst>
          </p:cNvPr>
          <p:cNvSpPr>
            <a:spLocks xmlns:a="http://schemas.openxmlformats.org/drawingml/2006/main" noGrp="1"/>
          </p:cNvSpPr>
          <p:nvPr/>
        </p:nvSpPr>
        <p:spPr>
          <a:xfrm xmlns:a="http://schemas.openxmlformats.org/drawingml/2006/main">
            <a:off x="7981950" y="3762375"/>
            <a:ext cx="3286125" cy="1381125"/>
          </a:xfrm>
          <a:prstGeom xmlns:a="http://schemas.openxmlformats.org/drawingml/2006/main" prst="roundRect">
            <a:avLst>
              <a:gd name="adj" fmla="val 8276"/>
            </a:avLst>
          </a:prstGeom>
          <a:solidFill xmlns:a="http://schemas.openxmlformats.org/drawingml/2006/main">
            <a:srgbClr val="FFF7BD"/>
          </a:solidFill>
          <a:ln xmlns:a="http://schemas.openxmlformats.org/drawingml/2006/main" w="19050">
            <a:solidFill>
              <a:srgbClr val="FFDB05"/>
            </a:solidFill>
            <a:prstDash val="solid"/>
          </a:ln>
        </p:spPr>
      </p:sp>
      <p:sp>
        <p:nvSpPr>
          <p:cNvPr id="23" name="">
            <a:extLst xmlns:a="http://schemas.openxmlformats.org/drawingml/2006/main">
              <a:ext uri="{FF2B5EF4-FFF2-40B4-BE49-F238E27FC236}">
                <a16:creationId xmlns:a16="http://schemas.microsoft.com/office/drawing/2014/main" id="{D8F1B0F7-78F5-42E9-B46D-DA96CB59B844}"/>
              </a:ext>
            </a:extLst>
          </p:cNvPr>
          <p:cNvSpPr>
            <a:spLocks xmlns:a="http://schemas.openxmlformats.org/drawingml/2006/main" noGrp="1"/>
          </p:cNvSpPr>
          <p:nvPr/>
        </p:nvSpPr>
        <p:spPr>
          <a:xfrm xmlns:a="http://schemas.openxmlformats.org/drawingml/2006/main">
            <a:off x="8172450" y="3895725"/>
            <a:ext cx="2905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275D38"/>
                </a:solidFill>
              </a:defRPr>
            </a:pPr>
            <a:r>
              <a:rPr sz="1125" b="1" i="0">
                <a:solidFill>
                  <a:srgbClr val="275D38"/>
                </a:solidFill>
              </a:rPr>
              <a:t>06 · CITE</a:t>
            </a:r>
          </a:p>
        </p:txBody>
      </p:sp>
      <p:sp>
        <p:nvSpPr>
          <p:cNvPr id="24" name="">
            <a:extLst xmlns:a="http://schemas.openxmlformats.org/drawingml/2006/main">
              <a:ext uri="{FF2B5EF4-FFF2-40B4-BE49-F238E27FC236}">
                <a16:creationId xmlns:a16="http://schemas.microsoft.com/office/drawing/2014/main" id="{F41036F5-553D-44A4-8445-D2A8A80EEAAC}"/>
              </a:ext>
            </a:extLst>
          </p:cNvPr>
          <p:cNvSpPr>
            <a:spLocks xmlns:a="http://schemas.openxmlformats.org/drawingml/2006/main" noGrp="1"/>
          </p:cNvSpPr>
          <p:nvPr/>
        </p:nvSpPr>
        <p:spPr>
          <a:xfrm xmlns:a="http://schemas.openxmlformats.org/drawingml/2006/main">
            <a:off x="8172450" y="4200525"/>
            <a:ext cx="29051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Cite the scholarship and disclose AI use when required.</a:t>
            </a:r>
          </a:p>
        </p:txBody>
      </p:sp>
      <p:sp>
        <p:nvSpPr>
          <p:cNvPr id="25" name="">
            <a:extLst xmlns:a="http://schemas.openxmlformats.org/drawingml/2006/main">
              <a:ext uri="{FF2B5EF4-FFF2-40B4-BE49-F238E27FC236}">
                <a16:creationId xmlns:a16="http://schemas.microsoft.com/office/drawing/2014/main" id="{072DF1B8-F76A-4D9A-967E-3974416D896A}"/>
              </a:ext>
            </a:extLst>
          </p:cNvPr>
          <p:cNvSpPr>
            <a:spLocks xmlns:a="http://schemas.openxmlformats.org/drawingml/2006/main" noGrp="1"/>
          </p:cNvSpPr>
          <p:nvPr/>
        </p:nvSpPr>
        <p:spPr>
          <a:xfrm xmlns:a="http://schemas.openxmlformats.org/drawingml/2006/main">
            <a:off x="2333625" y="5715000"/>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i="0">
                <a:solidFill>
                  <a:srgbClr val="123421"/>
                </a:solidFill>
              </a:defRPr>
            </a:pPr>
            <a:r>
              <a:rPr sz="1800" b="1" i="0">
                <a:solidFill>
                  <a:srgbClr val="123421"/>
                </a:solidFill>
              </a:rPr>
              <a:t>AI suggestion → scholarly verification → accountable decision</a:t>
            </a:r>
          </a:p>
        </p:txBody>
      </p:sp>
    </p:spTree>
    <p:extLst>
      <p:ext uri="{BB962C8B-B14F-4D97-AF65-F5344CB8AC3E}">
        <p14:creationId xmlns:p14="http://schemas.microsoft.com/office/powerpoint/2010/main" val="263864373"/>
      </p:ext>
    </p:extLst>
  </p:cSld>
</p:sld>
</file>

<file path=ppt/slides/slide34.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239B2D1-A722-4F7B-B087-1A2A6EAB21A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049FDC-04C6-465C-8BF0-DF874CB912FF}"/>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45838D-E560-40B8-9682-60A9B9F9CA92}"/>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CLOSING REFLECTION · 7 MINUTES</a:t>
            </a:r>
          </a:p>
        </p:txBody>
      </p:sp>
      <p:sp>
        <p:nvSpPr>
          <p:cNvPr id="4" name="">
            <a:extLst xmlns:a="http://schemas.openxmlformats.org/drawingml/2006/main">
              <a:ext uri="{FF2B5EF4-FFF2-40B4-BE49-F238E27FC236}">
                <a16:creationId xmlns:a16="http://schemas.microsoft.com/office/drawing/2014/main" id="{B6B4BA00-7B18-4C2B-A5D1-4852A45F5D01}"/>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Use the exit ticket to capture</a:t>
            </a:r>
          </a:p>
          <a:p xmlns:a="http://schemas.openxmlformats.org/drawingml/2006/main">
            <a:pPr algn="l">
              <a:defRPr sz="3000" b="1" i="0">
                <a:solidFill>
                  <a:srgbClr val="123421"/>
                </a:solidFill>
              </a:defRPr>
            </a:pPr>
            <a:r>
              <a:rPr sz="3000" b="1" i="0">
                <a:solidFill>
                  <a:srgbClr val="123421"/>
                </a:solidFill>
              </a:rPr>
              <a:t>your starting point</a:t>
            </a:r>
          </a:p>
        </p:txBody>
      </p:sp>
      <p:sp>
        <p:nvSpPr>
          <p:cNvPr id="5" name="">
            <a:extLst xmlns:a="http://schemas.openxmlformats.org/drawingml/2006/main">
              <a:ext uri="{FF2B5EF4-FFF2-40B4-BE49-F238E27FC236}">
                <a16:creationId xmlns:a16="http://schemas.microsoft.com/office/drawing/2014/main" id="{FD329691-C19E-46C2-873D-A14476F21E58}"/>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32BF3F1D-2E3B-4E98-9786-731F2167BD16}"/>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34</a:t>
            </a:r>
          </a:p>
        </p:txBody>
      </p:sp>
      <p:sp>
        <p:nvSpPr>
          <p:cNvPr id="7" name="">
            <a:extLst xmlns:a="http://schemas.openxmlformats.org/drawingml/2006/main">
              <a:ext uri="{FF2B5EF4-FFF2-40B4-BE49-F238E27FC236}">
                <a16:creationId xmlns:a16="http://schemas.microsoft.com/office/drawing/2014/main" id="{BFDE3AD8-5430-4383-A626-99CF5BFDCC70}"/>
              </a:ext>
            </a:extLst>
          </p:cNvPr>
          <p:cNvSpPr>
            <a:spLocks xmlns:a="http://schemas.openxmlformats.org/drawingml/2006/main" noGrp="1"/>
          </p:cNvSpPr>
          <p:nvPr/>
        </p:nvSpPr>
        <p:spPr>
          <a:xfrm xmlns:a="http://schemas.openxmlformats.org/drawingml/2006/main">
            <a:off x="904875" y="22860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3FABA5-FC51-4B1A-8126-33100C5CEEC1}"/>
              </a:ext>
            </a:extLst>
          </p:cNvPr>
          <p:cNvSpPr>
            <a:spLocks xmlns:a="http://schemas.openxmlformats.org/drawingml/2006/main" noGrp="1"/>
          </p:cNvSpPr>
          <p:nvPr/>
        </p:nvSpPr>
        <p:spPr>
          <a:xfrm xmlns:a="http://schemas.openxmlformats.org/drawingml/2006/main">
            <a:off x="1171575" y="2190750"/>
            <a:ext cx="982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What distinction about research became clearer today?</a:t>
            </a:r>
          </a:p>
        </p:txBody>
      </p:sp>
      <p:sp>
        <p:nvSpPr>
          <p:cNvPr id="9" name="">
            <a:extLst xmlns:a="http://schemas.openxmlformats.org/drawingml/2006/main">
              <a:ext uri="{FF2B5EF4-FFF2-40B4-BE49-F238E27FC236}">
                <a16:creationId xmlns:a16="http://schemas.microsoft.com/office/drawing/2014/main" id="{4F966EB9-E0C4-400A-AF29-38A6D244977D}"/>
              </a:ext>
            </a:extLst>
          </p:cNvPr>
          <p:cNvSpPr>
            <a:spLocks xmlns:a="http://schemas.openxmlformats.org/drawingml/2006/main" noGrp="1"/>
          </p:cNvSpPr>
          <p:nvPr/>
        </p:nvSpPr>
        <p:spPr>
          <a:xfrm xmlns:a="http://schemas.openxmlformats.org/drawingml/2006/main">
            <a:off x="904875" y="30099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963BCD-A192-4B19-A07F-0617A65F79BC}"/>
              </a:ext>
            </a:extLst>
          </p:cNvPr>
          <p:cNvSpPr>
            <a:spLocks xmlns:a="http://schemas.openxmlformats.org/drawingml/2006/main" noGrp="1"/>
          </p:cNvSpPr>
          <p:nvPr/>
        </p:nvSpPr>
        <p:spPr>
          <a:xfrm xmlns:a="http://schemas.openxmlformats.org/drawingml/2006/main">
            <a:off x="1171575" y="2914650"/>
            <a:ext cx="982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What assumption about research did you reconsider—or notice more clearly?</a:t>
            </a:r>
          </a:p>
        </p:txBody>
      </p:sp>
      <p:sp>
        <p:nvSpPr>
          <p:cNvPr id="11" name="">
            <a:extLst xmlns:a="http://schemas.openxmlformats.org/drawingml/2006/main">
              <a:ext uri="{FF2B5EF4-FFF2-40B4-BE49-F238E27FC236}">
                <a16:creationId xmlns:a16="http://schemas.microsoft.com/office/drawing/2014/main" id="{D7B03588-48AA-4232-BD9D-91FC5DEB0AF2}"/>
              </a:ext>
            </a:extLst>
          </p:cNvPr>
          <p:cNvSpPr>
            <a:spLocks xmlns:a="http://schemas.openxmlformats.org/drawingml/2006/main" noGrp="1"/>
          </p:cNvSpPr>
          <p:nvPr/>
        </p:nvSpPr>
        <p:spPr>
          <a:xfrm xmlns:a="http://schemas.openxmlformats.org/drawingml/2006/main">
            <a:off x="904875" y="37338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11AD8E8-C852-471A-BCF3-54C9F44E938F}"/>
              </a:ext>
            </a:extLst>
          </p:cNvPr>
          <p:cNvSpPr>
            <a:spLocks xmlns:a="http://schemas.openxmlformats.org/drawingml/2006/main" noGrp="1"/>
          </p:cNvSpPr>
          <p:nvPr/>
        </p:nvSpPr>
        <p:spPr>
          <a:xfrm xmlns:a="http://schemas.openxmlformats.org/drawingml/2006/main">
            <a:off x="1171575" y="3638550"/>
            <a:ext cx="982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What will you do differently when using AI for academic work?</a:t>
            </a:r>
          </a:p>
        </p:txBody>
      </p:sp>
      <p:sp>
        <p:nvSpPr>
          <p:cNvPr id="13" name="">
            <a:extLst xmlns:a="http://schemas.openxmlformats.org/drawingml/2006/main">
              <a:ext uri="{FF2B5EF4-FFF2-40B4-BE49-F238E27FC236}">
                <a16:creationId xmlns:a16="http://schemas.microsoft.com/office/drawing/2014/main" id="{06D9C2AF-3C50-4CB1-8773-F11BD97FD9AA}"/>
              </a:ext>
            </a:extLst>
          </p:cNvPr>
          <p:cNvSpPr>
            <a:spLocks xmlns:a="http://schemas.openxmlformats.org/drawingml/2006/main" noGrp="1"/>
          </p:cNvSpPr>
          <p:nvPr/>
        </p:nvSpPr>
        <p:spPr>
          <a:xfrm xmlns:a="http://schemas.openxmlformats.org/drawingml/2006/main">
            <a:off x="904875" y="4457700"/>
            <a:ext cx="114300" cy="114300"/>
          </a:xfrm>
          <a:prstGeom xmlns:a="http://schemas.openxmlformats.org/drawingml/2006/main" prst="ellipse">
            <a:avLst/>
          </a:prstGeom>
          <a:solidFill xmlns:a="http://schemas.openxmlformats.org/drawingml/2006/main">
            <a:srgbClr val="FFDB0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B715F2-4DF9-443C-BB0F-7DFD62376171}"/>
              </a:ext>
            </a:extLst>
          </p:cNvPr>
          <p:cNvSpPr>
            <a:spLocks xmlns:a="http://schemas.openxmlformats.org/drawingml/2006/main" noGrp="1"/>
          </p:cNvSpPr>
          <p:nvPr/>
        </p:nvSpPr>
        <p:spPr>
          <a:xfrm xmlns:a="http://schemas.openxmlformats.org/drawingml/2006/main">
            <a:off x="1171575" y="4362450"/>
            <a:ext cx="9829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17211B"/>
                </a:solidFill>
              </a:defRPr>
            </a:pPr>
            <a:r>
              <a:rPr sz="1875" b="0" i="0">
                <a:solidFill>
                  <a:srgbClr val="17211B"/>
                </a:solidFill>
              </a:rPr>
              <a:t>What educational problem might you investigate this semester?</a:t>
            </a:r>
          </a:p>
        </p:txBody>
      </p:sp>
      <p:sp>
        <p:nvSpPr>
          <p:cNvPr id="15" name="">
            <a:extLst xmlns:a="http://schemas.openxmlformats.org/drawingml/2006/main">
              <a:ext uri="{FF2B5EF4-FFF2-40B4-BE49-F238E27FC236}">
                <a16:creationId xmlns:a16="http://schemas.microsoft.com/office/drawing/2014/main" id="{E416ACC5-D165-485C-B3D4-AFECF5BFC563}"/>
              </a:ext>
            </a:extLst>
          </p:cNvPr>
          <p:cNvSpPr>
            <a:spLocks xmlns:a="http://schemas.openxmlformats.org/drawingml/2006/main" noGrp="1"/>
          </p:cNvSpPr>
          <p:nvPr/>
        </p:nvSpPr>
        <p:spPr>
          <a:xfrm xmlns:a="http://schemas.openxmlformats.org/drawingml/2006/main">
            <a:off x="1666875" y="5572125"/>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i="0">
                <a:solidFill>
                  <a:srgbClr val="275D38"/>
                </a:solidFill>
              </a:defRPr>
            </a:pPr>
            <a:r>
              <a:rPr sz="1650" b="1" i="0">
                <a:solidFill>
                  <a:srgbClr val="275D38"/>
                </a:solidFill>
              </a:rPr>
              <a:t>Submit through the approved exit-ticket form on the Session 1 activity site.</a:t>
            </a:r>
          </a:p>
        </p:txBody>
      </p:sp>
    </p:spTree>
    <p:extLst>
      <p:ext uri="{BB962C8B-B14F-4D97-AF65-F5344CB8AC3E}">
        <p14:creationId xmlns:p14="http://schemas.microsoft.com/office/powerpoint/2010/main" val="2001734272"/>
      </p:ext>
    </p:extLst>
  </p:cSld>
</p:sld>
</file>

<file path=ppt/slides/slide35.xml><?xml version="1.0" encoding="utf-8"?>
<p:sld xmlns:p="http://schemas.openxmlformats.org/presentationml/2006/main">
  <p:cSld>
    <p:bg>
      <p:bgPr>
        <a:solidFill xmlns:a="http://schemas.openxmlformats.org/drawingml/2006/main">
          <a:srgbClr val="FFDB0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B21205-AF44-4192-9479-94ACC5384362}"/>
              </a:ext>
            </a:extLst>
          </p:cNvPr>
          <p:cNvSpPr>
            <a:spLocks xmlns:a="http://schemas.openxmlformats.org/drawingml/2006/main" noGrp="1"/>
          </p:cNvSpPr>
          <p:nvPr/>
        </p:nvSpPr>
        <p:spPr>
          <a:xfrm xmlns:a="http://schemas.openxmlformats.org/drawingml/2006/main">
            <a:off x="685800" y="7620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23421"/>
                </a:solidFill>
              </a:defRPr>
            </a:pPr>
            <a:r>
              <a:rPr sz="1350" b="1" i="0">
                <a:solidFill>
                  <a:srgbClr val="123421"/>
                </a:solidFill>
              </a:rPr>
              <a:t>CARRY THIS QUESTION FORWARD</a:t>
            </a:r>
          </a:p>
        </p:txBody>
      </p:sp>
      <p:sp>
        <p:nvSpPr>
          <p:cNvPr id="2" name="">
            <a:extLst xmlns:a="http://schemas.openxmlformats.org/drawingml/2006/main">
              <a:ext uri="{FF2B5EF4-FFF2-40B4-BE49-F238E27FC236}">
                <a16:creationId xmlns:a16="http://schemas.microsoft.com/office/drawing/2014/main" id="{81FED230-A2FF-48D6-B18F-E0F14DFC5522}"/>
              </a:ext>
            </a:extLst>
          </p:cNvPr>
          <p:cNvSpPr>
            <a:spLocks xmlns:a="http://schemas.openxmlformats.org/drawingml/2006/main" noGrp="1"/>
          </p:cNvSpPr>
          <p:nvPr/>
        </p:nvSpPr>
        <p:spPr>
          <a:xfrm xmlns:a="http://schemas.openxmlformats.org/drawingml/2006/main">
            <a:off x="685800" y="1714500"/>
            <a:ext cx="10191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i="0">
                <a:solidFill>
                  <a:srgbClr val="123421"/>
                </a:solidFill>
              </a:defRPr>
            </a:pPr>
            <a:r>
              <a:rPr sz="4350" b="1" i="0">
                <a:solidFill>
                  <a:srgbClr val="123421"/>
                </a:solidFill>
              </a:rPr>
              <a:t>Does the design and evidence actually support the claim?</a:t>
            </a:r>
          </a:p>
        </p:txBody>
      </p:sp>
      <p:sp>
        <p:nvSpPr>
          <p:cNvPr id="3" name="">
            <a:extLst xmlns:a="http://schemas.openxmlformats.org/drawingml/2006/main">
              <a:ext uri="{FF2B5EF4-FFF2-40B4-BE49-F238E27FC236}">
                <a16:creationId xmlns:a16="http://schemas.microsoft.com/office/drawing/2014/main" id="{F57118D8-73C7-4EA4-933C-9B4064DDDD3F}"/>
              </a:ext>
            </a:extLst>
          </p:cNvPr>
          <p:cNvSpPr>
            <a:spLocks xmlns:a="http://schemas.openxmlformats.org/drawingml/2006/main" noGrp="1"/>
          </p:cNvSpPr>
          <p:nvPr/>
        </p:nvSpPr>
        <p:spPr>
          <a:xfrm xmlns:a="http://schemas.openxmlformats.org/drawingml/2006/main">
            <a:off x="685800" y="4333875"/>
            <a:ext cx="9906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0" i="0">
                <a:solidFill>
                  <a:srgbClr val="1D4A30"/>
                </a:solidFill>
              </a:defRPr>
            </a:pPr>
            <a:r>
              <a:rPr sz="2250" b="0" i="0">
                <a:solidFill>
                  <a:srgbClr val="1D4A30"/>
                </a:solidFill>
              </a:rPr>
              <a:t>For Session 2: notice one educational problem you would genuinely like to understand—not merely a broad topic.</a:t>
            </a:r>
          </a:p>
        </p:txBody>
      </p:sp>
      <p:sp>
        <p:nvSpPr>
          <p:cNvPr id="4" name="">
            <a:extLst xmlns:a="http://schemas.openxmlformats.org/drawingml/2006/main">
              <a:ext uri="{FF2B5EF4-FFF2-40B4-BE49-F238E27FC236}">
                <a16:creationId xmlns:a16="http://schemas.microsoft.com/office/drawing/2014/main" id="{3D4B80E7-7B59-4DFE-AE20-E4193AF45D43}"/>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5" name="">
            <a:extLst xmlns:a="http://schemas.openxmlformats.org/drawingml/2006/main">
              <a:ext uri="{FF2B5EF4-FFF2-40B4-BE49-F238E27FC236}">
                <a16:creationId xmlns:a16="http://schemas.microsoft.com/office/drawing/2014/main" id="{4BA98288-0AD6-4347-8F0B-FED4B4E989D4}"/>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35</a:t>
            </a:r>
          </a:p>
        </p:txBody>
      </p:sp>
    </p:spTree>
    <p:extLst>
      <p:ext uri="{BB962C8B-B14F-4D97-AF65-F5344CB8AC3E}">
        <p14:creationId xmlns:p14="http://schemas.microsoft.com/office/powerpoint/2010/main" val="1861425195"/>
      </p:ext>
    </p:extLst>
  </p:cSld>
</p:sld>
</file>

<file path=ppt/slides/slide36.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0D8F1F1-E391-4B44-8AE5-951A586C5AB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75D3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2B4552-CA36-48EF-ACE8-278EF04B79BF}"/>
              </a:ext>
            </a:extLst>
          </p:cNvPr>
          <p:cNvSpPr>
            <a:spLocks xmlns:a="http://schemas.openxmlformats.org/drawingml/2006/main" noGrp="1"/>
          </p:cNvSpPr>
          <p:nvPr/>
        </p:nvSpPr>
        <p:spPr>
          <a:xfrm xmlns:a="http://schemas.openxmlformats.org/drawingml/2006/main">
            <a:off x="609600" y="514350"/>
            <a:ext cx="800100" cy="66675"/>
          </a:xfrm>
          <a:prstGeom xmlns:a="http://schemas.openxmlformats.org/drawingml/2006/main" prst="rect">
            <a:avLst/>
          </a:prstGeom>
          <a:solidFill xmlns:a="http://schemas.openxmlformats.org/drawingml/2006/main">
            <a:srgbClr val="FFDB0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980522-C571-49D2-8BB2-5AC1D5D34D79}"/>
              </a:ext>
            </a:extLst>
          </p:cNvPr>
          <p:cNvSpPr>
            <a:spLocks xmlns:a="http://schemas.openxmlformats.org/drawingml/2006/main" noGrp="1"/>
          </p:cNvSpPr>
          <p:nvPr/>
        </p:nvSpPr>
        <p:spPr>
          <a:xfrm xmlns:a="http://schemas.openxmlformats.org/drawingml/2006/main">
            <a:off x="609600" y="685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275D38"/>
                </a:solidFill>
              </a:defRPr>
            </a:pPr>
            <a:r>
              <a:rPr sz="1050" b="1" i="0">
                <a:solidFill>
                  <a:srgbClr val="275D38"/>
                </a:solidFill>
              </a:rPr>
              <a:t>SOURCES</a:t>
            </a:r>
          </a:p>
        </p:txBody>
      </p:sp>
      <p:sp>
        <p:nvSpPr>
          <p:cNvPr id="4" name="">
            <a:extLst xmlns:a="http://schemas.openxmlformats.org/drawingml/2006/main">
              <a:ext uri="{FF2B5EF4-FFF2-40B4-BE49-F238E27FC236}">
                <a16:creationId xmlns:a16="http://schemas.microsoft.com/office/drawing/2014/main" id="{98E27891-6CBB-4F2B-A11C-B91578CD50F6}"/>
              </a:ext>
            </a:extLst>
          </p:cNvPr>
          <p:cNvSpPr>
            <a:spLocks xmlns:a="http://schemas.openxmlformats.org/drawingml/2006/main" noGrp="1"/>
          </p:cNvSpPr>
          <p:nvPr/>
        </p:nvSpPr>
        <p:spPr>
          <a:xfrm xmlns:a="http://schemas.openxmlformats.org/drawingml/2006/main">
            <a:off x="609600" y="1000125"/>
            <a:ext cx="1076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i="0">
                <a:solidFill>
                  <a:srgbClr val="123421"/>
                </a:solidFill>
              </a:defRPr>
            </a:pPr>
            <a:r>
              <a:rPr sz="3000" b="1" i="0">
                <a:solidFill>
                  <a:srgbClr val="123421"/>
                </a:solidFill>
              </a:rPr>
              <a:t>Recommended foundations and guidance</a:t>
            </a:r>
          </a:p>
        </p:txBody>
      </p:sp>
      <p:sp>
        <p:nvSpPr>
          <p:cNvPr id="5" name="">
            <a:extLst xmlns:a="http://schemas.openxmlformats.org/drawingml/2006/main">
              <a:ext uri="{FF2B5EF4-FFF2-40B4-BE49-F238E27FC236}">
                <a16:creationId xmlns:a16="http://schemas.microsoft.com/office/drawing/2014/main" id="{0973D9AC-6F2B-4DE3-983F-9789BD7847F1}"/>
              </a:ext>
            </a:extLst>
          </p:cNvPr>
          <p:cNvSpPr>
            <a:spLocks xmlns:a="http://schemas.openxmlformats.org/drawingml/2006/main" noGrp="1"/>
          </p:cNvSpPr>
          <p:nvPr/>
        </p:nvSpPr>
        <p:spPr>
          <a:xfrm xmlns:a="http://schemas.openxmlformats.org/drawingml/2006/main">
            <a:off x="609600" y="6477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i="0">
                <a:solidFill>
                  <a:srgbClr val="566159"/>
                </a:solidFill>
              </a:defRPr>
            </a:pPr>
            <a:r>
              <a:rPr sz="975" b="1" i="0">
                <a:solidFill>
                  <a:srgbClr val="566159"/>
                </a:solidFill>
              </a:rPr>
              <a:t>EDPY 501 · SESSION 1</a:t>
            </a:r>
          </a:p>
        </p:txBody>
      </p:sp>
      <p:sp>
        <p:nvSpPr>
          <p:cNvPr id="6" name="">
            <a:extLst xmlns:a="http://schemas.openxmlformats.org/drawingml/2006/main">
              <a:ext uri="{FF2B5EF4-FFF2-40B4-BE49-F238E27FC236}">
                <a16:creationId xmlns:a16="http://schemas.microsoft.com/office/drawing/2014/main" id="{387D4163-AF86-47E5-AEAC-0A3677E81072}"/>
              </a:ext>
            </a:extLst>
          </p:cNvPr>
          <p:cNvSpPr>
            <a:spLocks xmlns:a="http://schemas.openxmlformats.org/drawingml/2006/main" noGrp="1"/>
          </p:cNvSpPr>
          <p:nvPr/>
        </p:nvSpPr>
        <p:spPr>
          <a:xfrm xmlns:a="http://schemas.openxmlformats.org/drawingml/2006/main">
            <a:off x="11029950" y="647700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i="0">
                <a:solidFill>
                  <a:srgbClr val="566159"/>
                </a:solidFill>
              </a:defRPr>
            </a:pPr>
            <a:r>
              <a:rPr sz="975" b="1" i="0">
                <a:solidFill>
                  <a:srgbClr val="566159"/>
                </a:solidFill>
              </a:rPr>
              <a:t>36</a:t>
            </a:r>
          </a:p>
        </p:txBody>
      </p:sp>
      <p:sp>
        <p:nvSpPr>
          <p:cNvPr id="7" name="">
            <a:extLst xmlns:a="http://schemas.openxmlformats.org/drawingml/2006/main">
              <a:ext uri="{FF2B5EF4-FFF2-40B4-BE49-F238E27FC236}">
                <a16:creationId xmlns:a16="http://schemas.microsoft.com/office/drawing/2014/main" id="{0FF43884-F2C5-4873-83DA-44A33E9E3D69}"/>
              </a:ext>
            </a:extLst>
          </p:cNvPr>
          <p:cNvSpPr>
            <a:spLocks xmlns:a="http://schemas.openxmlformats.org/drawingml/2006/main" noGrp="1"/>
          </p:cNvSpPr>
          <p:nvPr/>
        </p:nvSpPr>
        <p:spPr>
          <a:xfrm xmlns:a="http://schemas.openxmlformats.org/drawingml/2006/main">
            <a:off x="800100" y="2190750"/>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C056BC-432C-434E-B820-851DB6D592A5}"/>
              </a:ext>
            </a:extLst>
          </p:cNvPr>
          <p:cNvSpPr>
            <a:spLocks xmlns:a="http://schemas.openxmlformats.org/drawingml/2006/main" noGrp="1"/>
          </p:cNvSpPr>
          <p:nvPr/>
        </p:nvSpPr>
        <p:spPr>
          <a:xfrm xmlns:a="http://schemas.openxmlformats.org/drawingml/2006/main">
            <a:off x="1066800" y="2095500"/>
            <a:ext cx="10115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Creswell, J. W. (2014). Research design: Qualitative, quantitative, and mixed methods approaches (4th ed.). Sage.</a:t>
            </a:r>
          </a:p>
        </p:txBody>
      </p:sp>
      <p:sp>
        <p:nvSpPr>
          <p:cNvPr id="9" name="">
            <a:extLst xmlns:a="http://schemas.openxmlformats.org/drawingml/2006/main">
              <a:ext uri="{FF2B5EF4-FFF2-40B4-BE49-F238E27FC236}">
                <a16:creationId xmlns:a16="http://schemas.microsoft.com/office/drawing/2014/main" id="{192323E8-8B69-43C3-83E2-C8C1F3A11407}"/>
              </a:ext>
            </a:extLst>
          </p:cNvPr>
          <p:cNvSpPr>
            <a:spLocks xmlns:a="http://schemas.openxmlformats.org/drawingml/2006/main" noGrp="1"/>
          </p:cNvSpPr>
          <p:nvPr/>
        </p:nvSpPr>
        <p:spPr>
          <a:xfrm xmlns:a="http://schemas.openxmlformats.org/drawingml/2006/main">
            <a:off x="800100" y="2752725"/>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AC69B2-ED50-4C0E-BF7A-99790897E686}"/>
              </a:ext>
            </a:extLst>
          </p:cNvPr>
          <p:cNvSpPr>
            <a:spLocks xmlns:a="http://schemas.openxmlformats.org/drawingml/2006/main" noGrp="1"/>
          </p:cNvSpPr>
          <p:nvPr/>
        </p:nvSpPr>
        <p:spPr>
          <a:xfrm xmlns:a="http://schemas.openxmlformats.org/drawingml/2006/main">
            <a:off x="1066800" y="2657475"/>
            <a:ext cx="10115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Creswell, J. W., &amp; Poth, C. N. (2017). Qualitative inquiry and research design (4th ed.). Sage.</a:t>
            </a:r>
          </a:p>
        </p:txBody>
      </p:sp>
      <p:sp>
        <p:nvSpPr>
          <p:cNvPr id="11" name="">
            <a:extLst xmlns:a="http://schemas.openxmlformats.org/drawingml/2006/main">
              <a:ext uri="{FF2B5EF4-FFF2-40B4-BE49-F238E27FC236}">
                <a16:creationId xmlns:a16="http://schemas.microsoft.com/office/drawing/2014/main" id="{D8363D0D-01DF-4D43-8113-26DEF024E32F}"/>
              </a:ext>
            </a:extLst>
          </p:cNvPr>
          <p:cNvSpPr>
            <a:spLocks xmlns:a="http://schemas.openxmlformats.org/drawingml/2006/main" noGrp="1"/>
          </p:cNvSpPr>
          <p:nvPr/>
        </p:nvSpPr>
        <p:spPr>
          <a:xfrm xmlns:a="http://schemas.openxmlformats.org/drawingml/2006/main">
            <a:off x="800100" y="3314700"/>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801233-17BD-44C9-8066-168575BA778C}"/>
              </a:ext>
            </a:extLst>
          </p:cNvPr>
          <p:cNvSpPr>
            <a:spLocks xmlns:a="http://schemas.openxmlformats.org/drawingml/2006/main" noGrp="1"/>
          </p:cNvSpPr>
          <p:nvPr/>
        </p:nvSpPr>
        <p:spPr>
          <a:xfrm xmlns:a="http://schemas.openxmlformats.org/drawingml/2006/main">
            <a:off x="1066800" y="3219450"/>
            <a:ext cx="10115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Poth, C. N. (2018). Innovations in mixed methods research: Integrative thinking with complexity. Sage.</a:t>
            </a:r>
          </a:p>
        </p:txBody>
      </p:sp>
      <p:sp>
        <p:nvSpPr>
          <p:cNvPr id="13" name="">
            <a:extLst xmlns:a="http://schemas.openxmlformats.org/drawingml/2006/main">
              <a:ext uri="{FF2B5EF4-FFF2-40B4-BE49-F238E27FC236}">
                <a16:creationId xmlns:a16="http://schemas.microsoft.com/office/drawing/2014/main" id="{50B38AB7-E876-42F7-8D90-DC29675FABA1}"/>
              </a:ext>
            </a:extLst>
          </p:cNvPr>
          <p:cNvSpPr>
            <a:spLocks xmlns:a="http://schemas.openxmlformats.org/drawingml/2006/main" noGrp="1"/>
          </p:cNvSpPr>
          <p:nvPr/>
        </p:nvSpPr>
        <p:spPr>
          <a:xfrm xmlns:a="http://schemas.openxmlformats.org/drawingml/2006/main">
            <a:off x="800100" y="3876675"/>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7F68171-E3F4-4CB4-9308-8CB83573E8C5}"/>
              </a:ext>
            </a:extLst>
          </p:cNvPr>
          <p:cNvSpPr>
            <a:spLocks xmlns:a="http://schemas.openxmlformats.org/drawingml/2006/main" noGrp="1"/>
          </p:cNvSpPr>
          <p:nvPr/>
        </p:nvSpPr>
        <p:spPr>
          <a:xfrm xmlns:a="http://schemas.openxmlformats.org/drawingml/2006/main">
            <a:off x="1066800" y="3781425"/>
            <a:ext cx="10115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Poth, C. N. (2021). Research ethics. Sage.</a:t>
            </a:r>
          </a:p>
        </p:txBody>
      </p:sp>
      <p:sp>
        <p:nvSpPr>
          <p:cNvPr id="15" name="">
            <a:extLst xmlns:a="http://schemas.openxmlformats.org/drawingml/2006/main">
              <a:ext uri="{FF2B5EF4-FFF2-40B4-BE49-F238E27FC236}">
                <a16:creationId xmlns:a16="http://schemas.microsoft.com/office/drawing/2014/main" id="{68AEEECE-7399-44BA-80FC-3362DAB9AE72}"/>
              </a:ext>
            </a:extLst>
          </p:cNvPr>
          <p:cNvSpPr>
            <a:spLocks xmlns:a="http://schemas.openxmlformats.org/drawingml/2006/main" noGrp="1"/>
          </p:cNvSpPr>
          <p:nvPr/>
        </p:nvSpPr>
        <p:spPr>
          <a:xfrm xmlns:a="http://schemas.openxmlformats.org/drawingml/2006/main">
            <a:off x="800100" y="4438650"/>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46772AF-8E6A-4C04-A6F4-38F9616B2453}"/>
              </a:ext>
            </a:extLst>
          </p:cNvPr>
          <p:cNvSpPr>
            <a:spLocks xmlns:a="http://schemas.openxmlformats.org/drawingml/2006/main" noGrp="1"/>
          </p:cNvSpPr>
          <p:nvPr/>
        </p:nvSpPr>
        <p:spPr>
          <a:xfrm xmlns:a="http://schemas.openxmlformats.org/drawingml/2006/main">
            <a:off x="1066800" y="4343400"/>
            <a:ext cx="10115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UNESCO. (2023). Guidance for generative AI in education and research. unesdoc.unesco.org/ark:/48223/pf0000386693</a:t>
            </a:r>
          </a:p>
        </p:txBody>
      </p:sp>
      <p:sp>
        <p:nvSpPr>
          <p:cNvPr id="17" name="">
            <a:extLst xmlns:a="http://schemas.openxmlformats.org/drawingml/2006/main">
              <a:ext uri="{FF2B5EF4-FFF2-40B4-BE49-F238E27FC236}">
                <a16:creationId xmlns:a16="http://schemas.microsoft.com/office/drawing/2014/main" id="{1F664056-40DE-452A-B397-EC1CA4098D1D}"/>
              </a:ext>
            </a:extLst>
          </p:cNvPr>
          <p:cNvSpPr>
            <a:spLocks xmlns:a="http://schemas.openxmlformats.org/drawingml/2006/main" noGrp="1"/>
          </p:cNvSpPr>
          <p:nvPr/>
        </p:nvSpPr>
        <p:spPr>
          <a:xfrm xmlns:a="http://schemas.openxmlformats.org/drawingml/2006/main">
            <a:off x="800100" y="5000625"/>
            <a:ext cx="114300" cy="114300"/>
          </a:xfrm>
          <a:prstGeom xmlns:a="http://schemas.openxmlformats.org/drawingml/2006/main" prst="ellipse">
            <a:avLst/>
          </a:prstGeom>
          <a:solidFill xmlns:a="http://schemas.openxmlformats.org/drawingml/2006/main">
            <a:srgbClr val="275D3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F81F946-9FF6-436B-8E47-9183FB3DBDB8}"/>
              </a:ext>
            </a:extLst>
          </p:cNvPr>
          <p:cNvSpPr>
            <a:spLocks xmlns:a="http://schemas.openxmlformats.org/drawingml/2006/main" noGrp="1"/>
          </p:cNvSpPr>
          <p:nvPr/>
        </p:nvSpPr>
        <p:spPr>
          <a:xfrm xmlns:a="http://schemas.openxmlformats.org/drawingml/2006/main">
            <a:off x="1066800" y="4905375"/>
            <a:ext cx="10115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i="0">
                <a:solidFill>
                  <a:srgbClr val="17211B"/>
                </a:solidFill>
              </a:defRPr>
            </a:pPr>
            <a:r>
              <a:rPr sz="1500" b="0" i="0">
                <a:solidFill>
                  <a:srgbClr val="17211B"/>
                </a:solidFill>
              </a:rPr>
              <a:t>University of Alberta. Academic integrity and AI. ualberta.ca/en/student-success-experience/…/academic-integrity-ai.html</a:t>
            </a:r>
          </a:p>
        </p:txBody>
      </p:sp>
    </p:spTree>
    <p:extLst>
      <p:ext uri="{BB962C8B-B14F-4D97-AF65-F5344CB8AC3E}">
        <p14:creationId xmlns:p14="http://schemas.microsoft.com/office/powerpoint/2010/main" val="11462138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2026-09-02T02:59:20.4840000Z</dcterms:created>
  <dcterms:modified xsi:type="dcterms:W3CDTF">2026-09-02T02:59:20.4840000Z</dcterms:modified>
</coreProperties>
</file>